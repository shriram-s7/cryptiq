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24d6a40ba49de" /><Relationship Type="http://schemas.openxmlformats.org/officeDocument/2006/relationships/extended-properties" Target="/docProps/app.xml" Id="R5b83e599379f4b49" /><Relationship Type="http://schemas.openxmlformats.org/officeDocument/2006/relationships/officeDocument" Target="/ppt/presentation.xml" Id="R1b5d84ee1a7c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1d558b6b54912"/>
  </p:sldMasterIdLst>
  <p:notesMasterIdLst>
    <p:notesMasterId xmlns:r="http://schemas.openxmlformats.org/officeDocument/2006/relationships" r:id="Rb2ac5bdd81db4581"/>
  </p:notesMasterIdLst>
  <p:sldIdLst>
    <p:sldId xmlns:r="http://schemas.openxmlformats.org/officeDocument/2006/relationships" id="256" r:id="R2bef71cc398a4744"/>
    <p:sldId xmlns:r="http://schemas.openxmlformats.org/officeDocument/2006/relationships" id="257" r:id="Rd5b14293d6c24843"/>
    <p:sldId xmlns:r="http://schemas.openxmlformats.org/officeDocument/2006/relationships" id="258" r:id="R467f21016bfe4a65"/>
    <p:sldId xmlns:r="http://schemas.openxmlformats.org/officeDocument/2006/relationships" id="259" r:id="R608c5b3baeed4f28"/>
    <p:sldId xmlns:r="http://schemas.openxmlformats.org/officeDocument/2006/relationships" id="260" r:id="R905b204698a145cb"/>
    <p:sldId xmlns:r="http://schemas.openxmlformats.org/officeDocument/2006/relationships" id="261" r:id="R0fa5d4cf601c44d9"/>
    <p:sldId xmlns:r="http://schemas.openxmlformats.org/officeDocument/2006/relationships" id="262" r:id="Ra4fa4a1314d648f0"/>
    <p:sldId xmlns:r="http://schemas.openxmlformats.org/officeDocument/2006/relationships" id="263" r:id="Rc0a2967b05bb48bc"/>
    <p:sldId xmlns:r="http://schemas.openxmlformats.org/officeDocument/2006/relationships" id="264" r:id="Rfa061627e6084f9a"/>
    <p:sldId xmlns:r="http://schemas.openxmlformats.org/officeDocument/2006/relationships" id="265" r:id="Ref09aeeb6e3049ef"/>
    <p:sldId xmlns:r="http://schemas.openxmlformats.org/officeDocument/2006/relationships" id="266" r:id="R1b62acb134ef4d66"/>
    <p:sldId xmlns:r="http://schemas.openxmlformats.org/officeDocument/2006/relationships" id="267" r:id="R68474836776e4813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a854cacdc4548" /><Relationship Type="http://schemas.openxmlformats.org/officeDocument/2006/relationships/slideMaster" Target="/ppt/slideMasters/slideMaster1.xml" Id="R6111d558b6b54912" /><Relationship Type="http://schemas.openxmlformats.org/officeDocument/2006/relationships/notesMaster" Target="/ppt/notesMasters/notesMaster1.xml" Id="Rb2ac5bdd81db4581" /><Relationship Type="http://schemas.openxmlformats.org/officeDocument/2006/relationships/presProps" Target="/ppt/presProps.xml" Id="R344031e9b68c433e" /><Relationship Type="http://schemas.openxmlformats.org/officeDocument/2006/relationships/viewProps" Target="/ppt/viewProps.xml" Id="R9f986a6f36e342b5" /><Relationship Type="http://schemas.openxmlformats.org/officeDocument/2006/relationships/tableStyles" Target="/ppt/tableStyles.xml" Id="Ra49d9c0e3e9d42f7" /><Relationship Type="http://schemas.openxmlformats.org/officeDocument/2006/relationships/slide" Target="/ppt/slides/slide1.xml" Id="R2bef71cc398a4744" /><Relationship Type="http://schemas.openxmlformats.org/officeDocument/2006/relationships/slide" Target="/ppt/slides/slide2.xml" Id="Rd5b14293d6c24843" /><Relationship Type="http://schemas.openxmlformats.org/officeDocument/2006/relationships/slide" Target="/ppt/slides/slide3.xml" Id="R467f21016bfe4a65" /><Relationship Type="http://schemas.openxmlformats.org/officeDocument/2006/relationships/slide" Target="/ppt/slides/slide4.xml" Id="R608c5b3baeed4f28" /><Relationship Type="http://schemas.openxmlformats.org/officeDocument/2006/relationships/slide" Target="/ppt/slides/slide5.xml" Id="R905b204698a145cb" /><Relationship Type="http://schemas.openxmlformats.org/officeDocument/2006/relationships/slide" Target="/ppt/slides/slide6.xml" Id="R0fa5d4cf601c44d9" /><Relationship Type="http://schemas.openxmlformats.org/officeDocument/2006/relationships/slide" Target="/ppt/slides/slide7.xml" Id="Ra4fa4a1314d648f0" /><Relationship Type="http://schemas.openxmlformats.org/officeDocument/2006/relationships/slide" Target="/ppt/slides/slide8.xml" Id="Rc0a2967b05bb48bc" /><Relationship Type="http://schemas.openxmlformats.org/officeDocument/2006/relationships/slide" Target="/ppt/slides/slide9.xml" Id="Rfa061627e6084f9a" /><Relationship Type="http://schemas.openxmlformats.org/officeDocument/2006/relationships/slide" Target="/ppt/slides/slide10.xml" Id="Ref09aeeb6e3049ef" /><Relationship Type="http://schemas.openxmlformats.org/officeDocument/2006/relationships/slide" Target="/ppt/slides/slide11.xml" Id="R1b62acb134ef4d66" /><Relationship Type="http://schemas.openxmlformats.org/officeDocument/2006/relationships/slide" Target="/ppt/slides/slide12.xml" Id="R68474836776e48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ad223897548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6276ee5c94c0d" /><Relationship Type="http://schemas.openxmlformats.org/officeDocument/2006/relationships/notesMaster" Target="/ppt/notesMasters/notesMaster1.xml" Id="R15330835e7b2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58db9bcb94f05" /><Relationship Type="http://schemas.openxmlformats.org/officeDocument/2006/relationships/notesMaster" Target="/ppt/notesMasters/notesMaster1.xml" Id="R03ede37b6527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faf8e28d644b8" /><Relationship Type="http://schemas.openxmlformats.org/officeDocument/2006/relationships/notesMaster" Target="/ppt/notesMasters/notesMaster1.xml" Id="R541a586b01ec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2caac66194835" /><Relationship Type="http://schemas.openxmlformats.org/officeDocument/2006/relationships/notesMaster" Target="/ppt/notesMasters/notesMaster1.xml" Id="R088d37152736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2a54bdc1fb4f05" /><Relationship Type="http://schemas.openxmlformats.org/officeDocument/2006/relationships/notesMaster" Target="/ppt/notesMasters/notesMaster1.xml" Id="R8fae56621e6e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bd515c72249f1" /><Relationship Type="http://schemas.openxmlformats.org/officeDocument/2006/relationships/notesMaster" Target="/ppt/notesMasters/notesMaster1.xml" Id="Rbe2588e956724c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c704c2bcf4a8d" /><Relationship Type="http://schemas.openxmlformats.org/officeDocument/2006/relationships/notesMaster" Target="/ppt/notesMasters/notesMaster1.xml" Id="Re0f3e0d4087c43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3a03a6b6164089" /><Relationship Type="http://schemas.openxmlformats.org/officeDocument/2006/relationships/notesMaster" Target="/ppt/notesMasters/notesMaster1.xml" Id="R1f834668e21b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ec20f7f4884c91" /><Relationship Type="http://schemas.openxmlformats.org/officeDocument/2006/relationships/notesMaster" Target="/ppt/notesMasters/notesMaster1.xml" Id="R35b73a8aecf746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c1030ca5484b39" /><Relationship Type="http://schemas.openxmlformats.org/officeDocument/2006/relationships/notesMaster" Target="/ppt/notesMasters/notesMaster1.xml" Id="R87d2ccd2e0cf4d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0dd9274b34722" /><Relationship Type="http://schemas.openxmlformats.org/officeDocument/2006/relationships/notesMaster" Target="/ppt/notesMasters/notesMaster1.xml" Id="R120aa0cd63514c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e5d3641dcd42f9" /><Relationship Type="http://schemas.openxmlformats.org/officeDocument/2006/relationships/notesMaster" Target="/ppt/notesMasters/notesMaster1.xml" Id="R2d858465888e41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CryptIQ connects a technical security finding with a business owner's next decision: we show the problem, review a supported repair, and run checks before publishing the improved result.</a:t>
            </a:r>
            <a:br/>
            <a:br/>
            <a:r>
              <a:t>The demonstration uses a fictional shop (Chennai Organics) and synthetic customers. No real customer data is involved.</a:t>
            </a:r>
            <a:br/>
            <a:br/>
            <a:r>
              <a:t>Avoid saying 'India's first', 'fully autonomous', or 'production-ready' — this is a working prototype with bounded, inspectable evidence.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storefront is intentionally functional. The risk concerns how data is stored and configured behind it.</a:t>
            </a:r>
            <a:br/>
            <a:br/>
            <a:r>
              <a:t>This is one controlled, inspectable example — we do NOT claim every small business has these exact problems.</a:t>
            </a:r>
            <a:br/>
            <a:br/>
            <a:r>
              <a:t>Chennai Organics is a deliberately vulnerable demonstration shop: weak password hashing, readable contact fields, and a secret embedded in source.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partner console gives a portfolio view across client workspaces — it is not a second repair dashboard.</a:t>
            </a:r>
            <a:br/>
            <a:br/>
            <a:r>
              <a:t>The current demo has one connected shop plus sample companies. Do NOT present the sample companies as real customers.</a:t>
            </a:r>
            <a:br/>
            <a:br/>
            <a:r>
              <a:t>Engineering vs market evidence are separate: the demo workflow is tested; there are no verified interviews, paid pilots or retention figures yet.</a:t>
            </a:r>
            <a:br/>
            <a:br/>
            <a:r>
              <a:t>Proposed validation plan (targets, not results): interview 10 owners and 3 service providers, then recruit 5 pilot businesses.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separates discovery from proof.</a:t>
            </a:r>
            <a:br/>
            <a:br/>
            <a:r>
              <a:t>Individual repair cards support review/selection, but the four dependent backend repairs execute together as one atomic operation.</a:t>
            </a:r>
            <a:br/>
            <a:br/>
            <a:r>
              <a:t>Actors in the demo: CryptIQ (scan, findings, repair, verification, report), Chennai Organics (customer activity), the Hacker view (controlled attack demonstration), and the Partner (client oversight).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flow: select Business, scan Chennai Organics, register a synthetic customer, open the Hacker view and run the password test, apply repairs, re-test, verify, and export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distinction:</a:t>
            </a:r>
          </a:p>
          <a:p xmlns:a="http://schemas.openxmlformats.org/drawingml/2006/main">
            <a:r>
              <a:t>• The password demonstration is a REAL bounded dictionary test (25 known candidates against the selected synthetic account).</a:t>
            </a:r>
          </a:p>
          <a:p xmlns:a="http://schemas.openxmlformats.org/drawingml/2006/main">
            <a:r>
              <a:t>• The transaction attack is scripted demonstration behavior; some other tools are previews. Do NOT present these as implemented exploit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fictional accounts only (e.g. test password prosculpt123, an unused test phone). Do not fabricate or edit attack output — these are actual captured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sequence lives in the brief (open home → plans → Business → bundled demo → consent → scan → Hacker tab → register → run dictionary attempt → show recovered password → apply 4/4 repairs → re-test, no recovery → verify → report → PDF → partner console).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  <a:p xmlns:a="http://schemas.openxmlformats.org/drawingml/2006/main">
            <a:r>
              <a:t>The two screenshots show genuine before-repair exposure and the final verified report. During the live demonstration, repeat the same selected-account attack after repair. The scores describe this seeded demonstration, not a universal security rating.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scanner uses Python's abstract syntax tree (AST) to inspect supported structures without executing uploaded code: e.g. hashlib.md5 calls, specific config assignments, recognized crypto imports, the demo's contact-protection function, and expected policy/contact files.</a:t>
            </a:r>
            <a:br/>
            <a:br/>
            <a:r>
              <a:t>The database check samples the first 100 customer rows and separately counts the full customer population.</a:t>
            </a:r>
            <a:br/>
            <a:br/>
            <a:r>
              <a:t>This is targeted source-pattern + storage inspection, not interprocedural data-flow analysis or comprehensive pen-testing. Local ZIP inspection is supported; URL scanning is a preview; public uploads are restricted.</a:t>
            </a:r>
            <a:br/>
            <a:br/>
            <a:r>
              <a:t>Reference — Python AST docs: https://docs.python.org/3/library/ast.html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pipeline: enumerate supported files → parse Python → match explicit code/config patterns → record evidence + affected assets → inspect supported DB fields → deduplicate by rule family → add owner-readable explanations → calculate the demo score → export findings + crypto inventory → bind later verification evidence to the relevant app state.</a:t>
            </a:r>
            <a:br/>
            <a:br/>
            <a:r>
              <a:t>CryptIQ combines established libraries with repository-specific code. Do NOT describe the scanner as a trained AI model or claim it imports a large external vulnerability corpus.</a:t>
            </a:r>
            <a:br/>
            <a:br/>
            <a:r>
              <a:t>GitHub: https://github.com/shriram-s7/cryptiq</a:t>
            </a:r>
            <a:br/>
            <a:r>
              <a:t>References — Bandit (AST security analysis): https://github.com/PyCQA/bandit  ·  Semgrep rules: https://github.com/semgrep/semgrep-rules (review its license before reuse)  ·  CycloneDX CBOM: https://cyclonedx.org/capabilities/cbom/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Password protection uses a server-held secret (pepper) stored outside the DB before Argon2id hashing. The demonstrated attacker receives DB contents without that secret. Existing accounts migrate without recovering plaintext; new accounts use the repaired path.</a:t>
            </a:r>
            <a:br/>
            <a:br/>
            <a:r>
              <a:t>AES-GCM protects field contents. ML-KEM is a key-encapsulation mechanism protecting the data key — it is NOT a password-hashing algorithm.</a:t>
            </a:r>
            <a:br/>
            <a:br/>
            <a:r>
              <a:t>The RSA example uses classical factoring of a deliberately tiny key. Do NOT claim quantum hardware or production RSA compromise. The educational PQ implementation must be replaced before production.</a:t>
            </a:r>
            <a:br/>
            <a:br/>
            <a:r>
              <a:t>Show 38 → 91 only as the seeded demo's scoring outcome. All four checks must pass before fresh evidence is published.</a:t>
            </a:r>
            <a:br/>
            <a:br/>
            <a:r>
              <a:t>Scale evidence is currently synthetic; production tenant isolation, hosting, key management and load testing remain future work.</a:t>
            </a:r>
            <a:br/>
            <a:br/>
            <a:r>
              <a:t>References — OWASP Password Storage: https://cheatsheetseries.owasp.org/cheatsheets/Password_Storage_Cheat_Sheet.html · OWASP Cryptographic Storage: https://cheatsheetseries.owasp.org/cheatsheets/Cryptographic_Storage_Cheat_Sheet.html · CWE-916: https://cwe.mitre.org/data/definitions/916.html · CWE-312: https://cwe.mitre.org/data/definitions/312.html · CWE-327: https://cwe.mitre.org/data/definitions/327.html · CWE-798: https://cwe.mitre.org/data/definitions/798.html · CWE-614: https://cwe.mitre.org/data/definitions/614.html · NIST FIPS 203 (ML-KEM): https://csrc.nist.gov/pubs/fips/203/final · kyber-py (educational): https://github.com/GiacomoPope/kyber-py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Established tools have broader capabilities in their domains. The proposed differentiation is the connected user experience, not a claim competitors lack remediation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first pilots: 5 businesses and 2 advisory partners. Measure onboarding time, usefulness of findings, repair acceptance and willingness to pay.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Avoid a large market-size chart — no independently sourced data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 — Semgrep: https://docs.semgrep.dev/ · OWASP ZAP: https://www.zaproxy.org/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Market relevance: small shops with outside technical support are an initial hypothesis. The owner needs understandable evidence, while the partner needs oversight. Semgrep and ZAP are category comparisons, not equal-coverage claims. Pilot numbers are targets, not traction. Measure onboarding time, repair completion and willingness to pay. Sources: https://docs.semgrep.dev/ and https://www.zaproxy.org/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are pilot proposals displayed in the product. Payments are not connected; current demo limits are not production billing enforcement.</a:t>
            </a:r>
            <a:br/>
            <a:br/>
            <a:r>
              <a:t>An 'active partner client' = a client workspace enabled for tracking during the billing period. Example: 3 active clients ₹1,199/mo; 5 active clients ₹2,199/mo.</a:t>
            </a:r>
            <a:br/>
            <a:br/>
            <a:r>
              <a:t>The partner observes and advises; the company + its developer handle repairs. The partner fee pays for portfolio management and evidence visibility, not unlimited cross-client repair execution.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Founder time ₹60,000 (3 roles × 80 hrs × ₹250/hr — proposed responsibilities, not named hires: product/frontend; API &amp; security integration; QA &amp; pilot onboarding), hosting &amp; tools ₹15,000, security review ₹10,000, outreach ₹5,000 = ₹90,000. If founders draw no salary, assumed cash expenses ≈ ₹30,000. Validate all estimates before spending.</a:t>
            </a:r>
            <a:br/>
            <a:br/>
            <a:r>
              <a:t>Monthly scenario: 10 Starter (₹9,990) + 5 Business (₹14,995) = ₹24,985 revenue. Variable 15 × ₹200 = ₹3,000 → contribution ₹21,985. Assumed fixed cash ₹20,000 → operating surplus ₹1,985. Excludes founder salaries, taxes and recovery of the initial dev budget.</a:t>
            </a:r>
            <a:br/>
            <a:br/>
            <a:r>
              <a:t>Illustrative CAC: ₹5,000 / 5 new paying accounts = ₹1,000 per account. No defensible LTV until retention is measured.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pilot introductions and an independent security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GitHub: https://github.com/shriram-s7/cryptiq</a:t>
            </a:r>
          </a:p>
          <a:p xmlns:a="http://schemas.openxmlformats.org/drawingml/2006/main">
            <a:r>
              <a:t>Temporary demo origin: https://usual-orbit-national-mazda.trycloudflare.com/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ACCESS NOTE: new visitors need the complete private access link supplied by the presenter; the presenter's laptop and tunnel must remain running. Do NOT place the private access token in a publicly uploaded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Closing sentence: “CryptIQ connects an understandable risk with a supported repair and evidence of the result.”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f5e3978e8404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62d0d551f49bd" /><Relationship Type="http://schemas.openxmlformats.org/officeDocument/2006/relationships/slideLayout" Target="/ppt/slideLayouts/slideLayout1.xml" Id="R8c9456bd3c7645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456bd3c76453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1d9ccbfc524a12" /><ns0:Relationship Type="http://schemas.openxmlformats.org/officeDocument/2006/relationships/image" Target="/ppt/media/image.png" Id="R0b797bf6e03d4d27" /><ns0:Relationship Type="http://schemas.openxmlformats.org/officeDocument/2006/relationships/image" Target="/ppt/media/image2.png" Id="Rea45d108fe4c4b11" /><ns0:Relationship Type="http://schemas.openxmlformats.org/officeDocument/2006/relationships/image" Target="/ppt/media/image3.png" Id="Rf4bf9c4354894043" /><ns0:Relationship Type="http://schemas.openxmlformats.org/officeDocument/2006/relationships/image" Target="/ppt/media/image4.png" Id="R80262b8fded44eb2" /><ns0:Relationship Type="http://schemas.openxmlformats.org/officeDocument/2006/relationships/notesSlide" Target="/ppt/notesSlides/notesSlide1.xml" Id="R4f31d8c01b044a53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d289f89dd814fea" /><ns0:Relationship Type="http://schemas.openxmlformats.org/officeDocument/2006/relationships/image" Target="/ppt/media/image5.png" Id="R6222cd4051504d2c" /><ns0:Relationship Type="http://schemas.openxmlformats.org/officeDocument/2006/relationships/image" Target="/ppt/media/image3.png" Id="Rc1e73e8298b04d45" /><ns0:Relationship Type="http://schemas.openxmlformats.org/officeDocument/2006/relationships/image" Target="/ppt/media/image6.png" Id="R9c9658ba74a34590" /><ns0:Relationship Type="http://schemas.openxmlformats.org/officeDocument/2006/relationships/image" Target="/ppt/media/image7.png" Id="R588d2f06ff284c76" /><ns0:Relationship Type="http://schemas.openxmlformats.org/officeDocument/2006/relationships/notesSlide" Target="/ppt/notesSlides/notesSlide2.xml" Id="R2cdcc10d2168418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24b39cbd5140d9" /><ns0:Relationship Type="http://schemas.openxmlformats.org/officeDocument/2006/relationships/notesSlide" Target="/ppt/notesSlides/notesSlide3.xml" Id="R58a0601d3e2f4b8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346fdcce38d411b" /><ns0:Relationship Type="http://schemas.openxmlformats.org/officeDocument/2006/relationships/image" Target="/ppt/media/image8.png" Id="Rac015b0c4d364ffb" /><ns0:Relationship Type="http://schemas.openxmlformats.org/officeDocument/2006/relationships/image" Target="/ppt/media/image9.png" Id="R99753e96a4614ec8" /><ns0:Relationship Type="http://schemas.openxmlformats.org/officeDocument/2006/relationships/image" Target="/ppt/media/image4.png" Id="R5dfdf196047742fc" /><ns0:Relationship Type="http://schemas.openxmlformats.org/officeDocument/2006/relationships/image" Target="/ppt/media/image10.png" Id="R700b21b9228b4b29" /><ns0:Relationship Type="http://schemas.openxmlformats.org/officeDocument/2006/relationships/notesSlide" Target="/ppt/notesSlides/notesSlide4.xml" Id="R85644da8aa7243c8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6bcd1d03b2949b3" /><ns0:Relationship Type="http://schemas.openxmlformats.org/officeDocument/2006/relationships/image" Target="/ppt/media/image.jpeg" Id="Rd5c2e11c0c5841f7" /><ns0:Relationship Type="http://schemas.openxmlformats.org/officeDocument/2006/relationships/image" Target="/ppt/media/image2.jpeg" Id="Rcd8a1c174eeb4aea" /><ns0:Relationship Type="http://schemas.openxmlformats.org/officeDocument/2006/relationships/image" Target="/ppt/media/image11.png" Id="R7ab5d407901345a0" /><ns0:Relationship Type="http://schemas.openxmlformats.org/officeDocument/2006/relationships/image" Target="/ppt/media/image12.png" Id="R6df15e04b05246f6" /><ns0:Relationship Type="http://schemas.openxmlformats.org/officeDocument/2006/relationships/notesSlide" Target="/ppt/notesSlides/notesSlide5.xml" Id="R970cd330ae09429a" /><ns0:Relationship Id="rIdPitch1" Type="http://schemas.openxmlformats.org/officeDocument/2006/relationships/hyperlink" Target="https://github.com/shriram-s7/cryptiq" TargetMode="External" /><ns0:Relationship Id="rIdPitch2" Type="http://schemas.openxmlformats.org/officeDocument/2006/relationships/hyperlink" Target="https://github.com/shriram-s7/cryptiq" TargetMode="External" /><ns0:Relationship Id="rIdPitch3" Type="http://schemas.openxmlformats.org/officeDocument/2006/relationships/hyperlink" Target="https://flyer-thinking-anonymous-shake.trycloudflare.com/?access=iWdX-T7a7KgBXk1RbM8OW942zk-Lh_p-rnbT3dBk6Pw" TargetMode="External" /><ns0:Relationship Id="rIdPitch4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07a7071cd2e450e" /><ns0:Relationship Type="http://schemas.openxmlformats.org/officeDocument/2006/relationships/notesSlide" Target="/ppt/notesSlides/notesSlide6.xml" Id="R55618bac360a4325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4d091fb64f54e3a" /><ns0:Relationship Type="http://schemas.openxmlformats.org/officeDocument/2006/relationships/image" Target="/ppt/media/image13.png" Id="R64dc5a9b86924e26" /><ns0:Relationship Type="http://schemas.openxmlformats.org/officeDocument/2006/relationships/hyperlink" Target="https://github.com/shriram-s7/cryptiq/blob/main/core/api/engine/simple_rules.py" TargetMode="External" Id="Rfbe838f3af1d4518" /><ns0:Relationship Type="http://schemas.openxmlformats.org/officeDocument/2006/relationships/hyperlink" Target="https://github.com/shriram-s7/cryptiq/blob/main/core/api/engine/simple_rules.py" TargetMode="External" Id="Rf5ca40763e8443cb" /><ns0:Relationship Type="http://schemas.openxmlformats.org/officeDocument/2006/relationships/hyperlink" Target="https://cheatsheetseries.owasp.org/cheatsheets/Password_Storage_Cheat_Sheet.html" TargetMode="External" Id="R59acdf9687664f44" /><ns0:Relationship Type="http://schemas.openxmlformats.org/officeDocument/2006/relationships/hyperlink" Target="https://cheatsheetseries.owasp.org/cheatsheets/Password_Storage_Cheat_Sheet.html" TargetMode="External" Id="R1237277de50349d8" /><ns0:Relationship Type="http://schemas.openxmlformats.org/officeDocument/2006/relationships/hyperlink" Target="https://cwe.mitre.org/data/definitions/327.html" TargetMode="External" Id="Rffbd0dedecf2428c" /><ns0:Relationship Type="http://schemas.openxmlformats.org/officeDocument/2006/relationships/hyperlink" Target="https://cwe.mitre.org/data/definitions/327.html" TargetMode="External" Id="R3a147e88b09b4c84" /><ns0:Relationship Type="http://schemas.openxmlformats.org/officeDocument/2006/relationships/hyperlink" Target="https://csrc.nist.gov/pubs/fips/203/final" TargetMode="External" Id="R28a3e08a4d8147c9" /><ns0:Relationship Type="http://schemas.openxmlformats.org/officeDocument/2006/relationships/hyperlink" Target="https://csrc.nist.gov/pubs/fips/203/final" TargetMode="External" Id="R067d32b300484e2e" /><ns0:Relationship Type="http://schemas.openxmlformats.org/officeDocument/2006/relationships/hyperlink" Target="https://cyclonedx.org/capabilities/cbom/" TargetMode="External" Id="Rfe3392661ced4861" /><ns0:Relationship Type="http://schemas.openxmlformats.org/officeDocument/2006/relationships/hyperlink" Target="https://cyclonedx.org/capabilities/cbom/" TargetMode="External" Id="R2addc24d2b344f57" /><ns0:Relationship Type="http://schemas.openxmlformats.org/officeDocument/2006/relationships/notesSlide" Target="/ppt/notesSlides/notesSlide7.xml" Id="R5c1e618be49a46e0" /><ns0:Relationship Id="rIdPitch5" Type="http://schemas.openxmlformats.org/officeDocument/2006/relationships/hyperlink" Target="https://github.com/shriram-s7/cryptiq/blob/main/core/api/engine/simple_rules.py" TargetMode="External" /><ns0:Relationship Id="rIdPitch6" Type="http://schemas.openxmlformats.org/officeDocument/2006/relationships/hyperlink" Target="https://cheatsheetseries.owasp.org/cheatsheets/Password_Storage_Cheat_Sheet.html" TargetMode="External" /><ns0:Relationship Id="rIdPitch7" Type="http://schemas.openxmlformats.org/officeDocument/2006/relationships/hyperlink" Target="https://cwe.mitre.org/data/definitions/327.html" TargetMode="External" /><ns0:Relationship Id="rIdPitch8" Type="http://schemas.openxmlformats.org/officeDocument/2006/relationships/hyperlink" Target="https://csrc.nist.gov/pubs/fips/203/final" TargetMode="External" /><ns0:Relationship Id="rIdPitch9" Type="http://schemas.openxmlformats.org/officeDocument/2006/relationships/hyperlink" Target="https://cyclonedx.org/capabilities/cbom/" TargetMode="Externa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73d1a039ed04382" /><ns0:Relationship Type="http://schemas.openxmlformats.org/officeDocument/2006/relationships/image" Target="/ppt/media/image14.png" Id="R27d91d1dbfb64c03" /><ns0:Relationship Type="http://schemas.openxmlformats.org/officeDocument/2006/relationships/image" Target="/ppt/media/image15.png" Id="Rac6a4840037c4dc1" /><ns0:Relationship Type="http://schemas.openxmlformats.org/officeDocument/2006/relationships/notesSlide" Target="/ppt/notesSlides/notesSlide8.xml" Id="R3b552d89e96844dd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83890ef88947aa" /><ns0:Relationship Type="http://schemas.openxmlformats.org/officeDocument/2006/relationships/notesSlide" Target="/ppt/notesSlides/notesSlide9.xml" Id="Rfee8e02616804742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4a8e59d65a04faf" /><ns0:Relationship Type="http://schemas.openxmlformats.org/officeDocument/2006/relationships/notesSlide" Target="/ppt/notesSlides/notesSlide10.xml" Id="R00d19713d6fc4f10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23da5ab1ea44b6f" /><ns0:Relationship Type="http://schemas.openxmlformats.org/officeDocument/2006/relationships/notesSlide" Target="/ppt/notesSlides/notesSlide11.xml" Id="R78805d9237e643b6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16aff4e2d5494d" /><ns0:Relationship Type="http://schemas.openxmlformats.org/officeDocument/2006/relationships/image" Target="/ppt/media/image16.png" Id="R36c45f15592740a9" /><ns0:Relationship Type="http://schemas.openxmlformats.org/officeDocument/2006/relationships/image" Target="/ppt/media/image17.png" Id="R83a9e4bef1da42a5" /><ns0:Relationship Type="http://schemas.openxmlformats.org/officeDocument/2006/relationships/image" Target="/ppt/media/image18.png" Id="R1892669accf64d24" /><ns0:Relationship Type="http://schemas.openxmlformats.org/officeDocument/2006/relationships/image" Target="/ppt/media/image19.png" Id="R6fbc6076afc44071" /><ns0:Relationship Type="http://schemas.openxmlformats.org/officeDocument/2006/relationships/hyperlink" Target="https://github.com/shriram-s7/cryptiq" TargetMode="External" Id="R89ce8b90c30544b8" /><ns0:Relationship Type="http://schemas.openxmlformats.org/officeDocument/2006/relationships/image" Target="/ppt/media/image13.png" Id="R2acd9929379a4bee" /><ns0:Relationship Type="http://schemas.openxmlformats.org/officeDocument/2006/relationships/hyperlink" Target="https://github.com/shriram-s7/cryptiq" TargetMode="External" Id="R78d705bea5174a74" /><ns0:Relationship Type="http://schemas.openxmlformats.org/officeDocument/2006/relationships/hyperlink" Target="https://github.com/shriram-s7/cryptiq" TargetMode="External" Id="R75cac1ae1e80402a" /><ns0:Relationship Type="http://schemas.openxmlformats.org/officeDocument/2006/relationships/hyperlink" Target="https://flyer-thinking-anonymous-shake.trycloudflare.com/?access=iWdX-T7a7KgBXk1RbM8OW942zk-Lh_p-rnbT3dBk6Pw" TargetMode="External" Id="R33405898cfea46b1" /><ns0:Relationship Type="http://schemas.openxmlformats.org/officeDocument/2006/relationships/image" Target="/ppt/media/image20.png" Id="R2e0b8e0bb53c40a1" /><ns0:Relationship Type="http://schemas.openxmlformats.org/officeDocument/2006/relationships/hyperlink" Target="https://flyer-thinking-anonymous-shake.trycloudflare.com/?access=iWdX-T7a7KgBXk1RbM8OW942zk-Lh_p-rnbT3dBk6Pw" TargetMode="External" Id="R436b1c2abb7d4daa" /><ns0:Relationship Type="http://schemas.openxmlformats.org/officeDocument/2006/relationships/hyperlink" Target="https://flyer-thinking-anonymous-shake.trycloudflare.com/?access=iWdX-T7a7KgBXk1RbM8OW942zk-Lh_p-rnbT3dBk6Pw" TargetMode="External" Id="Rcff2796324f14315" /><ns0:Relationship Type="http://schemas.openxmlformats.org/officeDocument/2006/relationships/notesSlide" Target="/ppt/notesSlides/notesSlide12.xml" Id="Ref155883918b4842" /><ns0:Relationship Id="rIdPitch10" Type="http://schemas.openxmlformats.org/officeDocument/2006/relationships/hyperlink" Target="https://github.com/shriram-s7/cryptiq" TargetMode="External" /><ns0:Relationship Id="rIdPitch11" Type="http://schemas.openxmlformats.org/officeDocument/2006/relationships/hyperlink" Target="https://github.com/shriram-s7/cryptiq" TargetMode="External" /><ns0:Relationship Id="rIdPitch12" Type="http://schemas.openxmlformats.org/officeDocument/2006/relationships/hyperlink" Target="https://flyer-thinking-anonymous-shake.trycloudflare.com/?access=iWdX-T7a7KgBXk1RbM8OW942zk-Lh_p-rnbT3dBk6Pw" TargetMode="External" /><ns0:Relationship Id="rIdPitch13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0b797bf6e03d4d27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5936B4E3-CA53-4C86-8325-834D197FE4E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E29A5092-7511-48AC-8E65-EC303B1E122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C13267D6-7690-47D7-9A87-4F236CDA17F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Team &amp; Big Idea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868C34EA-F662-4AB9-BF36-791CC5F3799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45DAB8D1-4E1C-4B54-9965-392BC1992C23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56CE485A-98DE-4589-A930-29D4B733AF5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874520"/>
            <ns1:ext cx="914400" cy="914400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8" name="Image 0">
            <ns1:extLst>
              <ns1:ext uri="{FF2B5EF4-FFF2-40B4-BE49-F238E27FC236}">
                <ns3:creationId id="{3734CE9C-AA07-43A8-89CC-545B226B5B36}"/>
              </ns1:ext>
            </ns1:extLst>
          </ns0:cNvPr>
          <ns0:cNvPicPr>
            <ns1:picLocks noChangeAspect="1"/>
          </ns0:cNvPicPr>
          <ns0:nvPr/>
        </ns0:nvPicPr>
        <ns0:blipFill>
          <ns1:blip ns2:embed="Rea45d108fe4c4b11"/>
          <ns1:stretch>
            <ns1:fillRect l="0" t="0" r="0" b="0"/>
          </ns1:stretch>
        </ns0:blipFill>
        <ns0:spPr>
          <ns1:xfrm>
            <ns1:off x="877824" y="2112264"/>
            <ns1:ext cx="438912" cy="438912"/>
          </ns1:xfrm>
          <ns1:prstGeom prst="rect">
            <ns1:avLst/>
          </ns1:prstGeom>
        </ns0:spPr>
      </ns0:pic>
      <ns0:sp>
        <ns0:nvSpPr>
          <ns0:cNvPr id="9" name="Text 6">
            <ns1:extLst>
              <ns1:ext uri="{FF2B5EF4-FFF2-40B4-BE49-F238E27FC236}">
                <ns3:creationId id="{C162EDB7-E12C-4B94-BF87-DBD2B1B2B95B}"/>
              </ns1:ext>
            </ns1:extLst>
          </ns0:cNvPr>
          <ns0:cNvSpPr>
            <ns1:spLocks noGrp="1"/>
          </ns0:cNvSpPr>
          <ns0:nvPr/>
        </ns0:nvSpPr>
        <ns0:spPr>
          <ns1:xfrm>
            <ns1:off x="1783080" y="1810512"/>
            <ns1:ext cx="6400800" cy="10972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72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CryptIQ</ns1:t>
            </ns1:r>
            <ns1:endParaRPr sz="7200"/>
          </ns1:p>
        </ns0:txBody>
      </ns0:sp>
      <ns0:sp>
        <ns0:nvSpPr>
          <ns0:cNvPr id="10" name="Text 7">
            <ns1:extLst>
              <ns1:ext uri="{FF2B5EF4-FFF2-40B4-BE49-F238E27FC236}">
                <ns3:creationId id="{07AA4E22-06C1-45C7-ADCD-5EC90FECEDE9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2926080"/>
            <ns1:ext cx="7315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i="1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Understand the exposure.  Verify the repair.</ns1:t>
            </ns1:r>
            <ns1:endParaRPr sz="2100"/>
          </ns1:p>
        </ns0:txBody>
      </ns0:sp>
      <ns0:sp>
        <ns0:nvSpPr>
          <ns0:cNvPr id="11" name="Shape 8">
            <ns1:extLst>
              <ns1:ext uri="{FF2B5EF4-FFF2-40B4-BE49-F238E27FC236}">
                <ns3:creationId id="{D0E51483-38A9-449F-B88D-94B252E4E6ED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83EB"/>
            </ns1:solidFill>
            <ns1:prstDash val="solid"/>
          </ns1:ln>
        </ns0:spPr>
      </ns0:sp>
      <ns0:sp>
        <ns0:nvSpPr>
          <ns0:cNvPr id="12" name="Text 9">
            <ns1:extLst>
              <ns1:ext uri="{FF2B5EF4-FFF2-40B4-BE49-F238E27FC236}">
                <ns3:creationId id="{3FCA7E98-E861-49BD-862D-DABB70EBAA77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 b="1" spc="100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BUILT BY TECH SQUAD</ns1:t>
            </ns1:r>
            <ns1:endParaRPr sz="1250"/>
          </ns1:p>
        </ns0:txBody>
      </ns0:sp>
      <ns0:sp>
        <ns0:nvSpPr>
          <ns0:cNvPr id="13" name="Shape 10">
            <ns1:extLst>
              <ns1:ext uri="{FF2B5EF4-FFF2-40B4-BE49-F238E27FC236}">
                <ns3:creationId id="{8E8BD2A1-15FE-4E80-953F-845CC8358045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4434840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F3ACF3BD-C781-4BEC-8CCB-66B4AB60A19D}"/>
              </ns1:ext>
            </ns1:extLst>
          </ns0:cNvPr>
          <ns0:cNvPicPr>
            <ns1:picLocks noChangeAspect="1"/>
          </ns0:cNvPicPr>
          <ns0:nvPr/>
        </ns0:nvPicPr>
        <ns0:blipFill>
          <ns1:blip ns2:embed="Rf4bf9c4354894043"/>
          <ns1:stretch>
            <ns1:fillRect l="0" t="0" r="0" b="0"/>
          </ns1:stretch>
        </ns0:blipFill>
        <ns0:spPr>
          <ns1:xfrm>
            <ns1:off x="781995" y="4558467"/>
            <ns1:ext cx="228234" cy="228234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2A28963-2960-41F3-A7C6-043ADE9FE10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4398264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Findings a business owner can actually read.</ns1:t>
            </ns1:r>
            <ns1:endParaRPr sz="1600"/>
          </ns1:p>
        </ns0:txBody>
      </ns0:sp>
      <ns0:sp>
        <ns0:nvSpPr>
          <ns0:cNvPr id="16" name="Shape 12">
            <ns1:extLst>
              <ns1:ext uri="{FF2B5EF4-FFF2-40B4-BE49-F238E27FC236}">
                <ns3:creationId id="{0FCCAB43-3882-4781-9D8A-6A64EA94C841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5148072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7" name="Image 2">
            <ns1:extLst>
              <ns1:ext uri="{FF2B5EF4-FFF2-40B4-BE49-F238E27FC236}">
                <ns3:creationId id="{36E2A2E4-6E2E-4684-96D1-1FD7526D6230}"/>
              </ns1:ext>
            </ns1:extLst>
          </ns0:cNvPr>
          <ns0:cNvPicPr>
            <ns1:picLocks noChangeAspect="1"/>
          </ns0:cNvPicPr>
          <ns0:nvPr/>
        </ns0:nvPicPr>
        <ns0:blipFill>
          <ns1:blip ns2:embed="R80262b8fded44eb2"/>
          <ns1:stretch>
            <ns1:fillRect l="0" t="0" r="0" b="0"/>
          </ns1:stretch>
        </ns0:blipFill>
        <ns0:spPr>
          <ns1:xfrm>
            <ns1:off x="781995" y="5271699"/>
            <ns1:ext cx="228234" cy="228234"/>
          </ns1:xfrm>
          <ns1:prstGeom prst="rect">
            <ns1:avLst/>
          </ns1:prstGeom>
        </ns0:spPr>
      </ns0:pic>
      <ns0:sp>
        <ns0:nvSpPr>
          <ns0:cNvPr id="18" name="Text 13">
            <ns1:extLst>
              <ns1:ext uri="{FF2B5EF4-FFF2-40B4-BE49-F238E27FC236}">
                <ns3:creationId id="{8364CB36-677E-47D8-9F95-26B53D82A49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5111496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Supported repairs — with proof the app still works.</ns1:t>
            </ns1:r>
            <ns1:endParaRPr sz="1600"/>
          </ns1:p>
        </ns0:txBody>
      </ns0:sp>
      <ns0:sp>
        <ns0:nvSpPr>
          <ns0:cNvPr id="19" name="Shape 14">
            <ns1:extLst>
              <ns1:ext uri="{FF2B5EF4-FFF2-40B4-BE49-F238E27FC236}">
                <ns3:creationId id="{54EB30D7-2469-448D-97D3-4F285DD2B50B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1874520"/>
            <ns1:ext cx="3063240" cy="3886200"/>
          </ns1:xfrm>
          <ns1:prstGeom prst="roundRect">
            <ns1:avLst>
              <ns1:gd name="adj" fmla="val 2687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5">
            <ns1:extLst>
              <ns1:ext uri="{FF2B5EF4-FFF2-40B4-BE49-F238E27FC236}">
                <ns3:creationId id="{405D0175-CB37-4D34-923F-5E9B15B8F924}"/>
              </ns1:ext>
            </ns1:extLst>
          </ns0:cNvPr>
          <ns0:cNvSpPr>
            <ns1:spLocks noGrp="1"/>
          </ns0:cNvSpPr>
          <ns0:nvPr/>
        </ns0:nvSpPr>
        <ns0:spPr>
          <ns1:xfrm>
            <ns1:off x="8732520" y="2103120"/>
            <ns1:ext cx="256032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ONE-LINE IDEA</ns1:t>
            </ns1:r>
            <ns1:endParaRPr sz="1200"/>
          </ns1:p>
        </ns0:txBody>
      </ns0:sp>
      <ns0:sp>
        <ns0:nvSpPr>
          <ns0:cNvPr id="21" name="Shape 16">
            <ns1:extLst>
              <ns1:ext uri="{FF2B5EF4-FFF2-40B4-BE49-F238E27FC236}">
                <ns3:creationId id="{3D331868-14BC-4DD0-8993-3946E8A6C1F8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2551176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2" name="Text 17">
            <ns1:extLst>
              <ns1:ext uri="{FF2B5EF4-FFF2-40B4-BE49-F238E27FC236}">
                <ns3:creationId id="{AF7FB0C2-0A71-4DA7-BBCB-7FEF2647FCAA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2459736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600"/>
          </ns1:p>
        </ns0:txBody>
      </ns0:sp>
      <ns0:sp>
        <ns0:nvSpPr>
          <ns0:cNvPr id="23" name="Shape 18">
            <ns1:extLst>
              <ns1:ext uri="{FF2B5EF4-FFF2-40B4-BE49-F238E27FC236}">
                <ns3:creationId id="{EC473CA5-16A5-45F5-8A57-02029A345A39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2752344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4" name="Shape 19">
            <ns1:extLst>
              <ns1:ext uri="{FF2B5EF4-FFF2-40B4-BE49-F238E27FC236}">
                <ns3:creationId id="{662C3385-D75A-4485-AD42-8260EBA717D5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136392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5" name="Text 20">
            <ns1:extLst>
              <ns1:ext uri="{FF2B5EF4-FFF2-40B4-BE49-F238E27FC236}">
                <ns3:creationId id="{6209756E-49F6-4421-A232-8101DC2174D6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3044952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Show the exposure</ns1:t>
            </ns1:r>
            <ns1:endParaRPr sz="1600"/>
          </ns1:p>
        </ns0:txBody>
      </ns0:sp>
      <ns0:sp>
        <ns0:nvSpPr>
          <ns0:cNvPr id="26" name="Shape 21">
            <ns1:extLst>
              <ns1:ext uri="{FF2B5EF4-FFF2-40B4-BE49-F238E27FC236}">
                <ns3:creationId id="{9C3F158F-9ECA-4BD0-808A-560C7C6003CA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337560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7" name="Shape 22">
            <ns1:extLst>
              <ns1:ext uri="{FF2B5EF4-FFF2-40B4-BE49-F238E27FC236}">
                <ns3:creationId id="{729AA9AA-1D72-4E28-8A18-56E2918B7019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721608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8" name="Text 23">
            <ns1:extLst>
              <ns1:ext uri="{FF2B5EF4-FFF2-40B4-BE49-F238E27FC236}">
                <ns3:creationId id="{8A5071A1-3DFA-408E-9195-CB760C92834B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3630168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600"/>
          </ns1:p>
        </ns0:txBody>
      </ns0:sp>
      <ns0:sp>
        <ns0:nvSpPr>
          <ns0:cNvPr id="29" name="Shape 24">
            <ns1:extLst>
              <ns1:ext uri="{FF2B5EF4-FFF2-40B4-BE49-F238E27FC236}">
                <ns3:creationId id="{52CEEF2E-F1EE-43C3-AC1D-93F8179A5857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922776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0" name="Shape 25">
            <ns1:extLst>
              <ns1:ext uri="{FF2B5EF4-FFF2-40B4-BE49-F238E27FC236}">
                <ns3:creationId id="{9A9D8DBF-FF73-48A5-A103-870B084CB304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306824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1" name="Text 26">
            <ns1:extLst>
              <ns1:ext uri="{FF2B5EF4-FFF2-40B4-BE49-F238E27FC236}">
                <ns3:creationId id="{46DB32C9-22C0-41FC-8367-128B69DC1C41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4215384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600"/>
          </ns1:p>
        </ns0:txBody>
      </ns0:sp>
      <ns0:sp>
        <ns0:nvSpPr>
          <ns0:cNvPr id="32" name="Shape 27">
            <ns1:extLst>
              <ns1:ext uri="{FF2B5EF4-FFF2-40B4-BE49-F238E27FC236}">
                <ns3:creationId id="{65008D0D-4978-4D69-A53F-30B6639BB57F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4507992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3" name="Shape 28">
            <ns1:extLst>
              <ns1:ext uri="{FF2B5EF4-FFF2-40B4-BE49-F238E27FC236}">
                <ns3:creationId id="{3B5D560F-67FF-4A98-A137-DC39195443CF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892040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4" name="Text 29">
            <ns1:extLst>
              <ns1:ext uri="{FF2B5EF4-FFF2-40B4-BE49-F238E27FC236}">
                <ns3:creationId id="{D790A1F9-EFB2-4D86-953B-266E82E3C4A2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4800600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Share evidence</ns1:t>
            </ns1:r>
            <ns1:endParaRPr sz="1600"/>
          </ns1:p>
        </ns0:txBody>
      </ns0:sp>
      <ns0:sp>
        <ns0:nvSpPr>
          <ns0:cNvPr id="35" name="Text 30">
            <ns1:extLst>
              <ns1:ext uri="{FF2B5EF4-FFF2-40B4-BE49-F238E27FC236}">
                <ns3:creationId id="{8F8F778A-0C6A-469D-9DD6-3A4EB32A682F}"/>
              </ns1:ext>
            </ns1:extLst>
          </ns0:cNvPr>
          <ns0:cNvSpPr>
            <ns1:spLocks noGrp="1"/>
          </ns0:cNvSpPr>
          <ns0:nvPr/>
        </ns0:nvSpPr>
        <ns0:spPr>
          <ns1:xfrm>
            <ns1:off x="8732520" y="5486400"/>
            <ns1:ext cx="2606040" cy="18288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9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fictional shop + synthetic customers — one controlled, inspectable example.</ns1:t>
            </ns1:r>
            <ns1:endParaRPr sz="950"/>
          </ns1:p>
        </ns0:txBody>
      </ns0:sp>
      <ns0:sp>
        <ns0:nvSpPr>
          <ns0:cNvPr id="36" name="">
            <ns1:extLst>
              <ns1:ext uri="{FF2B5EF4-FFF2-40B4-BE49-F238E27FC236}">
                <ns3:creationId id="{2DA5DD0A-F858-41D1-A135-C1729D0384D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5810250"/>
            <ns1:ext cx="20955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1">
                <ns1:solidFill>
                  <ns1:srgbClr val="8EBEFF"/>
                </ns1:solidFill>
              </ns1:defRPr>
            </ns1:defPPr>
          </ns1:lstStyle>
          <ns1:p>
            <ns1:pPr>
              <ns1:buNone/>
              <ns1:defRPr sz="1050" b="1">
                <ns1:solidFill>
                  <ns1:srgbClr val="8EBEFF"/>
                </ns1:solidFill>
              </ns1:defRPr>
            </ns1:pPr>
            <ns1:r>
              <ns1:rPr sz="1050" b="1">
                <ns1:solidFill>
                  <ns1:srgbClr val="8EBEFF"/>
                </ns1:solidFill>
              </ns1:rPr>
              <ns1:t>TECH SQUAD</ns1:t>
            </ns1:r>
          </ns1:p>
        </ns0:txBody>
      </ns0:sp>
      <ns0:sp>
        <ns0:nvSpPr>
          <ns0:cNvPr id="37" name="">
            <ns1:extLst>
              <ns1:ext uri="{FF2B5EF4-FFF2-40B4-BE49-F238E27FC236}">
                <ns3:creationId id="{BD393A69-2CBE-429B-BF2C-D775B6F72AB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6057900"/>
            <ns1:ext cx="10668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F6F9FF"/>
                </ns1:solidFill>
              </ns1:defRPr>
            </ns1:defPPr>
          </ns1:lstStyle>
          <ns1:p>
            <ns1:pPr>
              <ns1:buNone/>
              <ns1:defRPr sz="1575" b="0">
                <ns1:solidFill>
                  <ns1:srgbClr val="F6F9FF"/>
                </ns1:solidFill>
              </ns1:defRPr>
            </ns1:pPr>
            <ns1:r>
              <ns1:rPr sz="1575" b="0">
                <ns1:solidFill>
                  <ns1:srgbClr val="F6F9FF"/>
                </ns1:solidFill>
              </ns1:rPr>
              <ns1:t>S Shriram   ·   Santhosh K   ·   Shreedevi S   ·   Sanjay Kanna A B</ns1:t>
            </ns1:r>
          </ns1:p>
        </ns0:txBody>
      </ns0:sp>
    </ns0:spTree>
    <ns0:extLst>
      <ns0:ext uri="{BB962C8B-B14F-4D97-AF65-F5344CB8AC3E}">
        <ns4:creationId val="254077956"/>
      </ns0:ext>
    </ns0:extLst>
  </ns0:cSld>
  <ns0:transition spd="med" advClick="1">
    <ns0:fade/>
  </ns0:transition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DD01530F-534F-4685-8D8F-C56C6AB1BF7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37EDBE9-D3B3-42F7-8C4F-A93DB486E15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4B5E51A3-B100-4E37-AB80-202EC11B0E9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Problem Statement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AA1835D5-A57D-47B8-9B88-C1B3BAA151E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07C0C87-2AF4-4D08-8DDB-1633CC713E9E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2:creationId id="{A317529D-5B59-40AA-902F-288A391E9F9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5212080" cy="4023360"/>
          </ns1:xfrm>
          <ns1:prstGeom prst="roundRect">
            <ns1:avLst>
              <ns1:gd name="adj" fmla="val 204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6">
            <ns1:extLst>
              <ns1:ext uri="{FF2B5EF4-FFF2-40B4-BE49-F238E27FC236}">
                <ns2:creationId id="{FE315A75-179A-4F85-8850-D3DB00B15FF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011680"/>
            <ns1:ext cx="46634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NORMAL-LOOKING SHOP</ns1:t>
            </ns1:r>
            <ns1:endParaRPr sz="1200"/>
          </ns1:p>
        </ns0:txBody>
      </ns0:sp>
      <ns0:sp>
        <ns0:nvSpPr>
          <ns0:cNvPr id="9" name="Text 7">
            <ns1:extLst>
              <ns1:ext uri="{FF2B5EF4-FFF2-40B4-BE49-F238E27FC236}">
                <ns2:creationId id="{0E8E99D4-8AD6-43CE-8B7E-171755F96CF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33625"/>
            <ns1:ext cx="4667250" cy="4191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Customers register. The shop works.</ns1:t>
            </ns1:r>
            <ns1:endParaRPr sz="1900"/>
          </ns1:p>
        </ns0:txBody>
      </ns0:sp>
      <ns0:sp>
        <ns0:nvSpPr>
          <ns0:cNvPr id="10" name="Text 8">
            <ns1:extLst>
              <ns1:ext uri="{FF2B5EF4-FFF2-40B4-BE49-F238E27FC236}">
                <ns2:creationId id="{525DC891-7BB1-486A-A556-0F51CCB3459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629150"/>
            <ns1:ext cx="4667250" cy="47625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Storage risks stay hidden behind a working storefront.</ns1:t>
            </ns1:r>
            <ns1:endParaRPr sz="1500"/>
          </ns1:p>
        </ns0:txBody>
      </ns0:sp>
      <ns0:sp>
        <ns0:nvSpPr>
          <ns0:cNvPr id="11" name="Text 9">
            <ns1:extLst>
              <ns1:ext uri="{FF2B5EF4-FFF2-40B4-BE49-F238E27FC236}">
                <ns2:creationId id="{C3D0636E-835F-481F-AF88-8F311DD79EE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219700"/>
            <ns1:ext cx="4667250" cy="4572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4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Owners need clear findings and evidence that a repair worked.</ns1:t>
            </ns1:r>
            <ns1:endParaRPr sz="1400"/>
          </ns1:p>
        </ns0:txBody>
      </ns0:sp>
      <ns0:sp>
        <ns0:nvSpPr>
          <ns0:cNvPr id="12" name="Shape 10">
            <ns1:extLst>
              <ns1:ext uri="{FF2B5EF4-FFF2-40B4-BE49-F238E27FC236}">
                <ns2:creationId id="{4127CD1E-6239-4400-A541-BE0E325CEF35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1783080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1">
            <ns1:extLst>
              <ns1:ext uri="{FF2B5EF4-FFF2-40B4-BE49-F238E27FC236}">
                <ns2:creationId id="{53F0FD1D-6BF4-4EB6-8C27-22960B486F5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2148840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4" name="Image 0">
            <ns1:extLst>
              <ns1:ext uri="{FF2B5EF4-FFF2-40B4-BE49-F238E27FC236}">
                <ns2:creationId id="{9B5F82E9-D96E-484A-A0AD-6D45205DE4A5}"/>
              </ns1:ext>
            </ns1:extLst>
          </ns0:cNvPr>
          <ns0:cNvPicPr>
            <ns1:picLocks noChangeAspect="1"/>
          </ns0:cNvPicPr>
          <ns0:nvPr/>
        </ns0:nvPicPr>
        <ns0:blipFill>
          <ns1:blip ns3:embed="R6222cd4051504d2c"/>
          <ns1:stretch>
            <ns1:fillRect l="0" t="0" r="0" b="0"/>
          </ns1:stretch>
        </ns0:blipFill>
        <ns0:spPr>
          <ns1:xfrm>
            <ns1:off x="6584412" y="2286732"/>
            <ns1:ext cx="254569" cy="254569"/>
          </ns1:xfrm>
          <ns1:prstGeom prst="rect">
            <ns1:avLst/>
          </ns1:prstGeom>
        </ns0:spPr>
      </ns0:pic>
      <ns0:sp>
        <ns0:nvSpPr>
          <ns0:cNvPr id="15" name="Text 12">
            <ns1:extLst>
              <ns1:ext uri="{FF2B5EF4-FFF2-40B4-BE49-F238E27FC236}">
                <ns2:creationId id="{B2458D0D-CD11-40E9-983F-0F1E62C1F2DF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1965960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Weak password hashing</ns1:t>
            </ns1:r>
            <ns1:endParaRPr sz="1700"/>
          </ns1:p>
        </ns0:txBody>
      </ns0:sp>
      <ns0:sp>
        <ns0:nvSpPr>
          <ns0:cNvPr id="16" name="Text 13">
            <ns1:extLst>
              <ns1:ext uri="{FF2B5EF4-FFF2-40B4-BE49-F238E27FC236}">
                <ns2:creationId id="{CBBBEA36-34C0-4A0A-956B-87A94E616A53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2386584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— fast to guess</ns1:t>
            </ns1:r>
            <ns1:endParaRPr sz="1400"/>
          </ns1:p>
        </ns0:txBody>
      </ns0:sp>
      <ns0:sp>
        <ns0:nvSpPr>
          <ns0:cNvPr id="17" name="Shape 14">
            <ns1:extLst>
              <ns1:ext uri="{FF2B5EF4-FFF2-40B4-BE49-F238E27FC236}">
                <ns2:creationId id="{2DAF353E-CE63-477C-A344-83A82A245BB1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3172968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5">
            <ns1:extLst>
              <ns1:ext uri="{FF2B5EF4-FFF2-40B4-BE49-F238E27FC236}">
                <ns2:creationId id="{449E0475-ED6C-4954-9A3A-767074124A00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3538728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9" name="Image 1">
            <ns1:extLst>
              <ns1:ext uri="{FF2B5EF4-FFF2-40B4-BE49-F238E27FC236}">
                <ns2:creationId id="{9B61B7F8-ADD8-45A5-978F-366E99966648}"/>
              </ns1:ext>
            </ns1:extLst>
          </ns0:cNvPr>
          <ns0:cNvPicPr>
            <ns1:picLocks noChangeAspect="1"/>
          </ns0:cNvPicPr>
          <ns0:nvPr/>
        </ns0:nvPicPr>
        <ns0:blipFill>
          <ns1:blip ns3:embed="Rc1e73e8298b04d45"/>
          <ns1:stretch>
            <ns1:fillRect l="0" t="0" r="0" b="0"/>
          </ns1:stretch>
        </ns0:blipFill>
        <ns0:spPr>
          <ns1:xfrm>
            <ns1:off x="6584412" y="3676620"/>
            <ns1:ext cx="254569" cy="254569"/>
          </ns1:xfrm>
          <ns1:prstGeom prst="rect">
            <ns1:avLst/>
          </ns1:prstGeom>
        </ns0:spPr>
      </ns0:pic>
      <ns0:sp>
        <ns0:nvSpPr>
          <ns0:cNvPr id="20" name="Text 16">
            <ns1:extLst>
              <ns1:ext uri="{FF2B5EF4-FFF2-40B4-BE49-F238E27FC236}">
                <ns2:creationId id="{C8044EC5-D4D0-4D74-B813-015B71DCCE37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355848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700"/>
          </ns1:p>
        </ns0:txBody>
      </ns0:sp>
      <ns0:sp>
        <ns0:nvSpPr>
          <ns0:cNvPr id="21" name="Text 17">
            <ns1:extLst>
              <ns1:ext uri="{FF2B5EF4-FFF2-40B4-BE49-F238E27FC236}">
                <ns2:creationId id="{BAFABF9C-7C05-4A5A-AF4A-31D16C009380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776472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Email, phone, address in plain text</ns1:t>
            </ns1:r>
            <ns1:endParaRPr sz="1400"/>
          </ns1:p>
        </ns0:txBody>
      </ns0:sp>
      <ns0:sp>
        <ns0:nvSpPr>
          <ns0:cNvPr id="22" name="Shape 18">
            <ns1:extLst>
              <ns1:ext uri="{FF2B5EF4-FFF2-40B4-BE49-F238E27FC236}">
                <ns2:creationId id="{672FE5A7-64B8-4C90-A3B7-A33E14042D66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4562856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CFBBD8FE-828B-4710-86B2-583CF27BE0D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4928616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1841ADD5-1C8D-4EF9-B559-C411B28712CB}"/>
              </ns1:ext>
            </ns1:extLst>
          </ns0:cNvPr>
          <ns0:cNvPicPr>
            <ns1:picLocks noChangeAspect="1"/>
          </ns0:cNvPicPr>
          <ns0:nvPr/>
        </ns0:nvPicPr>
        <ns0:blipFill>
          <ns1:blip ns3:embed="R9c9658ba74a34590"/>
          <ns1:stretch>
            <ns1:fillRect l="0" t="0" r="0" b="0"/>
          </ns1:stretch>
        </ns0:blipFill>
        <ns0:spPr>
          <ns1:xfrm>
            <ns1:off x="6584412" y="5066508"/>
            <ns1:ext cx="254569" cy="254569"/>
          </ns1:xfrm>
          <ns1:prstGeom prst="rect">
            <ns1:avLst/>
          </ns1:prstGeom>
        </ns0:spPr>
      </ns0:pic>
      <ns0:sp>
        <ns0:nvSpPr>
          <ns0:cNvPr id="25" name="Text 20">
            <ns1:extLst>
              <ns1:ext uri="{FF2B5EF4-FFF2-40B4-BE49-F238E27FC236}">
                <ns2:creationId id="{A05B8D6C-980E-4BB7-9841-CFC3EFEDF642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4745736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in source code</ns1:t>
            </ns1:r>
            <ns1:endParaRPr sz="1700"/>
          </ns1:p>
        </ns0:txBody>
      </ns0:sp>
      <ns0:sp>
        <ns0:nvSpPr>
          <ns0:cNvPr id="26" name="Text 21">
            <ns1:extLst>
              <ns1:ext uri="{FF2B5EF4-FFF2-40B4-BE49-F238E27FC236}">
                <ns2:creationId id="{3B1A9143-9A14-4A4C-B507-522E33E44FB4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5166360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Payment key hardcoded in the app</ns1:t>
            </ns1:r>
            <ns1:endParaRPr sz="1400"/>
          </ns1:p>
        </ns0:txBody>
      </ns0:sp>
      <ns0:pic>
        <ns0:nvPicPr>
          <ns0:cNvPr id="27" name="">
            <ns1:extLst>
              <ns1:ext uri="{FF2B5EF4-FFF2-40B4-BE49-F238E27FC236}">
                <ns2:creationId id="{F2526F62-A63A-4E58-8310-E2A09428EED0}"/>
              </ns1:ext>
            </ns1:extLst>
          </ns0:cNvPr>
          <ns0:cNvPicPr>
            <ns1:picLocks noChangeAspect="1"/>
          </ns0:cNvPicPr>
          <ns0:nvPr/>
        </ns0:nvPicPr>
        <ns0:blipFill>
          <ns1:blip ns3:embed="R588d2f06ff284c76"/>
          <ns1:srcRect l="0" t="20612" r="0" b="20612"/>
          <ns1:stretch>
            <ns1:fillRect l="0" t="0" r="0" b="0"/>
          </ns1:stretch>
        </ns0:blipFill>
        <ns0:spPr>
          <ns1:xfrm>
            <ns1:off x="914400" y="2781300"/>
            <ns1:ext cx="4667250" cy="1714500"/>
          </ns1:xfrm>
          <ns1:prstGeom prst="rect">
            <ns1:avLst/>
          </ns1:prstGeom>
        </ns0:spPr>
      </ns0:pic>
    </ns0:spTree>
    <ns0:extLst>
      <ns0:ext uri="{BB962C8B-B14F-4D97-AF65-F5344CB8AC3E}">
        <ns4:creationId val="504438693"/>
      </ns0:ext>
    </ns0:extLst>
  </ns0:cSld>
  <ns0:transition spd="med" advClick="1">
    <ns0:fade/>
  </ns0:transition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3DA6A575-3F34-42C1-89F1-B01D4520DE6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69C94C9D-A5E8-44B9-B0FA-9CE082A1EF5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2EE71238-8DDA-4A38-9B62-D57A8368101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03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Target Users &amp; Validation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FDFD4C3-FDE5-410D-A993-B6D22F94AE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AD755A9-22B4-451B-98CA-83A29921612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3 / 12</ns1:t>
            </ns1:r>
            <ns1:endParaRPr sz="1100"/>
          </ns1:p>
        </ns0:txBody>
      </ns0:sp>
      <ns0:graphicFrame>
        <ns0:nvGraphicFramePr>
          <ns0:cNvPr id="7" name="Table 0">
            <ns1:extLst>
              <ns1:ext uri="{FF2B5EF4-FFF2-40B4-BE49-F238E27FC236}">
                <ns2:creationId id="{03B9E125-D661-4D0C-A25C-F28D42FDBC87}"/>
              </ns1:ext>
            </ns1:extLst>
          </ns0:cNvPr>
          <ns0:cNvGraphicFramePr/>
          <ns0:nvPr/>
        </ns0:nvGraphicFramePr>
        <ns0:xfrm>
          <ns1:off x="640080" y="1920240"/>
          <ns1:ext cx="6492240" cy="2596896"/>
        </ns0:xfrm>
        <ns1:graphic>
          <ns1:graphicData uri="http://schemas.openxmlformats.org/drawingml/2006/table">
            <ns1:tbl>
              <ns1:tblPr/>
              <ns1:tblGrid>
                <ns1:gridCol w="2286000"/>
                <ns1:gridCol w="4206240"/>
              </ns1:tblGrid>
              <ns1:tr h="457200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User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What they need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 owner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Understand the risk and approve the next step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Developer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Inspect evidence and review supported repairs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Advisory partner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Follow client findings and overall health (read-only)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A6F1EF74-4C77-4B6C-BCBF-2A672D01A4D2}"/>
              </ns1:ext>
            </ns1:extLst>
          </ns0:cNvPr>
          <ns0:cNvSpPr>
            <ns1:spLocks noGrp="1"/>
          </ns0:cNvSpPr>
          <ns0:nvPr/>
        </ns0:nvSpPr>
        <ns0:spPr>
          <ns1:xfrm>
            <ns1:off x="7406640" y="1920240"/>
            <ns1:ext cx="4114800" cy="2596896"/>
          </ns1:xfrm>
          <ns1:prstGeom prst="roundRect">
            <ns1:avLst>
              <ns1:gd name="adj" fmla="val 3169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4A36F932-5046-42D4-B46D-7717FF7F81D4}"/>
              </ns1:ext>
            </ns1:extLst>
          </ns0:cNvPr>
          <ns0:cNvSpPr>
            <ns1:spLocks noGrp="1"/>
          </ns0:cNvSpPr>
          <ns0:nvPr/>
        </ns0:nvSpPr>
        <ns0:spPr>
          <ns1:xfrm>
            <ns1:off x="7680960" y="2103120"/>
            <ns1:ext cx="356616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ONE PRODUCT, DIFFERENT ROLES</ns1:t>
            </ns1:r>
            <ns1:endParaRPr sz="1200"/>
          </ns1:p>
        </ns0:txBody>
      </ns0:sp>
      <ns0:sp>
        <ns0:nvSpPr>
          <ns0:cNvPr id="10" name="Text 7">
            <ns1:extLst>
              <ns1:ext uri="{FF2B5EF4-FFF2-40B4-BE49-F238E27FC236}">
                <ns2:creationId id="{BD8DEFAD-3C32-40B1-9341-0A5949ADFC83}"/>
              </ns1:ext>
            </ns1:extLst>
          </ns0:cNvPr>
          <ns0:cNvSpPr>
            <ns1:spLocks noGrp="1"/>
          </ns0:cNvSpPr>
          <ns0:nvPr/>
        </ns0:nvSpPr>
        <ns0:spPr>
          <ns1:xfrm>
            <ns1:off x="7680960" y="2468880"/>
            <ns1:ext cx="3611880" cy="192024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342900" indent="-342900">
              <ns1:spcAft>
                <ns1:spcPts val="800"/>
              </ns1:spcAft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company owns its application.</ns1:t>
            </ns1:r>
            <ns1:endParaRPr sz="1450"/>
          </ns1:p>
          <ns1:p>
            <ns1:pPr marL="342900" indent="-342900">
              <ns1:spcAft>
                <ns1:spcPts val="800"/>
              </ns1:spcAft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Its developer performs repairs.</ns1:t>
            </ns1:r>
            <ns1:endParaRPr sz="1450"/>
          </ns1:p>
          <ns1:p>
            <ns1:pPr marL="342900" indent="-342900"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partner observes and advises — a portfolio view, not another repair dashboard.</ns1:t>
            </ns1:r>
            <ns1:endParaRPr sz="1450"/>
          </ns1:p>
        </ns0:txBody>
      </ns0:sp>
      <ns0:sp>
        <ns0:nvSpPr>
          <ns0:cNvPr id="11" name="Shape 8">
            <ns1:extLst>
              <ns1:ext uri="{FF2B5EF4-FFF2-40B4-BE49-F238E27FC236}">
                <ns2:creationId id="{2982CB4A-CC03-4F8F-81F4-7C888DF120A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54880"/>
            <ns1:ext cx="10881360" cy="1143000"/>
          </ns1:xfrm>
          <ns1:prstGeom prst="roundRect">
            <ns1:avLst>
              <ns1:gd name="adj" fmla="val 72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Text 9">
            <ns1:extLst>
              <ns1:ext uri="{FF2B5EF4-FFF2-40B4-BE49-F238E27FC236}">
                <ns2:creationId id="{FC3DB31F-3FE1-4C40-9D97-6453821CEF5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892040"/>
            <ns1:ext cx="10332720" cy="86868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4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/>
            </ns1:r>
            <ns1:endParaRPr sz="1450"/>
          </ns1:p>
        </ns0:txBody>
      </ns0:sp>
      <ns0:sp>
        <ns0:nvSpPr>
          <ns0:cNvPr id="13" name="">
            <ns1:extLst>
              <ns1:ext uri="{FF2B5EF4-FFF2-40B4-BE49-F238E27FC236}">
                <ns2:creationId id="{7DF7E324-81B9-4DC2-B68E-E4C674060F4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962525"/>
            <ns1:ext cx="40481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1">
                <ns1:solidFill>
                  <ns1:srgbClr val="43D3A4"/>
                </ns1:solidFill>
              </ns1:defRPr>
            </ns1:defPPr>
          </ns1:lstStyle>
          <ns1:p>
            <ns1:pPr>
              <ns1:defRPr sz="1200" b="1">
                <ns1:solidFill>
                  <ns1:srgbClr val="43D3A4"/>
                </ns1:solidFill>
              </ns1:defRPr>
            </ns1:pPr>
            <ns1:r>
              <ns1:rPr sz="1200" b="1">
                <ns1:solidFill>
                  <ns1:srgbClr val="43D3A4"/>
                </ns1:solidFill>
              </ns1:rPr>
              <ns1:t>ENGINEERING CHECKED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21986C3-00C0-47D3-9177-9E0E26A3794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314950"/>
            <ns1:ext cx="4238625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F6F9FF"/>
                </ns1:solidFill>
              </ns1:defRPr>
            </ns1:defPPr>
          </ns1:lstStyle>
          <ns1:p>
            <ns1:pPr>
              <ns1:defRPr sz="1575" b="0">
                <ns1:solidFill>
                  <ns1:srgbClr val="F6F9FF"/>
                </ns1:solidFill>
              </ns1:defRPr>
            </ns1:pPr>
            <ns1:r>
              <ns1:rPr sz="1575" b="0">
                <ns1:solidFill>
                  <ns1:srgbClr val="F6F9FF"/>
                </ns1:solidFill>
              </ns1:rPr>
              <ns1:t>Connected demo workflow tested.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7A31775E-1F98-4AE6-B4A1-2CAD56F17CC0}"/>
              </ns1:ext>
            </ns1:extLst>
          </ns0:cNvPr>
          <ns0:cNvSpPr>
            <ns1:spLocks noGrp="1"/>
          </ns0:cNvSpPr>
          <ns0:nvPr/>
        </ns0:nvSpPr>
        <ns0:spPr>
          <ns1:xfrm>
            <ns1:off x="5619750" y="4962525"/>
            <ns1:ext cx="54292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1">
                <ns1:solidFill>
                  <ns1:srgbClr val="FF765B"/>
                </ns1:solidFill>
              </ns1:defRPr>
            </ns1:defPPr>
          </ns1:lstStyle>
          <ns1:p>
            <ns1:pPr>
              <ns1:defRPr sz="1200" b="1">
                <ns1:solidFill>
                  <ns1:srgbClr val="FF765B"/>
                </ns1:solidFill>
              </ns1:defRPr>
            </ns1:pPr>
            <ns1:r>
              <ns1:rPr sz="1200" b="1">
                <ns1:solidFill>
                  <ns1:srgbClr val="FF765B"/>
                </ns1:solidFill>
              </ns1:rPr>
              <ns1:t>MARKET VALIDATION NEXT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669B5ECA-A811-4507-9076-BA82FFFEEDBB}"/>
              </ns1:ext>
            </ns1:extLst>
          </ns0:cNvPr>
          <ns0:cNvSpPr>
            <ns1:spLocks noGrp="1"/>
          </ns0:cNvSpPr>
          <ns0:nvPr/>
        </ns0:nvSpPr>
        <ns0:spPr>
          <ns1:xfrm>
            <ns1:off x="5619750" y="5276850"/>
            <ns1:ext cx="5429250" cy="5619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>
              <ns1:defRPr sz="1425" b="0">
                <ns1:solidFill>
                  <ns1:srgbClr val="F6F9FF"/>
                </ns1:solidFill>
              </ns1:defRPr>
            </ns1:pPr>
            <ns1:r>
              <ns1:rPr sz="1425" b="0">
                <ns1:solidFill>
                  <ns1:srgbClr val="F6F9FF"/>
                </ns1:solidFill>
              </ns1:rPr>
              <ns1:t>Interview 10 owners + 3 providers; recruit 5 pilots.</ns1:t>
            </ns1:r>
          </ns1:p>
          <ns1:p>
            <ns1:pPr>
              <ns1:defRPr sz="1425" b="0">
                <ns1:solidFill>
                  <ns1:srgbClr val="F6F9FF"/>
                </ns1:solidFill>
              </ns1:defRPr>
            </ns1:pPr>
            <ns1:r>
              <ns1:rPr sz="1425" b="0">
                <ns1:solidFill>
                  <ns1:srgbClr val="F6F9FF"/>
                </ns1:solidFill>
              </ns1:rPr>
              <ns1:t>No paid-pilot or retention evidence yet.</ns1:t>
            </ns1:r>
          </ns1:p>
        </ns0:txBody>
      </ns0:sp>
    </ns0:spTree>
    <ns0:extLst>
      <ns0:ext uri="{BB962C8B-B14F-4D97-AF65-F5344CB8AC3E}">
        <ns3:creationId val="1683767530"/>
      </ns0:ext>
    </ns0:extLst>
  </ns0:cSld>
  <ns0:transition spd="med" advClick="1">
    <ns0:fade/>
  </ns0:transition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2B012577-7BE8-4AF2-9BEB-57F45F56E58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AE48C10-0FB4-4887-98E4-0180470B3FC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4BD8B2-7CD3-4744-B69E-B591EFB6891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04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Proposed Solution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6AC91101-9F8D-4D19-A622-57814EBCB20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7F8D6E6-C613-4779-9C2A-5EC911696330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4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FEAE8B5A-6375-45C2-B14B-26580A4E642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clear path from a finding to a verified improvement</ns1:t>
            </ns1:r>
            <ns1:endParaRPr sz="1800"/>
          </ns1:p>
        </ns0:txBody>
      </ns0:sp>
      <ns0:sp>
        <ns0:nvSpPr>
          <ns0:cNvPr id="8" name="Shape 6">
            <ns1:extLst>
              <ns1:ext uri="{FF2B5EF4-FFF2-40B4-BE49-F238E27FC236}">
                <ns2:creationId id="{FDC38D78-1A20-471F-B395-881573C0608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Shape 7">
            <ns1:extLst>
              <ns1:ext uri="{FF2B5EF4-FFF2-40B4-BE49-F238E27FC236}">
                <ns2:creationId id="{2C63E0C8-33D2-44D8-B8C5-172962E76E1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0" name="Image 0">
            <ns1:extLst>
              <ns1:ext uri="{FF2B5EF4-FFF2-40B4-BE49-F238E27FC236}">
                <ns2:creationId id="{1DCC07E5-B8F5-454A-B56E-2FA902F8B594}"/>
              </ns1:ext>
            </ns1:extLst>
          </ns0:cNvPr>
          <ns0:cNvPicPr>
            <ns1:picLocks noChangeAspect="1"/>
          </ns0:cNvPicPr>
          <ns0:nvPr/>
        </ns0:nvPicPr>
        <ns0:blipFill>
          <ns1:blip ns3:embed="Rac015b0c4d364ffb"/>
          <ns1:stretch>
            <ns1:fillRect l="0" t="0" r="0" b="0"/>
          </ns1:stretch>
        </ns0:blipFill>
        <ns0:spPr>
          <ns1:xfrm>
            <ns1:off x="1099840" y="2764048"/>
            <ns1:ext cx="342351" cy="342351"/>
          </ns1:xfrm>
          <ns1:prstGeom prst="rect">
            <ns1:avLst/>
          </ns1:prstGeom>
        </ns0:spPr>
      </ns0:pic>
      <ns0:sp>
        <ns0:nvSpPr>
          <ns0:cNvPr id="11" name="Text 8">
            <ns1:extLst>
              <ns1:ext uri="{FF2B5EF4-FFF2-40B4-BE49-F238E27FC236}">
                <ns2:creationId id="{F304E301-2443-4EC5-AC5C-42C7D1D61FD4}"/>
              </ns1:ext>
            </ns1:extLst>
          </ns0:cNvPr>
          <ns0:cNvSpPr>
            <ns1:spLocks noGrp="1"/>
          </ns0:cNvSpPr>
          <ns0:nvPr/>
        </ns0:nvSpPr>
        <ns0:spPr>
          <ns1:xfrm>
            <ns1:off x="2596896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1</ns1:t>
            </ns1:r>
            <ns1:endParaRPr sz="3000"/>
          </ns1:p>
        </ns0:txBody>
      </ns0:sp>
      <ns0:sp>
        <ns0:nvSpPr>
          <ns0:cNvPr id="12" name="Text 9">
            <ns1:extLst>
              <ns1:ext uri="{FF2B5EF4-FFF2-40B4-BE49-F238E27FC236}">
                <ns2:creationId id="{105EA1C0-BACE-473F-9F10-808FD59A367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900"/>
          </ns1:p>
        </ns0:txBody>
      </ns0:sp>
      <ns0:sp>
        <ns0:nvSpPr>
          <ns0:cNvPr id="13" name="Text 10">
            <ns1:extLst>
              <ns1:ext uri="{FF2B5EF4-FFF2-40B4-BE49-F238E27FC236}">
                <ns2:creationId id="{941EB990-379D-4E5A-990F-73E9B05CFEB6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Identify supported weaknesses and explain why they matter.</ns1:t>
            </ns1:r>
            <ns1:endParaRPr sz="1350"/>
          </ns1:p>
        </ns0:txBody>
      </ns0:sp>
      <ns0:sp>
        <ns0:nvSpPr>
          <ns0:cNvPr id="14" name="Text 11">
            <ns1:extLst>
              <ns1:ext uri="{FF2B5EF4-FFF2-40B4-BE49-F238E27FC236}">
                <ns2:creationId id="{2500C94B-5595-45B6-8003-BE4A92E98E13}"/>
              </ns1:ext>
            </ns1:extLst>
          </ns0:cNvPr>
          <ns0:cNvSpPr>
            <ns1:spLocks noGrp="1"/>
          </ns0:cNvSpPr>
          <ns0:nvPr/>
        </ns0:nvSpPr>
        <ns0:spPr>
          <ns1:xfrm>
            <ns1:off x="3236976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5" name="Shape 12">
            <ns1:extLst>
              <ns1:ext uri="{FF2B5EF4-FFF2-40B4-BE49-F238E27FC236}">
                <ns2:creationId id="{41990612-5E45-4764-872C-84D2518504A3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6" name="Shape 13">
            <ns1:extLst>
              <ns1:ext uri="{FF2B5EF4-FFF2-40B4-BE49-F238E27FC236}">
                <ns2:creationId id="{5D0EA8EC-A6EC-4DE1-98B9-41B875334E7F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7" name="Image 1">
            <ns1:extLst>
              <ns1:ext uri="{FF2B5EF4-FFF2-40B4-BE49-F238E27FC236}">
                <ns2:creationId id="{98B368C9-4A0D-4E20-B064-DD034048C6B6}"/>
              </ns1:ext>
            </ns1:extLst>
          </ns0:cNvPr>
          <ns0:cNvPicPr>
            <ns1:picLocks noChangeAspect="1"/>
          </ns0:cNvPicPr>
          <ns0:nvPr/>
        </ns0:nvPicPr>
        <ns0:blipFill>
          <ns1:blip ns3:embed="R99753e96a4614ec8"/>
          <ns1:stretch>
            <ns1:fillRect l="0" t="0" r="0" b="0"/>
          </ns1:stretch>
        </ns0:blipFill>
        <ns0:spPr>
          <ns1:xfrm>
            <ns1:off x="3907048" y="2764048"/>
            <ns1:ext cx="342351" cy="342351"/>
          </ns1:xfrm>
          <ns1:prstGeom prst="rect">
            <ns1:avLst/>
          </ns1:prstGeom>
        </ns0:spPr>
      </ns0:pic>
      <ns0:sp>
        <ns0:nvSpPr>
          <ns0:cNvPr id="18" name="Text 14">
            <ns1:extLst>
              <ns1:ext uri="{FF2B5EF4-FFF2-40B4-BE49-F238E27FC236}">
                <ns2:creationId id="{5AF0AC43-7571-46F6-8091-89C8DEFBC1E4}"/>
              </ns1:ext>
            </ns1:extLst>
          </ns0:cNvPr>
          <ns0:cNvSpPr>
            <ns1:spLocks noGrp="1"/>
          </ns0:cNvSpPr>
          <ns0:nvPr/>
        </ns0:nvSpPr>
        <ns0:spPr>
          <ns1:xfrm>
            <ns1:off x="5404104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2</ns1:t>
            </ns1:r>
            <ns1:endParaRPr sz="3000"/>
          </ns1:p>
        </ns0:txBody>
      </ns0:sp>
      <ns0:sp>
        <ns0:nvSpPr>
          <ns0:cNvPr id="19" name="Text 15">
            <ns1:extLst>
              <ns1:ext uri="{FF2B5EF4-FFF2-40B4-BE49-F238E27FC236}">
                <ns2:creationId id="{CFD56752-ABFA-49DC-AD67-77827C1599FC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Controlled attack</ns1:t>
            </ns1:r>
            <ns1:endParaRPr sz="1900"/>
          </ns1:p>
        </ns0:txBody>
      </ns0:sp>
      <ns0:sp>
        <ns0:nvSpPr>
          <ns0:cNvPr id="20" name="Text 16">
            <ns1:extLst>
              <ns1:ext uri="{FF2B5EF4-FFF2-40B4-BE49-F238E27FC236}">
                <ns2:creationId id="{8F1146A2-1D53-45DA-AEA8-E08987A2C3F7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Test a synthetic account to reveal the exposure.</ns1:t>
            </ns1:r>
            <ns1:endParaRPr sz="1350"/>
          </ns1:p>
        </ns0:txBody>
      </ns0:sp>
      <ns0:sp>
        <ns0:nvSpPr>
          <ns0:cNvPr id="21" name="Text 17">
            <ns1:extLst>
              <ns1:ext uri="{FF2B5EF4-FFF2-40B4-BE49-F238E27FC236}">
                <ns2:creationId id="{0FCD92FB-A81C-4133-BD4F-0F7BD6985A91}"/>
              </ns1:ext>
            </ns1:extLst>
          </ns0:cNvPr>
          <ns0:cNvSpPr>
            <ns1:spLocks noGrp="1"/>
          </ns0:cNvSpPr>
          <ns0:nvPr/>
        </ns0:nvSpPr>
        <ns0:spPr>
          <ns1:xfrm>
            <ns1:off x="6044184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2" name="Shape 18">
            <ns1:extLst>
              <ns1:ext uri="{FF2B5EF4-FFF2-40B4-BE49-F238E27FC236}">
                <ns2:creationId id="{031A9D12-4AF8-4C6A-9C58-296C63808C2D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4CA4722E-599A-4430-9C19-7AFD8EFBBD47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A0B637B7-A85D-4055-A982-6FA9D1887EB7}"/>
              </ns1:ext>
            </ns1:extLst>
          </ns0:cNvPr>
          <ns0:cNvPicPr>
            <ns1:picLocks noChangeAspect="1"/>
          </ns0:cNvPicPr>
          <ns0:nvPr/>
        </ns0:nvPicPr>
        <ns0:blipFill>
          <ns1:blip ns3:embed="R5dfdf196047742fc"/>
          <ns1:stretch>
            <ns1:fillRect l="0" t="0" r="0" b="0"/>
          </ns1:stretch>
        </ns0:blipFill>
        <ns0:spPr>
          <ns1:xfrm>
            <ns1:off x="6714256" y="2764048"/>
            <ns1:ext cx="342351" cy="342351"/>
          </ns1:xfrm>
          <ns1:prstGeom prst="rect">
            <ns1:avLst/>
          </ns1:prstGeom>
        </ns0:spPr>
      </ns0:pic>
      <ns0:sp>
        <ns0:nvSpPr>
          <ns0:cNvPr id="25" name="Text 20">
            <ns1:extLst>
              <ns1:ext uri="{FF2B5EF4-FFF2-40B4-BE49-F238E27FC236}">
                <ns2:creationId id="{058BF683-37B7-4234-AFA2-EDAF0BAFFB98}"/>
              </ns1:ext>
            </ns1:extLst>
          </ns0:cNvPr>
          <ns0:cNvSpPr>
            <ns1:spLocks noGrp="1"/>
          </ns0:cNvSpPr>
          <ns0:nvPr/>
        </ns0:nvSpPr>
        <ns0:spPr>
          <ns1:xfrm>
            <ns1:off x="8211312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3</ns1:t>
            </ns1:r>
            <ns1:endParaRPr sz="3000"/>
          </ns1:p>
        </ns0:txBody>
      </ns0:sp>
      <ns0:sp>
        <ns0:nvSpPr>
          <ns0:cNvPr id="26" name="Text 21">
            <ns1:extLst>
              <ns1:ext uri="{FF2B5EF4-FFF2-40B4-BE49-F238E27FC236}">
                <ns2:creationId id="{A014E763-C43C-4DD7-B62C-D6741157EAD6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900"/>
          </ns1:p>
        </ns0:txBody>
      </ns0:sp>
      <ns0:sp>
        <ns0:nvSpPr>
          <ns0:cNvPr id="27" name="Text 22">
            <ns1:extLst>
              <ns1:ext uri="{FF2B5EF4-FFF2-40B4-BE49-F238E27FC236}">
                <ns2:creationId id="{443771BC-CC12-446D-BCFF-120DCE84EFBE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and apply the supported repair bundle.</ns1:t>
            </ns1:r>
            <ns1:endParaRPr sz="1350"/>
          </ns1:p>
        </ns0:txBody>
      </ns0:sp>
      <ns0:sp>
        <ns0:nvSpPr>
          <ns0:cNvPr id="28" name="Text 23">
            <ns1:extLst>
              <ns1:ext uri="{FF2B5EF4-FFF2-40B4-BE49-F238E27FC236}">
                <ns2:creationId id="{C13474B6-AACB-469B-8689-9F8C10A6A771}"/>
              </ns1:ext>
            </ns1:extLst>
          </ns0:cNvPr>
          <ns0:cNvSpPr>
            <ns1:spLocks noGrp="1"/>
          </ns0:cNvSpPr>
          <ns0:nvPr/>
        </ns0:nvSpPr>
        <ns0:spPr>
          <ns1:xfrm>
            <ns1:off x="8851392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9" name="Shape 24">
            <ns1:extLst>
              <ns1:ext uri="{FF2B5EF4-FFF2-40B4-BE49-F238E27FC236}">
                <ns2:creationId id="{26C9CB67-7618-4B26-B002-B3688DC64F23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0" name="Shape 25">
            <ns1:extLst>
              <ns1:ext uri="{FF2B5EF4-FFF2-40B4-BE49-F238E27FC236}">
                <ns2:creationId id="{D36C63AA-543F-4153-A1A6-B29974640205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31" name="Image 3">
            <ns1:extLst>
              <ns1:ext uri="{FF2B5EF4-FFF2-40B4-BE49-F238E27FC236}">
                <ns2:creationId id="{01E2562D-B377-49B1-8366-6E9E82856E44}"/>
              </ns1:ext>
            </ns1:extLst>
          </ns0:cNvPr>
          <ns0:cNvPicPr>
            <ns1:picLocks noChangeAspect="1"/>
          </ns0:cNvPicPr>
          <ns0:nvPr/>
        </ns0:nvPicPr>
        <ns0:blipFill>
          <ns1:blip ns3:embed="R700b21b9228b4b29"/>
          <ns1:stretch>
            <ns1:fillRect l="0" t="0" r="0" b="0"/>
          </ns1:stretch>
        </ns0:blipFill>
        <ns0:spPr>
          <ns1:xfrm>
            <ns1:off x="9521464" y="2764048"/>
            <ns1:ext cx="342351" cy="342351"/>
          </ns1:xfrm>
          <ns1:prstGeom prst="rect">
            <ns1:avLst/>
          </ns1:prstGeom>
        </ns0:spPr>
      </ns0:pic>
      <ns0:sp>
        <ns0:nvSpPr>
          <ns0:cNvPr id="32" name="Text 26">
            <ns1:extLst>
              <ns1:ext uri="{FF2B5EF4-FFF2-40B4-BE49-F238E27FC236}">
                <ns2:creationId id="{85B808A8-A428-4847-998D-B32655D06AB2}"/>
              </ns1:ext>
            </ns1:extLst>
          </ns0:cNvPr>
          <ns0:cNvSpPr>
            <ns1:spLocks noGrp="1"/>
          </ns0:cNvSpPr>
          <ns0:nvPr/>
        </ns0:nvSpPr>
        <ns0:spPr>
          <ns1:xfrm>
            <ns1:off x="11018520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4</ns1:t>
            </ns1:r>
            <ns1:endParaRPr sz="3000"/>
          </ns1:p>
        </ns0:txBody>
      </ns0:sp>
      <ns0:sp>
        <ns0:nvSpPr>
          <ns0:cNvPr id="33" name="Text 27">
            <ns1:extLst>
              <ns1:ext uri="{FF2B5EF4-FFF2-40B4-BE49-F238E27FC236}">
                <ns2:creationId id="{5062C807-7B4D-43E8-99C9-26FF777942E3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900"/>
          </ns1:p>
        </ns0:txBody>
      </ns0:sp>
      <ns0:sp>
        <ns0:nvSpPr>
          <ns0:cNvPr id="34" name="Text 28">
            <ns1:extLst>
              <ns1:ext uri="{FF2B5EF4-FFF2-40B4-BE49-F238E27FC236}">
                <ns2:creationId id="{0086AFE1-EE74-4A92-8937-538F927D948E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Re-run checks before publishing the evidence.</ns1:t>
            </ns1:r>
            <ns1:endParaRPr sz="1350"/>
          </ns1:p>
        </ns0:txBody>
      </ns0:sp>
      <ns0:sp>
        <ns0:nvSpPr>
          <ns0:cNvPr id="35" name="Shape 29">
            <ns1:extLst>
              <ns1:ext uri="{FF2B5EF4-FFF2-40B4-BE49-F238E27FC236}">
                <ns2:creationId id="{77B6ED6A-27DA-40DF-AC5B-999FC61AF58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84632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6" name="Text 30">
            <ns1:extLst>
              <ns1:ext uri="{FF2B5EF4-FFF2-40B4-BE49-F238E27FC236}">
                <ns2:creationId id="{226B1B0E-2DB3-421F-A837-F85ABA84258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983480"/>
            <ns1:ext cx="10332720" cy="77724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 clean-looking finding screen does not prove the app is protected — verification tests the repaired state and real application behavior.</ns1:t>
            </ns1:r>
            <ns1:endParaRPr sz="1500"/>
          </ns1:p>
        </ns0:txBody>
      </ns0:sp>
    </ns0:spTree>
    <ns0:extLst>
      <ns0:ext uri="{BB962C8B-B14F-4D97-AF65-F5344CB8AC3E}">
        <ns4:creationId val="1315350887"/>
      </ns0:ext>
    </ns0:extLst>
  </ns0:cSld>
  <ns0:transition spd="med" advClick="1">
    <ns0:fade/>
  </ns0:transition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8F6B3DB2-E97A-42A8-A8E8-4A664FE615D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C8AB0F2-BB6B-490B-8903-E39B194A283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B665235-9915-49FE-AF7A-28D843FD711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05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Prototype / Demo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9BDD647-1F2C-4D87-A88C-F247ED34624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1978A57-84B4-4306-9EF8-904DC593309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5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1FE4030C-2343-408B-BEC9-3DDCAD2B9FE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17904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Business demo — the same password, before and after</ns1:t>
            </ns1:r>
            <ns1:endParaRPr sz="1700"/>
          </ns1:p>
        </ns0:txBody>
      </ns0:sp>
      <ns0:sp>
        <ns0:nvSpPr>
          <ns0:cNvPr id="8" name="">
            <ns1:extLst>
              <ns1:ext uri="{FF2B5EF4-FFF2-40B4-BE49-F238E27FC236}">
                <ns2:creationId id="{ABB06D51-6C75-4980-9367-E2717F3492E8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2009775"/>
            <ns1:ext cx="5286375" cy="2914650"/>
          </ns1:xfrm>
          <ns1:prstGeom prst="roundRect">
            <ns1:avLst>
              <ns1:gd name="adj" fmla="val 3922"/>
            </ns1:avLst>
          </ns1:prstGeom>
          <ns1:solidFill>
            <ns1:srgbClr val="192942"/>
          </ns1:solidFill>
          <ns1:ln w="9525">
            <ns1:solidFill>
              <ns1:srgbClr val="2A4265"/>
            </ns1:solidFill>
          </ns1:ln>
        </ns0:spPr>
      </ns0:sp>
      <ns0:sp>
        <ns0:nvSpPr>
          <ns0:cNvPr id="9" name="">
            <ns1:extLst>
              <ns1:ext uri="{FF2B5EF4-FFF2-40B4-BE49-F238E27FC236}">
                <ns2:creationId id="{57A7A97E-8840-416C-880F-0B763CA97849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133600"/>
            <ns1:ext cx="4953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FF765B"/>
                </ns1:solidFill>
              </ns1:defRPr>
            </ns1:defPPr>
          </ns1:lstStyle>
          <ns1:p>
            <ns1:pPr>
              <ns1:defRPr sz="1500" b="1">
                <ns1:solidFill>
                  <ns1:srgbClr val="FF765B"/>
                </ns1:solidFill>
              </ns1:defRPr>
            </ns1:pPr>
            <ns1:r>
              <ns1:rPr sz="1500" b="1">
                <ns1:solidFill>
                  <ns1:srgbClr val="FF765B"/>
                </ns1:solidFill>
              </ns1:rPr>
              <ns1:t>BEFORE REPAIR  /  Password recovered</ns1:t>
            </ns1:r>
          </ns1:p>
        </ns0:txBody>
      </ns0:sp>
      <ns0:pic>
        <ns0:nvPicPr>
          <ns0:cNvPr id="10" name="">
            <ns1:extLst>
              <ns1:ext uri="{FF2B5EF4-FFF2-40B4-BE49-F238E27FC236}">
                <ns2:creationId id="{F39FE972-BF00-4E77-A88B-E9113C7FBA7D}"/>
              </ns1:ext>
            </ns1:extLst>
          </ns0:cNvPr>
          <ns0:cNvPicPr>
            <ns1:picLocks noChangeAspect="1"/>
          </ns0:cNvPicPr>
          <ns0:nvPr/>
        </ns0:nvPicPr>
        <ns0:blipFill>
          <ns1:blip ns3:embed="Rd5c2e11c0c5841f7"/>
          <ns1:stretch/>
        </ns0:blipFill>
        <ns0:spPr>
          <ns1:xfrm>
            <ns1:off x="752475" y="2502215"/>
            <ns1:ext cx="5057775" cy="2310771"/>
          </ns1:xfrm>
          <ns1:prstGeom prst="rect">
            <ns1:avLst/>
          </ns1:prstGeom>
        </ns0:spPr>
      </ns0:pic>
      <ns0:sp>
        <ns0:nvSpPr>
          <ns0:cNvPr id="11" name="">
            <ns1:extLst>
              <ns1:ext uri="{FF2B5EF4-FFF2-40B4-BE49-F238E27FC236}">
                <ns2:creationId id="{71471C01-C03E-41B4-8F76-3141AFBC73B9}"/>
              </ns1:ext>
            </ns1:extLst>
          </ns0:cNvPr>
          <ns0:cNvSpPr>
            <ns1:spLocks noGrp="1"/>
          </ns0:cNvSpPr>
          <ns0:nvPr/>
        </ns0:nvSpPr>
        <ns0:spPr>
          <ns1:xfrm>
            <ns1:off x="6238875" y="2009775"/>
            <ns1:ext cx="5286375" cy="2914650"/>
          </ns1:xfrm>
          <ns1:prstGeom prst="roundRect">
            <ns1:avLst>
              <ns1:gd name="adj" fmla="val 3922"/>
            </ns1:avLst>
          </ns1:prstGeom>
          <ns1:solidFill>
            <ns1:srgbClr val="192942"/>
          </ns1:solidFill>
          <ns1:ln w="9525">
            <ns1:solidFill>
              <ns1:srgbClr val="2A4265"/>
            </ns1:solidFill>
          </ns1:ln>
        </ns0:spPr>
      </ns0:sp>
      <ns0:sp>
        <ns0:nvSpPr>
          <ns0:cNvPr id="12" name="">
            <ns1:extLst>
              <ns1:ext uri="{FF2B5EF4-FFF2-40B4-BE49-F238E27FC236}">
                <ns2:creationId id="{C1A58A22-D5F1-4FA3-BC5B-3B40B4F23B66}"/>
              </ns1:ext>
            </ns1:extLst>
          </ns0:cNvPr>
          <ns0:cNvSpPr>
            <ns1:spLocks noGrp="1"/>
          </ns0:cNvSpPr>
          <ns0:nvPr/>
        </ns0:nvSpPr>
        <ns0:spPr>
          <ns1:xfrm>
            <ns1:off x="6410325" y="2133600"/>
            <ns1:ext cx="4953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43D3A4"/>
                </ns1:solidFill>
              </ns1:defRPr>
            </ns1:defPPr>
          </ns1:lstStyle>
          <ns1:p>
            <ns1:pPr>
              <ns1:defRPr sz="1500" b="1">
                <ns1:solidFill>
                  <ns1:srgbClr val="43D3A4"/>
                </ns1:solidFill>
              </ns1:defRPr>
            </ns1:pPr>
            <ns1:r>
              <ns1:rPr sz="1500" b="1">
                <ns1:solidFill>
                  <ns1:srgbClr val="43D3A4"/>
                </ns1:solidFill>
              </ns1:rPr>
              <ns1:t>AFTER REPAIR  /  Verified evidence</ns1:t>
            </ns1:r>
          </ns1:p>
        </ns0:txBody>
      </ns0:sp>
      <ns0:pic>
        <ns0:nvPicPr>
          <ns0:cNvPr id="13" name="">
            <ns1:extLst>
              <ns1:ext uri="{FF2B5EF4-FFF2-40B4-BE49-F238E27FC236}">
                <ns2:creationId id="{E0BC909C-59FC-4B4B-9E9C-333A2C45F2CC}"/>
              </ns1:ext>
            </ns1:extLst>
          </ns0:cNvPr>
          <ns0:cNvPicPr>
            <ns1:picLocks noChangeAspect="1"/>
          </ns0:cNvPicPr>
          <ns0:nvPr/>
        </ns0:nvPicPr>
        <ns0:blipFill>
          <ns1:blip ns3:embed="Rcd8a1c174eeb4aea"/>
          <ns1:stretch/>
        </ns0:blipFill>
        <ns0:spPr>
          <ns1:xfrm>
            <ns1:off x="6534487" y="2495550"/>
            <ns1:ext cx="4695152" cy="2324100"/>
          </ns1:xfrm>
          <ns1:prstGeom prst="rect">
            <ns1:avLst/>
          </ns1:prstGeom>
        </ns0:spPr>
      </ns0:pic>
      <ns0:sp>
        <ns0:nvSpPr>
          <ns0:cNvPr id="14" name="">
            <ns1:extLst>
              <ns1:ext uri="{FF2B5EF4-FFF2-40B4-BE49-F238E27FC236}">
                <ns2:creationId id="{7394A168-34EF-4805-9E95-40562667CAE3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15" name="">
            <ns1:extLst>
              <ns1:ext uri="{FF2B5EF4-FFF2-40B4-BE49-F238E27FC236}">
                <ns2:creationId id="{BCCC4467-3AFA-4D04-9F9F-EBAF3F1CE775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>
              <ns1:defRPr sz="1350" b="1">
                <ns1:solidFill>
                  <ns1:srgbClr val="B7D5FF"/>
                </ns1:solidFill>
              </ns1:defRPr>
            </ns1:pPr>
            <ns1:r>
              <ns1:rPr sz="1350" b="1">
                <ns1:solidFill>
                  <ns1:srgbClr val="B7D5FF"/>
                </ns1:solidFill>
              </ns1:rPr>
              <ns1:t>01  Scan · 38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689FF98-A328-4ECD-9188-F4DD175487DC}"/>
              </ns1:ext>
            </ns1:extLst>
          </ns0:cNvPr>
          <ns0:cNvSpPr>
            <ns1:spLocks noGrp="1"/>
          </ns0:cNvSpPr>
          <ns0:nvPr/>
        </ns0:nvSpPr>
        <ns0:spPr>
          <ns1:xfrm>
            <ns1:off x="2686050" y="5181600"/>
            <ns1:ext cx="190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>
              <ns1:defRPr sz="1725" b="1">
                <ns1:solidFill>
                  <ns1:srgbClr val="328CFA"/>
                </ns1:solidFill>
              </ns1:defRPr>
            </ns1:pPr>
            <ns1:r>
              <ns1:rPr sz="1725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C4A3EF0-0E74-4195-8BBF-50B8BEB4BB85}"/>
              </ns1:ext>
            </ns1:extLst>
          </ns0:cNvPr>
          <ns0:cNvSpPr>
            <ns1:spLocks noGrp="1"/>
          </ns0:cNvSpPr>
          <ns0:nvPr/>
        </ns0:nvSpPr>
        <ns0:spPr>
          <ns1:xfrm>
            <ns1:off x="28479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18" name="">
            <ns1:extLst>
              <ns1:ext uri="{FF2B5EF4-FFF2-40B4-BE49-F238E27FC236}">
                <ns2:creationId id="{AC711420-CCBE-43C4-B414-6E5E939231B0}"/>
              </ns1:ext>
            </ns1:extLst>
          </ns0:cNvPr>
          <ns0:cNvSpPr>
            <ns1:spLocks noGrp="1"/>
          </ns0:cNvSpPr>
          <ns0:nvPr/>
        </ns0:nvSpPr>
        <ns0:spPr>
          <ns1:xfrm>
            <ns1:off x="29241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>
              <ns1:defRPr sz="1350" b="1">
                <ns1:solidFill>
                  <ns1:srgbClr val="B7D5FF"/>
                </ns1:solidFill>
              </ns1:defRPr>
            </ns1:pPr>
            <ns1:r>
              <ns1:rPr sz="1350" b="1">
                <ns1:solidFill>
                  <ns1:srgbClr val="B7D5FF"/>
                </ns1:solidFill>
              </ns1:rPr>
              <ns1:t>02  Reveal exposure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C162DFDD-B944-495D-A305-69DB3B4F7F9D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5181600"/>
            <ns1:ext cx="190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>
              <ns1:defRPr sz="1725" b="1">
                <ns1:solidFill>
                  <ns1:srgbClr val="328CFA"/>
                </ns1:solidFill>
              </ns1:defRPr>
            </ns1:pPr>
            <ns1:r>
              <ns1:rPr sz="1725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D4174BEF-BF8F-4B1F-BE09-687D78AC401A}"/>
              </ns1:ext>
            </ns1:extLst>
          </ns0:cNvPr>
          <ns0:cNvSpPr>
            <ns1:spLocks noGrp="1"/>
          </ns0:cNvSpPr>
          <ns0:nvPr/>
        </ns0:nvSpPr>
        <ns0:spPr>
          <ns1:xfrm>
            <ns1:off x="50577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1" name="">
            <ns1:extLst>
              <ns1:ext uri="{FF2B5EF4-FFF2-40B4-BE49-F238E27FC236}">
                <ns2:creationId id="{0AE66352-55FB-4FC1-B22A-CD179CD8341E}"/>
              </ns1:ext>
            </ns1:extLst>
          </ns0:cNvPr>
          <ns0:cNvSpPr>
            <ns1:spLocks noGrp="1"/>
          </ns0:cNvSpPr>
          <ns0:nvPr/>
        </ns0:nvSpPr>
        <ns0:spPr>
          <ns1:xfrm>
            <ns1:off x="51339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>
              <ns1:defRPr sz="1350" b="1">
                <ns1:solidFill>
                  <ns1:srgbClr val="B7D5FF"/>
                </ns1:solidFill>
              </ns1:defRPr>
            </ns1:pPr>
            <ns1:r>
              <ns1:rPr sz="1350" b="1">
                <ns1:solidFill>
                  <ns1:srgbClr val="B7D5FF"/>
                </ns1:solidFill>
              </ns1:rPr>
              <ns1:t>03  Apply repairs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9458AD61-3F9C-48C1-8F7F-36329A024F52}"/>
              </ns1:ext>
            </ns1:extLst>
          </ns0:cNvPr>
          <ns0:cNvSpPr>
            <ns1:spLocks noGrp="1"/>
          </ns0:cNvSpPr>
          <ns0:nvPr/>
        </ns0:nvSpPr>
        <ns0:spPr>
          <ns1:xfrm>
            <ns1:off x="7105650" y="5181600"/>
            <ns1:ext cx="190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>
              <ns1:defRPr sz="1725" b="1">
                <ns1:solidFill>
                  <ns1:srgbClr val="328CFA"/>
                </ns1:solidFill>
              </ns1:defRPr>
            </ns1:pPr>
            <ns1:r>
              <ns1:rPr sz="1725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1886AF1-BE81-4399-87B7-AE9707F20B10}"/>
              </ns1:ext>
            </ns1:extLst>
          </ns0:cNvPr>
          <ns0:cNvSpPr>
            <ns1:spLocks noGrp="1"/>
          </ns0:cNvSpPr>
          <ns0:nvPr/>
        </ns0:nvSpPr>
        <ns0:spPr>
          <ns1:xfrm>
            <ns1:off x="72675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4" name="">
            <ns1:extLst>
              <ns1:ext uri="{FF2B5EF4-FFF2-40B4-BE49-F238E27FC236}">
                <ns2:creationId id="{D87B9F17-573B-4748-9604-4E853CAAF601}"/>
              </ns1:ext>
            </ns1:extLst>
          </ns0:cNvPr>
          <ns0:cNvSpPr>
            <ns1:spLocks noGrp="1"/>
          </ns0:cNvSpPr>
          <ns0:nvPr/>
        </ns0:nvSpPr>
        <ns0:spPr>
          <ns1:xfrm>
            <ns1:off x="73437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350" b="1">
                <ns1:solidFill>
                  <ns1:srgbClr val="43D3A4"/>
                </ns1:solidFill>
              </ns1:defRPr>
            </ns1:defPPr>
          </ns1:lstStyle>
          <ns1:p>
            <ns1:pPr algn="ctr">
              <ns1:defRPr sz="1350" b="1">
                <ns1:solidFill>
                  <ns1:srgbClr val="43D3A4"/>
                </ns1:solidFill>
              </ns1:defRPr>
            </ns1:pPr>
            <ns1:r>
              <ns1:rPr sz="1350" b="1">
                <ns1:solidFill>
                  <ns1:srgbClr val="43D3A4"/>
                </ns1:solidFill>
              </ns1:rPr>
              <ns1:t>04  Verify · 91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09B3178F-9F61-478D-B982-2AB8F554800C}"/>
              </ns1:ext>
            </ns1:extLst>
          </ns0:cNvPr>
          <ns0:cNvSpPr>
            <ns1:spLocks noGrp="1"/>
          </ns0:cNvSpPr>
          <ns0:nvPr/>
        </ns0:nvSpPr>
        <ns0:spPr>
          <ns1:xfrm>
            <ns1:off x="9315450" y="5181600"/>
            <ns1:ext cx="190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1">
                <ns1:solidFill>
                  <ns1:srgbClr val="328CFA"/>
                </ns1:solidFill>
              </ns1:defRPr>
            </ns1:defPPr>
          </ns1:lstStyle>
          <ns1:p>
            <ns1:pPr>
              <ns1:defRPr sz="1725" b="1">
                <ns1:solidFill>
                  <ns1:srgbClr val="328CFA"/>
                </ns1:solidFill>
              </ns1:defRPr>
            </ns1:pPr>
            <ns1:r>
              <ns1:rPr sz="1725" b="1">
                <ns1:solidFill>
                  <ns1:srgbClr val="328CFA"/>
                </ns1:solidFill>
              </ns1:rPr>
              <ns1:t>→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AB59EBA-A244-4316-AA48-1C43862F07B4}"/>
              </ns1:ext>
            </ns1:extLst>
          </ns0:cNvPr>
          <ns0:cNvSpPr>
            <ns1:spLocks noGrp="1"/>
          </ns0:cNvSpPr>
          <ns0:nvPr/>
        </ns0:nvSpPr>
        <ns0:spPr>
          <ns1:xfrm>
            <ns1:off x="9477375" y="5114925"/>
            <ns1:ext cx="2038350" cy="438150"/>
          </ns1:xfrm>
          <ns1:prstGeom prst="roundRect">
            <ns1:avLst>
              <ns1:gd name="adj" fmla="val 26087"/>
            </ns1:avLst>
          </ns1:prstGeom>
          <ns1:solidFill>
            <ns1:srgbClr val="14243D"/>
          </ns1:solidFill>
          <ns1:ln w="9525">
            <ns1:solidFill>
              <ns1:srgbClr val="2A4265"/>
            </ns1:solidFill>
          </ns1:ln>
        </ns0:spPr>
      </ns0:sp>
      <ns0:sp>
        <ns0:nvSpPr>
          <ns0:cNvPr id="27" name="">
            <ns1:extLst>
              <ns1:ext uri="{FF2B5EF4-FFF2-40B4-BE49-F238E27FC236}">
                <ns2:creationId id="{CB15F32C-A5C8-4903-9B51-F191184EACC2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5229225"/>
            <ns1:ext cx="18859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350" b="1">
                <ns1:solidFill>
                  <ns1:srgbClr val="B7D5FF"/>
                </ns1:solidFill>
              </ns1:defRPr>
            </ns1:defPPr>
          </ns1:lstStyle>
          <ns1:p>
            <ns1:pPr algn="ctr">
              <ns1:defRPr sz="1350" b="1">
                <ns1:solidFill>
                  <ns1:srgbClr val="B7D5FF"/>
                </ns1:solidFill>
              </ns1:defRPr>
            </ns1:pPr>
            <ns1:r>
              <ns1:rPr sz="1350" b="1">
                <ns1:solidFill>
                  <ns1:srgbClr val="B7D5FF"/>
                </ns1:solidFill>
              </ns1:rPr>
              <ns1:t>05  Export report</ns1:t>
            </ns1:r>
          </ns1:p>
        </ns0:txBody>
      </ns0:sp>
      <ns0:sp>
        <ns0:nvSpPr>
          <ns0:cNvPr id="28" name="github-link-panel">
            <ns1:extLst>
              <ns1:ext uri="{FF2B5EF4-FFF2-40B4-BE49-F238E27FC236}">
                <ns2:creationId id="{5D61819A-D00E-4449-B975-566C90A43DFD}"/>
              </ns1:ext>
            </ns1:extLst>
            <ns1:hlinkClick ns3:id="rIdPitch1" tooltip="Click to open reference"/>
          </ns0:cNvPr>
          <ns0:cNvSpPr>
            <ns1:spLocks noGrp="1"/>
          </ns0:cNvSpPr>
          <ns0:nvPr/>
        </ns0:nvSpPr>
        <ns0:spPr>
          <ns1:xfrm>
            <ns1:off x="2667000" y="5800725"/>
            <ns1:ext cx="3143250" cy="419100"/>
          </ns1:xfrm>
          <ns1:prstGeom prst="roundRect">
            <ns1:avLst>
              <ns1:gd name="adj" fmla="val 27273"/>
            </ns1:avLst>
          </ns1:prstGeom>
          <ns1:solidFill>
            <ns1:srgbClr val="192D49"/>
          </ns1:solidFill>
          <ns1:ln w="9525">
            <ns1:solidFill>
              <ns1:srgbClr val="2A4265"/>
            </ns1:solidFill>
          </ns1:ln>
        </ns0:spPr>
      </ns0:sp>
      <ns0:sp>
        <ns0:nvSpPr>
          <ns0:cNvPr id="29" name="github-link-text">
            <ns1:extLst>
              <ns1:ext uri="{FF2B5EF4-FFF2-40B4-BE49-F238E27FC236}">
                <ns2:creationId id="{73007FEF-2AD7-4C55-8362-29B77FDFF2B1}"/>
              </ns1:ext>
            </ns1:extLst>
            <ns1:hlinkClick ns3:id="rIdPitch2" tooltip="Click to open reference"/>
          </ns0:cNvPr>
          <ns0:cNvSpPr>
            <ns1:spLocks noGrp="1"/>
          </ns0:cNvSpPr>
          <ns0:nvPr/>
        </ns0:nvSpPr>
        <ns0:spPr>
          <ns1:xfrm>
            <ns1:off x="3162300" y="5895975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>
              <ns1:defRPr sz="1500" b="1">
                <ns1:solidFill>
                  <ns1:srgbClr val="A4CEFF"/>
                </ns1:solidFill>
              </ns1:defRPr>
            </ns1:pPr>
            <ns1:r>
              <ns1:rPr sz="1500" b="1">
                <ns1:solidFill>
                  <ns1:srgbClr val="A4CEFF"/>
                </ns1:solidFill>
                <ns1:hlinkClick ns3:id="rIdPitch2"/>
              </ns1:rPr>
              <ns1:t>Click to view GitHub</ns1:t>
            </ns1:r>
          </ns1:p>
        </ns0:txBody>
      </ns0:sp>
      <ns0:pic>
        <ns0:nvPicPr>
          <ns0:cNvPr id="30" name="">
            <ns1:extLst>
              <ns1:ext uri="{FF2B5EF4-FFF2-40B4-BE49-F238E27FC236}">
                <ns2:creationId id="{A47E77C7-146F-4135-A95E-E080C0976D89}"/>
              </ns1:ext>
            </ns1:extLst>
          </ns0:cNvPr>
          <ns0:cNvPicPr>
            <ns1:picLocks noChangeAspect="1"/>
          </ns0:cNvPicPr>
          <ns0:nvPr/>
        </ns0:nvPicPr>
        <ns0:blipFill>
          <ns1:blip ns3:embed="R7ab5d407901345a0"/>
          <ns1:stretch/>
        </ns0:blipFill>
        <ns0:spPr>
          <ns1:xfrm>
            <ns1:off x="2800350" y="5886450"/>
            <ns1:ext cx="247650" cy="247650"/>
          </ns1:xfrm>
          <ns1:prstGeom prst="rect">
            <ns1:avLst/>
          </ns1:prstGeom>
        </ns0:spPr>
      </ns0:pic>
      <ns0:sp>
        <ns0:nvSpPr>
          <ns0:cNvPr id="31" name="demo-link-panel">
            <ns1:extLst>
              <ns1:ext uri="{FF2B5EF4-FFF2-40B4-BE49-F238E27FC236}">
                <ns2:creationId id="{8E84DB1D-CC8B-4CA8-8F98-41370468B8B6}"/>
              </ns1:ext>
            </ns1:extLst>
            <ns1:hlinkClick ns3:id="rIdPitch3" tooltip="Click to open CryptIQ live demo"/>
          </ns0:cNvPr>
          <ns0:cNvSpPr>
            <ns1:spLocks noGrp="1"/>
          </ns0:cNvSpPr>
          <ns0:nvPr/>
        </ns0:nvSpPr>
        <ns0:spPr>
          <ns1:xfrm>
            <ns1:off x="6191250" y="5800725"/>
            <ns1:ext cx="3143250" cy="419100"/>
          </ns1:xfrm>
          <ns1:prstGeom prst="roundRect">
            <ns1:avLst>
              <ns1:gd name="adj" fmla="val 27273"/>
            </ns1:avLst>
          </ns1:prstGeom>
          <ns1:solidFill>
            <ns1:srgbClr val="192D49"/>
          </ns1:solidFill>
          <ns1:ln w="9525">
            <ns1:solidFill>
              <ns1:srgbClr val="2A4265"/>
            </ns1:solidFill>
          </ns1:ln>
        </ns0:spPr>
      </ns0:sp>
      <ns0:sp>
        <ns0:nvSpPr>
          <ns0:cNvPr id="32" name="demo-link-text">
            <ns1:extLst>
              <ns1:ext uri="{FF2B5EF4-FFF2-40B4-BE49-F238E27FC236}">
                <ns2:creationId id="{5FE0AED3-126F-483A-ACDD-00A3F79F838D}"/>
              </ns1:ext>
            </ns1:extLst>
            <ns1:hlinkClick ns3:id="rIdPitch4" tooltip="Click to open CryptIQ live demo"/>
          </ns0:cNvPr>
          <ns0:cNvSpPr>
            <ns1:spLocks noGrp="1"/>
          </ns0:cNvSpPr>
          <ns0:nvPr/>
        </ns0:nvSpPr>
        <ns0:spPr>
          <ns1:xfrm>
            <ns1:off x="6686550" y="5895975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>
              <ns1:defRPr sz="1500" b="1">
                <ns1:solidFill>
                  <ns1:srgbClr val="A4CEFF"/>
                </ns1:solidFill>
              </ns1:defRPr>
            </ns1:pPr>
            <ns1:r>
              <ns1:rPr sz="1500" b="1">
                <ns1:solidFill>
                  <ns1:srgbClr val="A4CEFF"/>
                </ns1:solidFill>
                <ns1:hlinkClick ns3:id="rIdPitch4"/>
              </ns1:rPr>
              <ns1:t>Click to open CryptIQ</ns1:t>
            </ns1:r>
          </ns1:p>
        </ns0:txBody>
      </ns0:sp>
      <ns0:pic>
        <ns0:nvPicPr>
          <ns0:cNvPr id="33" name="">
            <ns1:extLst>
              <ns1:ext uri="{FF2B5EF4-FFF2-40B4-BE49-F238E27FC236}">
                <ns2:creationId id="{0F041FFE-96EC-46DE-BBE6-B9ED807330D7}"/>
              </ns1:ext>
            </ns1:extLst>
          </ns0:cNvPr>
          <ns0:cNvPicPr>
            <ns1:picLocks noChangeAspect="1"/>
          </ns0:cNvPicPr>
          <ns0:nvPr/>
        </ns0:nvPicPr>
        <ns0:blipFill>
          <ns1:blip ns3:embed="R6df15e04b05246f6"/>
          <ns1:stretch/>
        </ns0:blipFill>
        <ns0:spPr>
          <ns1:xfrm>
            <ns1:off x="6324600" y="5886450"/>
            <ns1:ext cx="247650" cy="247650"/>
          </ns1:xfrm>
          <ns1:prstGeom prst="rect">
            <ns1:avLst/>
          </ns1:prstGeom>
        </ns0:spPr>
      </ns0:pic>
    </ns0:spTree>
    <ns0:extLst>
      <ns0:ext uri="{BB962C8B-B14F-4D97-AF65-F5344CB8AC3E}">
        <ns4:creationId val="301857399"/>
      </ns0:ext>
    </ns0:extLst>
  </ns0:cSld>
  <ns0:transition spd="med" advClick="1">
    <ns0:fade/>
  </ns0:transition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42372065-0A7B-4D2B-8C32-FC4EF7C9F4F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4F669479-A055-4BE4-91D6-D195B765400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E66C893-8D02-4F27-B712-0F10DEFD9DD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06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Technical Architecture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4C766D7-ED1F-43C1-9A6A-1E518C55B31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72611414-8183-45D9-9A4A-E99320875FF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6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74B5D80B-B528-4FB7-8DCD-EF3441B9344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FDBEB6BD-BAE1-4360-90CB-C0055F98ADA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Connected layers: experience, orchestration, inspection and evidence</ns1:t>
            </ns1:r>
            <ns1:endParaRPr sz="1700"/>
          </ns1:p>
        </ns0:txBody>
      </ns0:sp>
      <ns0:sp>
        <ns0:nvSpPr>
          <ns0:cNvPr id="9" name="">
            <ns1:extLst>
              <ns1:ext uri="{FF2B5EF4-FFF2-40B4-BE49-F238E27FC236}">
                <ns2:creationId id="{72B607C6-9082-485B-9A07-7B4A8360D5BD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20478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0" name="">
            <ns1:extLst>
              <ns1:ext uri="{FF2B5EF4-FFF2-40B4-BE49-F238E27FC236}">
                <ns2:creationId id="{3AE7EEE8-D29B-4384-9E53-0EF2460802FF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1240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React interfaces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EAAACF21-AD52-4009-B82D-DBA133C5E424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3907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Owner, developer, Hacker and Partner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520F7A6-5ECB-4690-8332-CC315F862DAC}"/>
              </ns1:ext>
            </ns1:extLst>
          </ns0:cNvPr>
          <ns0:cNvSpPr>
            <ns1:spLocks noGrp="1"/>
          </ns0:cNvSpPr>
          <ns0:nvPr/>
        </ns0:nvSpPr>
        <ns0:spPr>
          <ns1:xfrm>
            <ns1:off x="5895975" y="265747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4694EBB-AB63-48EF-9255-AA341F73F583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30003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4" name="">
            <ns1:extLst>
              <ns1:ext uri="{FF2B5EF4-FFF2-40B4-BE49-F238E27FC236}">
                <ns2:creationId id="{1F87823F-5C1B-46D6-9DF1-71DD3947B599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0765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FastAPI workflow service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50879F37-A7FC-414D-9400-7D87A4F00108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3432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Runs scan, repair and verification jobs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C0E41D7-1A0F-4F94-A5DF-A3316DF5A1A6}"/>
              </ns1:ext>
            </ns1:extLst>
          </ns0:cNvPr>
          <ns0:cNvSpPr>
            <ns1:spLocks noGrp="1"/>
          </ns0:cNvSpPr>
          <ns0:nvPr/>
        </ns0:nvSpPr>
        <ns0:spPr>
          <ns1:xfrm>
            <ns1:off x="3324225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03653E89-D9E3-4724-891B-6A44EDC631C7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B096E758-22DA-49B7-9E82-9210B3095D6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9" name="">
            <ns1:extLst>
              <ns1:ext uri="{FF2B5EF4-FFF2-40B4-BE49-F238E27FC236}">
                <ns2:creationId id="{507A8BB4-4172-4F07-B9F5-4C8F699CF72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Python AST rules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7002AE3F-5E1B-4C03-A26A-2EB56806BCB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Source inspection without execution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2D5FBD4D-D767-417D-8584-374E7D85F06D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2" name="">
            <ns1:extLst>
              <ns1:ext uri="{FF2B5EF4-FFF2-40B4-BE49-F238E27FC236}">
                <ns2:creationId id="{EBA08ECB-FCB2-429D-8B21-8DFCB5E8F3D6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Flask shop + SQLite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DE4A091-AC6E-4BC4-BAFE-413884A80885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Events and sampled storage evidence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8B09C612-546A-4B20-8B38-D082D7FAA7CE}"/>
              </ns1:ext>
            </ns1:extLst>
          </ns0:cNvPr>
          <ns0:cNvSpPr>
            <ns1:spLocks noGrp="1"/>
          </ns0:cNvSpPr>
          <ns0:nvPr/>
        </ns0:nvSpPr>
        <ns0:spPr>
          <ns1:xfrm>
            <ns1:off x="3324225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BB87BA2-5BF5-4301-9A0A-0EFA3E0FFEE3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250" b="1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42E5561-CE2A-4D5D-BE2B-7396474139AA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4991100"/>
            <ns1:ext cx="74295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7" name="">
            <ns1:extLst>
              <ns1:ext uri="{FF2B5EF4-FFF2-40B4-BE49-F238E27FC236}">
                <ns2:creationId id="{A6345B46-D69C-41F7-B2C6-9109BCCD7950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067300"/>
            <ns1:ext cx="71247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Verification and evidence publication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D51001F0-01BC-40B1-9192-1C93B429E817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334000"/>
            <ns1:ext cx="71247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Both inputs feed rescan, reattack, app and storage checks. Report unlocks on success.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4D733DAD-EAC9-4AF4-9AC6-2A10F035E81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762625"/>
            <ns1:ext cx="98107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350" b="0">
                <ns1:solidFill>
                  <ns1:srgbClr val="B7C9DF"/>
                </ns1:solidFill>
              </ns1:defRPr>
            </ns1:pPr>
            <ns1:r>
              <ns1:rPr sz="1350" b="0">
                <ns1:solidFill>
                  <ns1:srgbClr val="B7C9DF"/>
                </ns1:solidFill>
              </ns1:rPr>
              <ns1:t>Coverage: 8 rule families. First 100 customer rows sampled. URL scanning remains a preview.</ns1:t>
            </ns1:r>
          </ns1:p>
        </ns0:txBody>
      </ns0:sp>
    </ns0:spTree>
    <ns0:extLst>
      <ns0:ext uri="{BB962C8B-B14F-4D97-AF65-F5344CB8AC3E}">
        <ns3:creationId val="559201277"/>
      </ns0:ext>
    </ns0:extLst>
  </ns0:cSld>
  <ns0:transition spd="med" advClick="1">
    <ns0:fade/>
  </ns0:transition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D85D47-739E-4F21-8313-26DCA8964D6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26C210F4-B13E-481F-8BAB-A28271BB804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9158481-4E54-4C0F-84D0-0A6522518BD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07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Build Evidence &amp; Engineering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26D4CAF6-39D7-4755-B9B5-3EA04ED8815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44C7902B-B934-422A-BBF2-953BD64B9C7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7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50155B31-2A5A-4CBB-A2DC-419DBC45E29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C811D896-D67B-458C-A4B7-1379FBA4AB9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translated into inspectable rules and evidence</ns1:t>
            </ns1:r>
            <ns1:endParaRPr sz="1700"/>
          </ns1:p>
        </ns0:txBody>
      </ns0:sp>
      <ns0:sp>
        <ns0:nvSpPr>
          <ns0:cNvPr id="9" name="Shape 7">
            <ns1:extLst>
              <ns1:ext uri="{FF2B5EF4-FFF2-40B4-BE49-F238E27FC236}">
                <ns2:creationId id="{20CA5E4E-9EDB-44BB-8B2D-3FC41B6FA7E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0" name="Text 8">
            <ns1:extLst>
              <ns1:ext uri="{FF2B5EF4-FFF2-40B4-BE49-F238E27FC236}">
                <ns2:creationId id="{57501329-F72A-49B4-93D5-BDA7C5827BA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1</ns1:t>
            </ns1:r>
            <ns1:endParaRPr sz="1200"/>
          </ns1:p>
        </ns0:txBody>
      </ns0:sp>
      <ns0:sp>
        <ns0:nvSpPr>
          <ns0:cNvPr id="11" name="Text 9">
            <ns1:extLst>
              <ns1:ext uri="{FF2B5EF4-FFF2-40B4-BE49-F238E27FC236}">
                <ns2:creationId id="{E3E6ACE1-53E8-4D34-AE8C-CD414495516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Source &amp; storage evidence</ns1:t>
            </ns1:r>
            <ns1:endParaRPr sz="1700"/>
          </ns1:p>
        </ns0:txBody>
      </ns0:sp>
      <ns0:sp>
        <ns0:nvSpPr>
          <ns0:cNvPr id="12" name="Text 10">
            <ns1:extLst>
              <ns1:ext uri="{FF2B5EF4-FFF2-40B4-BE49-F238E27FC236}">
                <ns2:creationId id="{876356A9-3355-4767-A3E7-C472B4BFFC9F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Enumerate files, parse Python, read supported DB fields</ns1:t>
            </ns1:r>
            <ns1:endParaRPr sz="1300"/>
          </ns1:p>
        </ns0:txBody>
      </ns0:sp>
      <ns0:sp>
        <ns0:nvSpPr>
          <ns0:cNvPr id="13" name="Text 11">
            <ns1:extLst>
              <ns1:ext uri="{FF2B5EF4-FFF2-40B4-BE49-F238E27FC236}">
                <ns2:creationId id="{EFCCBF71-5B57-4212-8A26-A29B65B6434F}"/>
              </ns1:ext>
            </ns1:extLst>
          </ns0:cNvPr>
          <ns0:cNvSpPr>
            <ns1:spLocks noGrp="1"/>
          </ns0:cNvSpPr>
          <ns0:nvPr/>
        </ns0:nvSpPr>
        <ns0:spPr>
          <ns1:xfrm>
            <ns1:off x="4142232" y="2834640"/>
            <ns1:ext cx="292608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4" name="Shape 12">
            <ns1:extLst>
              <ns1:ext uri="{FF2B5EF4-FFF2-40B4-BE49-F238E27FC236}">
                <ns2:creationId id="{F61FAF00-DEB7-48D4-82BE-7511CF4CDC67}"/>
              </ns1:ext>
            </ns1:extLst>
          </ns0:cNvPr>
          <ns0:cNvSpPr>
            <ns1:spLocks noGrp="1"/>
          </ns0:cNvSpPr>
          <ns0:nvPr/>
        </ns0:nvSpPr>
        <ns0:spPr>
          <ns1:xfrm>
            <ns1:off x="4407408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FC4DE01C-491F-4F36-9319-2A4A38E42E55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2</ns1:t>
            </ns1:r>
            <ns1:endParaRPr sz="1200"/>
          </ns1:p>
        </ns0:txBody>
      </ns0:sp>
      <ns0:sp>
        <ns0:nvSpPr>
          <ns0:cNvPr id="16" name="Text 14">
            <ns1:extLst>
              <ns1:ext uri="{FF2B5EF4-FFF2-40B4-BE49-F238E27FC236}">
                <ns2:creationId id="{67D992E5-DC18-4F28-844B-98BF38C0B6D9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Rule evaluation</ns1:t>
            </ns1:r>
            <ns1:endParaRPr sz="1700"/>
          </ns1:p>
        </ns0:txBody>
      </ns0:sp>
      <ns0:sp>
        <ns0:nvSpPr>
          <ns0:cNvPr id="17" name="Text 15">
            <ns1:extLst>
              <ns1:ext uri="{FF2B5EF4-FFF2-40B4-BE49-F238E27FC236}">
                <ns2:creationId id="{B9FA7C8B-ED58-457D-A645-5E312E6D445C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Match code/config patterns, record file + line, deduplicate</ns1:t>
            </ns1:r>
            <ns1:endParaRPr sz="1300"/>
          </ns1:p>
        </ns0:txBody>
      </ns0:sp>
      <ns0:sp>
        <ns0:nvSpPr>
          <ns0:cNvPr id="18" name="Text 16">
            <ns1:extLst>
              <ns1:ext uri="{FF2B5EF4-FFF2-40B4-BE49-F238E27FC236}">
                <ns2:creationId id="{698F602F-8842-4BBE-8A23-5A24EC18DF9C}"/>
              </ns1:ext>
            </ns1:extLst>
          </ns0:cNvPr>
          <ns0:cNvSpPr>
            <ns1:spLocks noGrp="1"/>
          </ns0:cNvSpPr>
          <ns0:nvPr/>
        </ns0:nvSpPr>
        <ns0:spPr>
          <ns1:xfrm>
            <ns1:off x="7909560" y="2834640"/>
            <ns1:ext cx="292608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9" name="Shape 17">
            <ns1:extLst>
              <ns1:ext uri="{FF2B5EF4-FFF2-40B4-BE49-F238E27FC236}">
                <ns2:creationId id="{F6AD6A44-5DA0-4010-BB0A-93AA2965D3B6}"/>
              </ns1:ext>
            </ns1:extLst>
          </ns0:cNvPr>
          <ns0:cNvSpPr>
            <ns1:spLocks noGrp="1"/>
          </ns0:cNvSpPr>
          <ns0:nvPr/>
        </ns0:nvSpPr>
        <ns0:spPr>
          <ns1:xfrm>
            <ns1:off x="8174736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8">
            <ns1:extLst>
              <ns1:ext uri="{FF2B5EF4-FFF2-40B4-BE49-F238E27FC236}">
                <ns2:creationId id="{C8C4734D-2F13-4FAA-839C-105815BF0CFE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3</ns1:t>
            </ns1:r>
            <ns1:endParaRPr sz="1200"/>
          </ns1:p>
        </ns0:txBody>
      </ns0:sp>
      <ns0:sp>
        <ns0:nvSpPr>
          <ns0:cNvPr id="21" name="Text 19">
            <ns1:extLst>
              <ns1:ext uri="{FF2B5EF4-FFF2-40B4-BE49-F238E27FC236}">
                <ns2:creationId id="{5A642B16-4520-4B1C-B4E2-877F07F71F8B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Findings &amp; inventory</ns1:t>
            </ns1:r>
            <ns1:endParaRPr sz="1700"/>
          </ns1:p>
        </ns0:txBody>
      </ns0:sp>
      <ns0:sp>
        <ns0:nvSpPr>
          <ns0:cNvPr id="22" name="Text 20">
            <ns1:extLst>
              <ns1:ext uri="{FF2B5EF4-FFF2-40B4-BE49-F238E27FC236}">
                <ns2:creationId id="{0562658D-3011-480C-B6E9-6070EB7D5429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Owner-readable findings, demo score, CycloneDX export</ns1:t>
            </ns1:r>
            <ns1:endParaRPr sz="1300"/>
          </ns1:p>
        </ns0:txBody>
      </ns0:sp>
      <ns0:sp>
        <ns0:nvSpPr>
          <ns0:cNvPr id="23" name="Shape 21">
            <ns1:extLst>
              <ns1:ext uri="{FF2B5EF4-FFF2-40B4-BE49-F238E27FC236}">
                <ns2:creationId id="{406A6664-249C-4CBB-9A1D-A0EFCA470E0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251960"/>
            <ns1:ext cx="6949440" cy="1600200"/>
          </ns1:xfrm>
          <ns1:prstGeom prst="roundRect">
            <ns1:avLst>
              <ns1:gd name="adj" fmla="val 514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4" name="Text 22">
            <ns1:extLst>
              <ns1:ext uri="{FF2B5EF4-FFF2-40B4-BE49-F238E27FC236}">
                <ns2:creationId id="{C10D9483-6CB1-460B-A68E-B68077FF2B1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407408"/>
            <ns1:ext cx="64008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REFERENCES — CLICK TO OPEN</ns1:t>
            </ns1:r>
            <ns1:endParaRPr sz="1200"/>
          </ns1:p>
        </ns0:txBody>
      </ns0:sp>
      <ns0:sp>
        <ns0:nvSpPr>
          <ns0:cNvPr id="25" name="Text 23">
            <ns1:extLst>
              <ns1:ext uri="{FF2B5EF4-FFF2-40B4-BE49-F238E27FC236}">
                <ns2:creationId id="{FADFB6CE-2849-4242-8479-951005014C0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709160"/>
            <ns1:ext cx="6492240" cy="109728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342900" indent="-342900">
              <ns1:spcAft>
                <ns1:spcPts val="600"/>
              </ns1:spcAft>
              <ns1:buSzPct val="100000"/>
              <ns1:buChar char="•"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/>
            </ns1:r>
            <ns1:endParaRPr sz="1400"/>
          </ns1:p>
        </ns0:txBody>
      </ns0:sp>
      <ns0:sp>
        <ns0:nvSpPr>
          <ns0:cNvPr id="26" name="Shape 24">
            <ns1:extLst>
              <ns1:ext uri="{FF2B5EF4-FFF2-40B4-BE49-F238E27FC236}">
                <ns2:creationId id="{9332E524-C619-426B-8DB4-64526DB7B76F}"/>
              </ns1:ext>
            </ns1:extLst>
          </ns0:cNvPr>
          <ns0:cNvSpPr>
            <ns1:spLocks noGrp="1"/>
          </ns0:cNvSpPr>
          <ns0:nvPr/>
        </ns0:nvSpPr>
        <ns0:spPr>
          <ns1:xfrm>
            <ns1:off x="7772400" y="4251960"/>
            <ns1:ext cx="3749040" cy="1600200"/>
          </ns1:xfrm>
          <ns1:prstGeom prst="roundRect">
            <ns1:avLst>
              <ns1:gd name="adj" fmla="val 5143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3CEFDBF7-50E8-42B6-8D71-3D05DD6BC493}"/>
              </ns1:ext>
            </ns1:extLst>
          </ns0:cNvPr>
          <ns0:cNvSpPr>
            <ns1:spLocks noGrp="1"/>
          </ns0:cNvSpPr>
          <ns0:nvPr/>
        </ns0:nvSpPr>
        <ns0:spPr>
          <ns1:xfrm>
            <ns1:off x="8046720" y="4434840"/>
            <ns1:ext cx="475488" cy="475488"/>
          </ns1:xfrm>
          <ns1:prstGeom prst="ellipse">
            <ns1:avLst/>
          </ns1:prstGeom>
          <ns1:solidFill>
            <ns1:srgbClr val="13294D"/>
          </ns1:solidFill>
        </ns0:spPr>
      </ns0:sp>
      <ns0:pic>
        <ns0:nvPicPr>
          <ns0:cNvPr id="28" name="Image 0">
            <ns1:extLst>
              <ns1:ext uri="{FF2B5EF4-FFF2-40B4-BE49-F238E27FC236}">
                <ns2:creationId id="{B16DEDAE-A4CD-4352-B651-3A83666A92EA}"/>
              </ns1:ext>
            </ns1:extLst>
          </ns0:cNvPr>
          <ns0:cNvPicPr>
            <ns1:picLocks noChangeAspect="1"/>
          </ns0:cNvPicPr>
          <ns0:nvPr/>
        </ns0:nvPicPr>
        <ns0:blipFill>
          <ns1:blip ns3:embed="R64dc5a9b86924e26"/>
          <ns1:stretch>
            <ns1:fillRect l="0" t="0" r="0" b="0"/>
          </ns1:stretch>
        </ns0:blipFill>
        <ns0:spPr>
          <ns1:xfrm>
            <ns1:off x="8170347" y="4558467"/>
            <ns1:ext cx="228234" cy="228234"/>
          </ns1:xfrm>
          <ns1:prstGeom prst="rect">
            <ns1:avLst/>
          </ns1:prstGeom>
        </ns0:spPr>
      </ns0:pic>
      <ns0:sp>
        <ns0:nvSpPr>
          <ns0:cNvPr id="29" name="Text 26">
            <ns1:extLst>
              <ns1:ext uri="{FF2B5EF4-FFF2-40B4-BE49-F238E27FC236}">
                <ns2:creationId id="{3AA6AC22-D98F-4829-A7BC-78603D60516F}"/>
              </ns1:ext>
            </ns1:extLst>
          </ns0:cNvPr>
          <ns0:cNvSpPr>
            <ns1:spLocks noGrp="1"/>
          </ns0:cNvSpPr>
          <ns0:nvPr/>
        </ns0:nvSpPr>
        <ns0:spPr>
          <ns1:xfrm>
            <ns1:off x="8641080" y="4480560"/>
            <ns1:ext cx="274320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SOURCE CODE</ns1:t>
            </ns1:r>
            <ns1:endParaRPr sz="1200"/>
          </ns1:p>
        </ns0:txBody>
      </ns0:sp>
      <ns0:sp>
        <ns0:nvSpPr>
          <ns0:cNvPr id="30" name="Text 27">
            <ns1:extLst>
              <ns1:ext uri="{FF2B5EF4-FFF2-40B4-BE49-F238E27FC236}">
                <ns2:creationId id="{71E252F8-7037-4FB6-AB8A-07BC5D164063}"/>
              </ns1:ext>
            </ns1:extLst>
            <ns1:hlinkClick ns3:id="rIdPitch5" tooltip="Click to open reference"/>
          </ns0:cNvPr>
          <ns0:cNvSpPr>
            <ns1:spLocks noGrp="1"/>
          </ns0:cNvSpPr>
          <ns0:nvPr/>
        </ns0:nvSpPr>
        <ns0:spPr>
          <ns1:xfrm>
            <ns1:off x="8046720" y="5010912"/>
            <ns1:ext cx="329184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3:id="rIdPitch5"/>
              </ns1:rPr>
              <ns1:t>Click to inspect the source</ns1:t>
            </ns1:r>
            <ns1:endParaRPr sz="1400"/>
          </ns1:p>
        </ns0:txBody>
      </ns0:sp>
      <ns0:sp>
        <ns0:nvSpPr>
          <ns0:cNvPr id="31" name="Text 28">
            <ns1:extLst>
              <ns1:ext uri="{FF2B5EF4-FFF2-40B4-BE49-F238E27FC236}">
                <ns2:creationId id="{9342AE9E-9025-45AC-96F0-9EBDDF6BF3C4}"/>
              </ns1:ext>
            </ns1:extLst>
          </ns0:cNvPr>
          <ns0:cNvSpPr>
            <ns1:spLocks noGrp="1"/>
          </ns0:cNvSpPr>
          <ns0:nvPr/>
        </ns0:nvSpPr>
        <ns0:spPr>
          <ns1:xfrm>
            <ns1:off x="8046720" y="5376672"/>
            <ns1:ext cx="3291840" cy="4572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2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engine/simple_rules.py and pipeline.py for exact coverage.</ns1:t>
            </ns1:r>
            <ns1:endParaRPr sz="1200"/>
          </ns1:p>
        </ns0:txBody>
      </ns0:sp>
      <ns0:sp>
        <ns0:nvSpPr>
          <ns0:cNvPr id="32" name="ref-owasp">
            <ns1:extLst>
              <ns1:ext uri="{FF2B5EF4-FFF2-40B4-BE49-F238E27FC236}">
                <ns2:creationId id="{A01020D1-0A9F-4FF4-9582-851A2C187E30}"/>
              </ns1:ext>
            </ns1:extLst>
            <ns1:hlinkClick ns3:id="rIdPitch6" tooltip="Click to open reference"/>
          </ns0:cNvPr>
          <ns0:cNvSpPr>
            <ns1:spLocks noGrp="1"/>
          </ns0:cNvSpPr>
          <ns0:nvPr/>
        </ns0:nvSpPr>
        <ns0:spPr>
          <ns1:xfrm>
            <ns1:off x="914400" y="47720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6"/>
              </ns1:rPr>
              <ns1:t>OWASP: password storage</ns1:t>
            </ns1:r>
          </ns1:p>
        </ns0:txBody>
      </ns0:sp>
      <ns0:sp>
        <ns0:nvSpPr>
          <ns0:cNvPr id="33" name="ref-cwe">
            <ns1:extLst>
              <ns1:ext uri="{FF2B5EF4-FFF2-40B4-BE49-F238E27FC236}">
                <ns2:creationId id="{3AE943D4-4F32-43F6-A4E7-7DA2F1FBD77F}"/>
              </ns1:ext>
            </ns1:extLst>
            <ns1:hlinkClick ns3:id="rIdPitch7" tooltip="Click to open reference"/>
          </ns0:cNvPr>
          <ns0:cNvSpPr>
            <ns1:spLocks noGrp="1"/>
          </ns0:cNvSpPr>
          <ns0:nvPr/>
        </ns0:nvSpPr>
        <ns0:spPr>
          <ns1:xfrm>
            <ns1:off x="4133850" y="47720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7"/>
              </ns1:rPr>
              <ns1:t>MITRE CWE: risky cryptography</ns1:t>
            </ns1:r>
          </ns1:p>
        </ns0:txBody>
      </ns0:sp>
      <ns0:sp>
        <ns0:nvSpPr>
          <ns0:cNvPr id="34" name="ref-nist">
            <ns1:extLst>
              <ns1:ext uri="{FF2B5EF4-FFF2-40B4-BE49-F238E27FC236}">
                <ns2:creationId id="{2A587164-B83A-44D7-922F-711E085E9383}"/>
              </ns1:ext>
            </ns1:extLst>
            <ns1:hlinkClick ns3:id="rIdPitch8" tooltip="Click to open reference"/>
          </ns0:cNvPr>
          <ns0:cNvSpPr>
            <ns1:spLocks noGrp="1"/>
          </ns0:cNvSpPr>
          <ns0:nvPr/>
        </ns0:nvSpPr>
        <ns0:spPr>
          <ns1:xfrm>
            <ns1:off x="914400" y="51149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8"/>
              </ns1:rPr>
              <ns1:t>NIST FIPS 203: ML-KEM</ns1:t>
            </ns1:r>
          </ns1:p>
        </ns0:txBody>
      </ns0:sp>
      <ns0:sp>
        <ns0:nvSpPr>
          <ns0:cNvPr id="35" name="ref-cbom">
            <ns1:extLst>
              <ns1:ext uri="{FF2B5EF4-FFF2-40B4-BE49-F238E27FC236}">
                <ns2:creationId id="{3CB12A6F-6CE5-4206-BC55-B7F902A928E1}"/>
              </ns1:ext>
            </ns1:extLst>
            <ns1:hlinkClick ns3:id="rIdPitch9" tooltip="Click to open reference"/>
          </ns0:cNvPr>
          <ns0:cNvSpPr>
            <ns1:spLocks noGrp="1"/>
          </ns0:cNvSpPr>
          <ns0:nvPr/>
        </ns0:nvSpPr>
        <ns0:spPr>
          <ns1:xfrm>
            <ns1:off x="4133850" y="51149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9"/>
              </ns1:rPr>
              <ns1:t>CycloneDX: crypto inventory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8ABE977A-A6E1-48A9-94A9-997284F62DA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486400"/>
            <ns1:ext cx="6477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A7B9D0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A7B9D0"/>
                </ns1:solidFill>
              </ns1:defRPr>
            </ns1:pPr>
            <ns1:r>
              <ns1:rPr sz="1275" b="0">
                <ns1:solidFill>
                  <ns1:srgbClr val="A7B9D0"/>
                </ns1:solidFill>
              </ns1:rPr>
              <ns1:t>References support concepts; implemented rules define actual coverage.</ns1:t>
            </ns1:r>
          </ns1:p>
        </ns0:txBody>
      </ns0:sp>
    </ns0:spTree>
    <ns0:extLst>
      <ns0:ext uri="{BB962C8B-B14F-4D97-AF65-F5344CB8AC3E}">
        <ns4:creationId val="1362713282"/>
      </ns0:ext>
    </ns0:extLst>
  </ns0:cSld>
  <ns0:transition spd="med" advClick="1">
    <ns0:fade/>
  </ns0:transition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021DAFD8-DBCB-4131-BE82-3B7ADF31343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78C28477-D324-4F8B-AD4B-C6B2695BCB1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3EEE5A5-1960-4E85-9EE6-8D654156C80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08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Security, Privacy &amp; Scale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B5AEA96-EB3F-4CAD-98E0-C5EB490BF64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0CBABD7D-0636-4988-8425-8B6892D9EC0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8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43AD8BBD-6837-4A85-9792-1F9D46A1E24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0B7F43E2-339B-48BB-9B8B-67E40571682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What changes after repair — and what the test proves</ns1:t>
            </ns1:r>
            <ns1:endParaRPr sz="1700"/>
          </ns1:p>
        </ns0:txBody>
      </ns0:sp>
      <ns0:sp>
        <ns0:nvSpPr>
          <ns0:cNvPr id="9" name="Text 7">
            <ns1:extLst>
              <ns1:ext uri="{FF2B5EF4-FFF2-40B4-BE49-F238E27FC236}">
                <ns2:creationId id="{0D686B31-AC06-448C-B645-F5BA0F841C41}"/>
              </ns1:ext>
            </ns1:extLst>
          </ns0:cNvPr>
          <ns0:cNvSpPr>
            <ns1:spLocks noGrp="1"/>
          </ns0:cNvSpPr>
          <ns0:nvPr/>
        </ns0:nvSpPr>
        <ns0:spPr>
          <ns1:xfrm>
            <ns1:off x="973455" y="2103120"/>
            <ns1:ext cx="4878705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BEFORE</ns1:t>
            </ns1:r>
            <ns1:endParaRPr sz="1300"/>
          </ns1:p>
        </ns0:txBody>
      </ns0:sp>
      <ns0:sp>
        <ns0:nvSpPr>
          <ns0:cNvPr id="10" name="Text 8">
            <ns1:extLst>
              <ns1:ext uri="{FF2B5EF4-FFF2-40B4-BE49-F238E27FC236}">
                <ns2:creationId id="{89F23631-0A47-4A0F-AF47-27B223DD1A56}"/>
              </ns1:ext>
            </ns1:extLst>
          </ns0:cNvPr>
          <ns0:cNvSpPr>
            <ns1:spLocks noGrp="1"/>
          </ns0:cNvSpPr>
          <ns0:nvPr/>
        </ns0:nvSpPr>
        <ns0:spPr>
          <ns1:xfrm>
            <ns1:off x="6642735" y="2103120"/>
            <ns1:ext cx="4878705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AFTER</ns1:t>
            </ns1:r>
            <ns1:endParaRPr sz="1300"/>
          </ns1:p>
        </ns0:txBody>
      </ns0:sp>
      <ns0:sp>
        <ns0:nvSpPr>
          <ns0:cNvPr id="11" name="Shape 9">
            <ns1:extLst>
              <ns1:ext uri="{FF2B5EF4-FFF2-40B4-BE49-F238E27FC236}">
                <ns2:creationId id="{2D69077F-7349-43F8-8B0F-D9D46A58D08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Shape 10">
            <ns1:extLst>
              <ns1:ext uri="{FF2B5EF4-FFF2-40B4-BE49-F238E27FC236}">
                <ns2:creationId id="{EC714246-997E-4538-B1F2-CE0A34910067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1">
            <ns1:extLst>
              <ns1:ext uri="{FF2B5EF4-FFF2-40B4-BE49-F238E27FC236}">
                <ns2:creationId id="{F4D6516C-262F-4AF2-A5A7-A134FE273E0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password hashes</ns1:t>
            </ns1:r>
            <ns1:endParaRPr sz="1350"/>
          </ns1:p>
        </ns0:txBody>
      </ns0:sp>
      <ns0:sp>
        <ns0:nvSpPr>
          <ns0:cNvPr id="14" name="Text 12">
            <ns1:extLst>
              <ns1:ext uri="{FF2B5EF4-FFF2-40B4-BE49-F238E27FC236}">
                <ns2:creationId id="{A382C574-A7B6-4D0C-A538-7947A97201EB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Server-held pepper + Argon2id</ns1:t>
            </ns1:r>
            <ns1:endParaRPr sz="1350"/>
          </ns1:p>
        </ns0:txBody>
      </ns0:sp>
      <ns0:sp>
        <ns0:nvSpPr>
          <ns0:cNvPr id="15" name="Text 13">
            <ns1:extLst>
              <ns1:ext uri="{FF2B5EF4-FFF2-40B4-BE49-F238E27FC236}">
                <ns2:creationId id="{38D20A17-A6B2-47B4-8F26-102A8DDF0F2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2423160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16" name="Shape 14">
            <ns1:extLst>
              <ns1:ext uri="{FF2B5EF4-FFF2-40B4-BE49-F238E27FC236}">
                <ns2:creationId id="{B2C354D9-7873-47D0-9DEA-E4F8C717066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7" name="Shape 15">
            <ns1:extLst>
              <ns1:ext uri="{FF2B5EF4-FFF2-40B4-BE49-F238E27FC236}">
                <ns2:creationId id="{F5501702-E238-44DA-99A4-86E5AB0743BB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0A1AC20-0310-4CDC-90CB-E073DA575C3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350"/>
          </ns1:p>
        </ns0:txBody>
      </ns0:sp>
      <ns0:sp>
        <ns0:nvSpPr>
          <ns0:cNvPr id="19" name="Text 17">
            <ns1:extLst>
              <ns1:ext uri="{FF2B5EF4-FFF2-40B4-BE49-F238E27FC236}">
                <ns2:creationId id="{D437C534-AC31-4995-90B1-3F885BFD2E74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AES-256-GCM encrypted fields</ns1:t>
            </ns1:r>
            <ns1:endParaRPr sz="1350"/>
          </ns1:p>
        </ns0:txBody>
      </ns0:sp>
      <ns0:sp>
        <ns0:nvSpPr>
          <ns0:cNvPr id="20" name="Text 18">
            <ns1:extLst>
              <ns1:ext uri="{FF2B5EF4-FFF2-40B4-BE49-F238E27FC236}">
                <ns2:creationId id="{3F9E0AC2-13E3-414A-A9DD-685CC3CF9047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209544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1" name="Shape 19">
            <ns1:extLst>
              <ns1:ext uri="{FF2B5EF4-FFF2-40B4-BE49-F238E27FC236}">
                <ns2:creationId id="{3C7A8ABC-0BFA-48FB-8C75-8C9AD19C0DC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2" name="Shape 20">
            <ns1:extLst>
              <ns1:ext uri="{FF2B5EF4-FFF2-40B4-BE49-F238E27FC236}">
                <ns2:creationId id="{D153768A-1D15-43B2-85D0-4E0C8A95197C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21">
            <ns1:extLst>
              <ns1:ext uri="{FF2B5EF4-FFF2-40B4-BE49-F238E27FC236}">
                <ns2:creationId id="{7B769C8A-38D8-4049-B41E-673645A7277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Tiny demo RSA for fake IDs</ns1:t>
            </ns1:r>
            <ns1:endParaRPr sz="1350"/>
          </ns1:p>
        </ns0:txBody>
      </ns0:sp>
      <ns0:sp>
        <ns0:nvSpPr>
          <ns0:cNvPr id="24" name="Text 22">
            <ns1:extLst>
              <ns1:ext uri="{FF2B5EF4-FFF2-40B4-BE49-F238E27FC236}">
                <ns2:creationId id="{A885927A-DB80-4DFF-82EF-6FEF2FEB7077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ML-KEM-768 protects the data key</ns1:t>
            </ns1:r>
            <ns1:endParaRPr sz="1350"/>
          </ns1:p>
        </ns0:txBody>
      </ns0:sp>
      <ns0:sp>
        <ns0:nvSpPr>
          <ns0:cNvPr id="25" name="Text 23">
            <ns1:extLst>
              <ns1:ext uri="{FF2B5EF4-FFF2-40B4-BE49-F238E27FC236}">
                <ns2:creationId id="{18E58502-0779-40C2-B358-693E61C1B5F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995928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6" name="Shape 24">
            <ns1:extLst>
              <ns1:ext uri="{FF2B5EF4-FFF2-40B4-BE49-F238E27FC236}">
                <ns2:creationId id="{96C37C3A-3A3C-45A3-95A5-BE22FB17AB95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EB4B43B1-BF1D-4618-83C5-36910E7314A4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8" name="Text 26">
            <ns1:extLst>
              <ns1:ext uri="{FF2B5EF4-FFF2-40B4-BE49-F238E27FC236}">
                <ns2:creationId id="{C78233B9-6A56-4F1D-A1D4-52D87F5BDC6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Secret embedded in source</ns1:t>
            </ns1:r>
            <ns1:endParaRPr sz="1350"/>
          </ns1:p>
        </ns0:txBody>
      </ns0:sp>
      <ns0:sp>
        <ns0:nvSpPr>
          <ns0:cNvPr id="29" name="Text 27">
            <ns1:extLst>
              <ns1:ext uri="{FF2B5EF4-FFF2-40B4-BE49-F238E27FC236}">
                <ns2:creationId id="{FF5C53EE-D647-4166-A2C0-4F87800968E5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loaded from environment config</ns1:t>
            </ns1:r>
            <ns1:endParaRPr sz="1350"/>
          </ns1:p>
        </ns0:txBody>
      </ns0:sp>
      <ns0:sp>
        <ns0:nvSpPr>
          <ns0:cNvPr id="30" name="Text 28">
            <ns1:extLst>
              <ns1:ext uri="{FF2B5EF4-FFF2-40B4-BE49-F238E27FC236}">
                <ns2:creationId id="{2CC6E65B-6A2D-4E5A-927B-2D3F3C075488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4782312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31" name="Shape 29">
            <ns1:extLst>
              <ns1:ext uri="{FF2B5EF4-FFF2-40B4-BE49-F238E27FC236}">
                <ns2:creationId id="{B44E0753-DE9F-4588-BED8-DD61CB2EDBB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596128"/>
            <ns1:ext cx="10881360" cy="402336"/>
          </ns1:xfrm>
          <ns1:prstGeom prst="roundRect">
            <ns1:avLst>
              <ns1:gd name="adj" fmla="val 2045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2" name="Text 30">
            <ns1:extLst>
              <ns1:ext uri="{FF2B5EF4-FFF2-40B4-BE49-F238E27FC236}">
                <ns2:creationId id="{371F4928-D677-484E-84DF-8336CF3CE69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614416"/>
            <ns1:ext cx="10332720" cy="36576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2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VERIFIED  </ns1:t>
            </ns1: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Re-scan · Re-attack · Application behavior · Fresh-account storage. Seeded demo score 38 → 91. New activity can invalidate earlier evidence.</ns1:t>
            </ns1:r>
            <ns1:endParaRPr sz="1250"/>
          </ns1:p>
        </ns0:txBody>
      </ns0:sp>
      <ns0:pic>
        <ns0:nvPicPr>
          <ns0:cNvPr id="33" name="">
            <ns1:extLst>
              <ns1:ext uri="{FF2B5EF4-FFF2-40B4-BE49-F238E27FC236}">
                <ns2:creationId id="{2E3B67E9-766E-4BAA-8670-59BA8DFFC780}"/>
              </ns1:ext>
            </ns1:extLst>
          </ns0:cNvPr>
          <ns0:cNvPicPr>
            <ns1:picLocks noChangeAspect="1"/>
          </ns0:cNvPicPr>
          <ns0:nvPr/>
        </ns0:nvPicPr>
        <ns0:blipFill>
          <ns1:blip ns3:embed="R27d91d1dbfb64c03"/>
          <ns1:stretch/>
        </ns0:blipFill>
        <ns0:spPr>
          <ns1:xfrm>
            <ns1:off x="638175" y="2114550"/>
            <ns1:ext cx="228600" cy="228600"/>
          </ns1:xfrm>
          <ns1:prstGeom prst="rect">
            <ns1:avLst/>
          </ns1:prstGeom>
        </ns0:spPr>
      </ns0:pic>
      <ns0:pic>
        <ns0:nvPicPr>
          <ns0:cNvPr id="34" name="">
            <ns1:extLst>
              <ns1:ext uri="{FF2B5EF4-FFF2-40B4-BE49-F238E27FC236}">
                <ns2:creationId id="{7C736296-69DB-4C60-B9D4-C5C7ADD0D25B}"/>
              </ns1:ext>
            </ns1:extLst>
          </ns0:cNvPr>
          <ns0:cNvPicPr>
            <ns1:picLocks noChangeAspect="1"/>
          </ns0:cNvPicPr>
          <ns0:nvPr/>
        </ns0:nvPicPr>
        <ns0:blipFill>
          <ns1:blip ns3:embed="Rac6a4840037c4dc1"/>
          <ns1:stretch/>
        </ns0:blipFill>
        <ns0:spPr>
          <ns1:xfrm>
            <ns1:off x="6305550" y="2114550"/>
            <ns1:ext cx="228600" cy="228600"/>
          </ns1:xfrm>
          <ns1:prstGeom prst="rect">
            <ns1:avLst/>
          </ns1:prstGeom>
        </ns0:spPr>
      </ns0:pic>
    </ns0:spTree>
    <ns0:extLst>
      <ns0:ext uri="{BB962C8B-B14F-4D97-AF65-F5344CB8AC3E}">
        <ns4:creationId val="1323094396"/>
      </ns0:ext>
    </ns0:extLst>
  </ns0:cSld>
  <ns0:transition spd="med" advClick="1">
    <ns0:fade/>
  </ns0:transition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CCFC410B-39E1-4731-9512-E22B8BD1F9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D225A279-72C2-44C4-955B-520AC93B824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19098AE-2CD8-4C19-B61D-803767E6CCC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09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Market Opportunity &amp; Competitors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8D39E2ED-4C38-4E8B-984F-1A5B41799FC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3ADE3953-18A6-4CDE-9C00-D120FA879382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9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77DCB38E-BB91-439C-A424-BD8A9BB062E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focused workflow for smaller businesses</ns1:t>
            </ns1:r>
            <ns1:endParaRPr sz="1800"/>
          </ns1:p>
        </ns0:txBody>
      </ns0:sp>
      <ns0:graphicFrame>
        <ns0:nvGraphicFramePr>
          <ns0:cNvPr id="10" name="Table 0">
            <ns1:extLst>
              <ns1:ext uri="{FF2B5EF4-FFF2-40B4-BE49-F238E27FC236}">
                <ns2:creationId id="{0E72F55D-D2E5-4663-8978-E609F37274E8}"/>
              </ns1:ext>
            </ns1:extLst>
          </ns0:cNvPr>
          <ns0:cNvGraphicFramePr/>
          <ns0:nvPr/>
        </ns0:nvGraphicFramePr>
        <ns0:xfrm>
          <ns1:off x="640080" y="2240280"/>
          <ns1:ext cx="6400800" cy="2432304"/>
        </ns0:xfrm>
        <ns1:graphic>
          <ns1:graphicData uri="http://schemas.openxmlformats.org/drawingml/2006/table">
            <ns1:tbl>
              <ns1:tblPr/>
              <ns1:tblGrid>
                <ns1:gridCol w="2468880"/>
                <ns1:gridCol w="3931920"/>
              </ns1:tblGrid>
              <ns1:tr h="45720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Approach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Focus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Semgrep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Source-code security analysis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OWASP ZAP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Web-application testing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CryptIQ prototype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Owner-facing repair + verification workflow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9" name="Shape 6">
            <ns1:extLst>
              <ns1:ext uri="{FF2B5EF4-FFF2-40B4-BE49-F238E27FC236}">
                <ns2:creationId id="{AEAEB5A2-0A05-4111-AA40-46C445E72882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2240280"/>
            <ns1:ext cx="4206240" cy="3090672"/>
          </ns1:xfrm>
          <ns1:prstGeom prst="roundRect">
            <ns1:avLst>
              <ns1:gd name="adj" fmla="val 266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7">
            <ns1:extLst>
              <ns1:ext uri="{FF2B5EF4-FFF2-40B4-BE49-F238E27FC236}">
                <ns2:creationId id="{2C6ACE19-0148-4E5F-8A03-11B5FEFAFEBF}"/>
              </ns1:ext>
            </ns1:extLst>
          </ns0:cNvPr>
          <ns0:cNvSpPr>
            <ns1:spLocks noGrp="1"/>
          </ns0:cNvSpPr>
          <ns0:nvPr/>
        </ns0:nvSpPr>
        <ns0:spPr>
          <ns1:xfrm>
            <ns1:off x="7589520" y="2423160"/>
            <ns1:ext cx="3657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WHERE WE FIT</ns1:t>
            </ns1:r>
            <ns1:endParaRPr sz="1200"/>
          </ns1:p>
        </ns0:txBody>
      </ns0:sp>
      <ns0:sp>
        <ns0:nvSpPr>
          <ns0:cNvPr id="11" name="Text 8">
            <ns1:extLst>
              <ns1:ext uri="{FF2B5EF4-FFF2-40B4-BE49-F238E27FC236}">
                <ns2:creationId id="{1B6BDCED-14E1-4E6B-9483-8242BACFE449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2733675"/>
            <ns1:ext cx="3667125" cy="19431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/>
            </ns1:r>
            <ns1:endParaRPr sz="1400"/>
          </ns1:p>
        </ns0:txBody>
      </ns0:sp>
      <ns0:sp>
        <ns0:nvSpPr>
          <ns0:cNvPr id="12" name="Shape 9">
            <ns1:extLst>
              <ns1:ext uri="{FF2B5EF4-FFF2-40B4-BE49-F238E27FC236}">
                <ns2:creationId id="{C7DD4D24-25BA-478F-9274-419E9B79DF2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86400"/>
            <ns1:ext cx="6400800" cy="457200"/>
          </ns1:xfrm>
          <ns1:prstGeom prst="roundRect">
            <ns1:avLst>
              <ns1:gd name="adj" fmla="val 18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0">
            <ns1:extLst>
              <ns1:ext uri="{FF2B5EF4-FFF2-40B4-BE49-F238E27FC236}">
                <ns2:creationId id="{A0E8E978-3FDD-4692-B75D-5003AF5D2E7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504688"/>
            <ns1:ext cx="6035040" cy="420624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250" i="1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Established tools are broader in their own domains — we differentiate on the connected user experience.</ns1:t>
            </ns1:r>
            <ns1:endParaRPr sz="1250"/>
          </ns1:p>
        </ns0:txBody>
      </ns0:sp>
      <ns0:sp>
        <ns0:nvSpPr>
          <ns0:cNvPr id="14" name="">
            <ns1:extLst>
              <ns1:ext uri="{FF2B5EF4-FFF2-40B4-BE49-F238E27FC236}">
                <ns2:creationId id="{D8862855-6C38-44D5-A081-E5B74762AAAE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695825"/>
            <ns1:ext cx="1714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125" b="1">
                <ns1:solidFill>
                  <ns1:srgbClr val="8EC4FF"/>
                </ns1:solidFill>
              </ns1:defRPr>
            </ns1:defPPr>
          </ns1:lstStyle>
          <ns1:p>
            <ns1:pPr>
              <ns1:buNone/>
              <ns1:defRPr sz="1125" b="1">
                <ns1:solidFill>
                  <ns1:srgbClr val="8EC4FF"/>
                </ns1:solidFill>
              </ns1:defRPr>
            </ns1:pPr>
            <ns1:r>
              <ns1:rPr sz="1125" b="1">
                <ns1:solidFill>
                  <ns1:srgbClr val="8EC4FF"/>
                </ns1:solidFill>
              </ns1:rPr>
              <ns1:t/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912F319-4C2F-42D5-8373-D8AF64F2FF8D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981575"/>
            <ns1:ext cx="3667125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FFFFFF"/>
                </ns1:solidFill>
              </ns1:defRPr>
            </ns1:defPPr>
          </ns1:lstStyle>
          <ns1:p>
            <ns1:pPr>
              <ns1:buNone/>
              <ns1:defRPr sz="1500" b="1">
                <ns1:solidFill>
                  <ns1:srgbClr val="FFFFFF"/>
                </ns1:solidFill>
              </ns1:defRPr>
            </ns1:pPr>
            <ns1:r>
              <ns1:rPr sz="1500" b="1">
                <ns1:solidFill>
                  <ns1:srgbClr val="FFFFFF"/>
                </ns1:solidFill>
              </ns1:rPr>
              <ns1:t/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6390349-003D-40F8-842C-7F851A509441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829175"/>
            <ns1:ext cx="6162675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575" b="0">
                <ns1:solidFill>
                  <ns1:srgbClr val="B7C9DF"/>
                </ns1:solidFill>
              </ns1:defRPr>
            </ns1:pPr>
            <ns1:r>
              <ns1:rPr sz="1575" b="0">
                <ns1:solidFill>
                  <ns1:srgbClr val="B7C9DF"/>
                </ns1:solidFill>
              </ns1:rPr>
              <ns1:t>Measure onboarding time, repair completion and willingness to pay.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52BD6B4-3B71-4DCA-BD5F-AB58D07B8784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2800350"/>
            <ns1:ext cx="36195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1">
                <ns1:solidFill>
                  <ns1:srgbClr val="FFFFFF"/>
                </ns1:solidFill>
              </ns1:defRPr>
            </ns1:defPPr>
          </ns1:lstStyle>
          <ns1:p>
            <ns1:pPr>
              <ns1:defRPr sz="1875" b="1">
                <ns1:solidFill>
                  <ns1:srgbClr val="FFFFFF"/>
                </ns1:solidFill>
              </ns1:defRPr>
            </ns1:pPr>
            <ns1:r>
              <ns1:rPr sz="1875" b="1">
                <ns1:solidFill>
                  <ns1:srgbClr val="FFFFFF"/>
                </ns1:solidFill>
              </ns1:rPr>
              <ns1:t>Small online shops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CBF6C59-544F-47BC-83A6-31BC638BF5A8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3162300"/>
            <ns1:ext cx="3619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B7C9DF"/>
                </ns1:solidFill>
              </ns1:defRPr>
            </ns1:defPPr>
          </ns1:lstStyle>
          <ns1:p>
            <ns1:pPr>
              <ns1:defRPr sz="1500" b="0">
                <ns1:solidFill>
                  <ns1:srgbClr val="B7C9DF"/>
                </ns1:solidFill>
              </ns1:defRPr>
            </ns1:pPr>
            <ns1:r>
              <ns1:rPr sz="1500" b="0">
                <ns1:solidFill>
                  <ns1:srgbClr val="B7C9DF"/>
                </ns1:solidFill>
              </ns1:rPr>
              <ns1:t>With developer or IT support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FFEEE69-C480-46D4-A412-69690C38A920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3648075"/>
            <ns1:ext cx="3619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B7D5FF"/>
                </ns1:solidFill>
              </ns1:defRPr>
            </ns1:defPPr>
          </ns1:lstStyle>
          <ns1:p>
            <ns1:pPr>
              <ns1:defRPr sz="1650" b="0">
                <ns1:solidFill>
                  <ns1:srgbClr val="B7D5FF"/>
                </ns1:solidFill>
              </ns1:defRPr>
            </ns1:pPr>
            <ns1:r>
              <ns1:rPr sz="1650" b="0">
                <ns1:solidFill>
                  <ns1:srgbClr val="B7D5FF"/>
                </ns1:solidFill>
              </ns1:rPr>
              <ns1:t>Readable risk → supported repair</ns1:t>
            </ns1:r>
          </ns1:p>
          <ns1:p>
            <ns1:pPr>
              <ns1:defRPr sz="1650" b="0">
                <ns1:solidFill>
                  <ns1:srgbClr val="B7D5FF"/>
                </ns1:solidFill>
              </ns1:defRPr>
            </ns1:pPr>
            <ns1:r>
              <ns1:rPr sz="1650" b="0">
                <ns1:solidFill>
                  <ns1:srgbClr val="B7D5FF"/>
                </ns1:solidFill>
              </ns1:rPr>
              <ns1:t>→ repeatable evidence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1046F8FF-7C3D-4C94-9556-BDB03BB3A077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4381500"/>
            <ns1:ext cx="3619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1">
                <ns1:solidFill>
                  <ns1:srgbClr val="8EC4FF"/>
                </ns1:solidFill>
              </ns1:defRPr>
            </ns1:defPPr>
          </ns1:lstStyle>
          <ns1:p>
            <ns1:pPr>
              <ns1:defRPr sz="1050" b="1">
                <ns1:solidFill>
                  <ns1:srgbClr val="8EC4FF"/>
                </ns1:solidFill>
              </ns1:defRPr>
            </ns1:pPr>
            <ns1:r>
              <ns1:rPr sz="1050" b="1">
                <ns1:solidFill>
                  <ns1:srgbClr val="8EC4FF"/>
                </ns1:solidFill>
              </ns1:rPr>
              <ns1:t>PROPOSED PILOT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9304CB2-54DD-480A-84D0-9215B6F6B4A9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4667250"/>
            <ns1:ext cx="5905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1">
                <ns1:solidFill>
                  <ns1:srgbClr val="328CFA"/>
                </ns1:solidFill>
              </ns1:defRPr>
            </ns1:defPPr>
          </ns1:lstStyle>
          <ns1:p>
            <ns1:pPr>
              <ns1:defRPr sz="3150" b="1">
                <ns1:solidFill>
                  <ns1:srgbClr val="328CFA"/>
                </ns1:solidFill>
              </ns1:defRPr>
            </ns1:pPr>
            <ns1:r>
              <ns1:rPr sz="3150" b="1">
                <ns1:solidFill>
                  <ns1:srgbClr val="328CFA"/>
                </ns1:solidFill>
              </ns1:rPr>
              <ns1:t>5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5C3825F-9B7B-44A6-B947-3F058F967563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4838700"/>
            <ns1:ext cx="11906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>
              <ns1:defRPr sz="1425" b="0">
                <ns1:solidFill>
                  <ns1:srgbClr val="F6F9FF"/>
                </ns1:solidFill>
              </ns1:defRPr>
            </ns1:pPr>
            <ns1:r>
              <ns1:rPr sz="1425" b="0">
                <ns1:solidFill>
                  <ns1:srgbClr val="F6F9FF"/>
                </ns1:solidFill>
              </ns1:rPr>
              <ns1:t>businesses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27B69493-B3AE-4325-A5C5-CD0EBCA8A813}"/>
              </ns1:ext>
            </ns1:extLst>
          </ns0:cNvPr>
          <ns0:cNvSpPr>
            <ns1:spLocks noGrp="1"/>
          </ns0:cNvSpPr>
          <ns0:nvPr/>
        </ns0:nvSpPr>
        <ns0:spPr>
          <ns1:xfrm>
            <ns1:off x="9572625" y="4667250"/>
            <ns1:ext cx="5905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1">
                <ns1:solidFill>
                  <ns1:srgbClr val="43D3A4"/>
                </ns1:solidFill>
              </ns1:defRPr>
            </ns1:defPPr>
          </ns1:lstStyle>
          <ns1:p>
            <ns1:pPr>
              <ns1:defRPr sz="3150" b="1">
                <ns1:solidFill>
                  <ns1:srgbClr val="43D3A4"/>
                </ns1:solidFill>
              </ns1:defRPr>
            </ns1:pPr>
            <ns1:r>
              <ns1:rPr sz="3150" b="1">
                <ns1:solidFill>
                  <ns1:srgbClr val="43D3A4"/>
                </ns1:solidFill>
              </ns1:rPr>
              <ns1:t>2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33B4B542-DE10-42A1-9C67-D1DB2730A29F}"/>
              </ns1:ext>
            </ns1:extLst>
          </ns0:cNvPr>
          <ns0:cNvSpPr>
            <ns1:spLocks noGrp="1"/>
          </ns0:cNvSpPr>
          <ns0:nvPr/>
        </ns0:nvSpPr>
        <ns0:spPr>
          <ns1:xfrm>
            <ns1:off x="10163175" y="4838700"/>
            <ns1:ext cx="1000125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F6F9FF"/>
                </ns1:solidFill>
              </ns1:defRPr>
            </ns1:defPPr>
          </ns1:lstStyle>
          <ns1:p>
            <ns1:pPr>
              <ns1:defRPr sz="1425" b="0">
                <ns1:solidFill>
                  <ns1:srgbClr val="F6F9FF"/>
                </ns1:solidFill>
              </ns1:defRPr>
            </ns1:pPr>
            <ns1:r>
              <ns1:rPr sz="1425" b="0">
                <ns1:solidFill>
                  <ns1:srgbClr val="F6F9FF"/>
                </ns1:solidFill>
              </ns1:rPr>
              <ns1:t>partners</ns1:t>
            </ns1:r>
          </ns1:p>
        </ns0:txBody>
      </ns0:sp>
    </ns0:spTree>
    <ns0:extLst>
      <ns0:ext uri="{BB962C8B-B14F-4D97-AF65-F5344CB8AC3E}">
        <ns3:creationId val="2064777928"/>
      </ns0:ext>
    </ns0:extLst>
  </ns0:cSld>
  <ns0:transition spd="med" advClick="1">
    <ns0:fade/>
  </ns0:transition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B7F563-DD56-4577-9F4E-C858FA20DE5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77E1647-0609-441D-972F-D58424651C3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6B3BB9-93EA-4C7B-A9D1-F8F332B4416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10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Business Model &amp; GTM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268C46F-4CBA-4BA5-B914-49FD07734B4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FD30573-2CA8-4CB5-9483-A3BFDAFCD6B9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10 / 12</ns1:t>
            </ns1:r>
            <ns1:endParaRPr sz="1100"/>
          </ns1:p>
        </ns0:txBody>
      </ns0:sp>
      <ns0:graphicFrame>
        <ns0:nvGraphicFramePr>
          <ns0:cNvPr id="11" name="Table 0">
            <ns1:extLst>
              <ns1:ext uri="{FF2B5EF4-FFF2-40B4-BE49-F238E27FC236}">
                <ns2:creationId id="{8083C8F6-ACC1-44CA-8389-9938FCC052ED}"/>
              </ns1:ext>
            </ns1:extLst>
          </ns0:cNvPr>
          <ns0:cNvGraphicFramePr/>
          <ns0:nvPr/>
        </ns0:nvGraphicFramePr>
        <ns0:xfrm>
          <ns1:off x="640080" y="1920240"/>
          <ns1:ext cx="7315200" cy="3291840"/>
        </ns0:xfrm>
        <ns1:graphic>
          <ns1:graphicData uri="http://schemas.openxmlformats.org/drawingml/2006/table">
            <ns1:tbl>
              <ns1:tblPr/>
              <ns1:tblGrid>
                <ns1:gridCol w="1737360"/>
                <ns1:gridCol w="1280160"/>
                <ns1:gridCol w="4297680"/>
              </ns1:tblGrid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Plan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Price / mo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Demonstrated scope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Free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Discovery · one project · one scan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Starter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4 scans · repair + verification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₹2,999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12 scans · full evidence workflow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Partner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₹1,199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Read-only portfolio · 3 active client workspaces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+ extra client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₹500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Each additional active workspace / month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92486BA3-8A2B-43C8-A9E0-B2DD0330B805}"/>
              </ns1:ext>
            </ns1:extLst>
          </ns0:cNvPr>
          <ns0:cNvSpPr>
            <ns1:spLocks noGrp="1"/>
          </ns0:cNvSpPr>
          <ns0:nvPr/>
        </ns0:nvSpPr>
        <ns0:spPr>
          <ns1:xfrm>
            <ns1:off x="8183880" y="1920240"/>
            <ns1:ext cx="3337560" cy="3291840"/>
          </ns1:xfrm>
          <ns1:prstGeom prst="roundRect">
            <ns1:avLst>
              <ns1:gd name="adj" fmla="val 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AD37B754-90C2-4E7F-ADDF-035FD118D9FE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103120"/>
            <ns1:ext cx="28346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ACQUISITION</ns1:t>
            </ns1:r>
            <ns1:endParaRPr sz="1200"/>
          </ns1:p>
        </ns0:txBody>
      </ns0:sp>
      <ns0:sp>
        <ns0:nvSpPr>
          <ns0:cNvPr id="10" name="Text 7">
            <ns1:extLst>
              <ns1:ext uri="{FF2B5EF4-FFF2-40B4-BE49-F238E27FC236}">
                <ns2:creationId id="{18247CCD-D22F-4B3B-B47E-230326244312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468880"/>
            <ns1:ext cx="2834640" cy="27432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 algn="l">
              <ns1:spcAft>
                <ns1:spcPts val="400"/>
              </ns1:spcAft>
              <ns1:buNone/>
            </ns1:pPr>
            <ns1:r>
              <ns1:rPr sz="15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/>
            </ns1:r>
            <ns1:endParaRPr sz="1500"/>
          </ns1:p>
        </ns0:txBody>
      </ns0:sp>
      <ns0:sp>
        <ns0:nvSpPr>
          <ns0:cNvPr id="7" name="Text 8">
            <ns1:extLst>
              <ns1:ext uri="{FF2B5EF4-FFF2-40B4-BE49-F238E27FC236}">
                <ns2:creationId id="{092B875C-D4EF-4094-9FA7-972A7277CDB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40680"/>
            <ns1:ext cx="7315200" cy="50292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2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Prices are pilot proposals shown in the product — payments are not connected and demo limits are not production billing.</ns1:t>
            </ns1:r>
            <ns1:endParaRPr sz="1250"/>
          </ns1:p>
        </ns0:txBody>
      </ns0:sp>
      <ns0:sp>
        <ns0:nvSpPr>
          <ns0:cNvPr id="12" name="">
            <ns1:extLst>
              <ns1:ext uri="{FF2B5EF4-FFF2-40B4-BE49-F238E27FC236}">
                <ns2:creationId id="{86E7B72C-31B9-4279-B8DE-4429A6E793B0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50507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Free discovery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98508B3-614E-4404-BCBF-FD3E606D2B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280035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99CFA26-82E5-4CC2-A3D3-5E6C32CF3E9F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08610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Guided review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0D8FEE28-19F9-439F-B907-790B4A93F8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381375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D5F9765-550F-4FFB-9BBC-A7AC96BD52DD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66712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Repeat use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27765B26-9988-47FE-B8E9-5D2AA3967D86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96240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buNone/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69169A2B-2445-4DBA-9C0E-FFD73A44B071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424815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buNone/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Partner referrals</ns1:t>
            </ns1:r>
          </ns1:p>
        </ns0:txBody>
      </ns0:sp>
    </ns0:spTree>
    <ns0:extLst>
      <ns0:ext uri="{BB962C8B-B14F-4D97-AF65-F5344CB8AC3E}">
        <ns3:creationId val="1639085224"/>
      </ns0:ext>
    </ns0:extLst>
  </ns0:cSld>
  <ns0:transition spd="med" advClick="1">
    <ns0:fade/>
  </ns0:transition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B5B1526D-CCDA-49E8-93B6-D3C9E02C36C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FAB65F98-12BE-440B-A301-DDD1461DDCF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D1188163-0DAA-4D4A-B23B-FB6C7FCB1BC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Financial Model &amp; Team Cost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D6E201B8-7DFE-4002-9FF9-6BF55595E93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F1F5A869-AC33-4FC3-9B37-6AC15B5833A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11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9F1568FC-7C01-4B9F-BA14-0B2F97B3B9D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09344"/>
            <ns1:ext cx="10789920" cy="3200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PLANNING ASSUMPTIONS — NOT MEASURED RESULTS</ns1:t>
            </ns1:r>
            <ns1:endParaRPr sz="1300"/>
          </ns1:p>
        </ns0:txBody>
      </ns0:sp>
      <ns0:sp>
        <ns0:nvSpPr>
          <ns0:cNvPr id="8" name="Shape 6">
            <ns1:extLst>
              <ns1:ext uri="{FF2B5EF4-FFF2-40B4-BE49-F238E27FC236}">
                <ns2:creationId id="{A57019B5-879B-4B38-8CA4-38BD4883483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7">
            <ns1:extLst>
              <ns1:ext uri="{FF2B5EF4-FFF2-40B4-BE49-F238E27FC236}">
                <ns2:creationId id="{640DD8C6-6CE9-4CF7-B9BB-A68ED1DD50A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₹90,000</ns1:t>
            </ns1:r>
            <ns1:endParaRPr sz="3000"/>
          </ns1:p>
        </ns0:txBody>
      </ns0:sp>
      <ns0:sp>
        <ns0:nvSpPr>
          <ns0:cNvPr id="10" name="Text 8">
            <ns1:extLst>
              <ns1:ext uri="{FF2B5EF4-FFF2-40B4-BE49-F238E27FC236}">
                <ns2:creationId id="{E8078ADD-06F4-4A25-9082-6E348FEB4D29}"/>
              </ns1:ext>
            </ns1:extLst>
          </ns0:cNvPr>
          <ns0:cNvSpPr>
            <ns1:spLocks noGrp="1"/>
          </ns0:cNvSpPr>
          <ns0:nvPr/>
        </ns0:nvSpPr>
        <ns0:spPr>
          <ns1:xfrm>
            <ns1:off x="777240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Proposed 90-day budget</ns1:t>
            </ns1:r>
            <ns1:endParaRPr sz="1250"/>
          </ns1:p>
        </ns0:txBody>
      </ns0:sp>
      <ns0:sp>
        <ns0:nvSpPr>
          <ns0:cNvPr id="11" name="Shape 9">
            <ns1:extLst>
              <ns1:ext uri="{FF2B5EF4-FFF2-40B4-BE49-F238E27FC236}">
                <ns2:creationId id="{4521ADD6-685C-463F-BBAB-B75F3B879CCB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Text 10">
            <ns1:extLst>
              <ns1:ext uri="{FF2B5EF4-FFF2-40B4-BE49-F238E27FC236}">
                <ns2:creationId id="{FB2ECC12-AB00-465E-A96C-F9DF7AD64DFF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₹24,985</ns1:t>
            </ns1:r>
            <ns1:endParaRPr sz="3000"/>
          </ns1:p>
        </ns0:txBody>
      </ns0:sp>
      <ns0:sp>
        <ns0:nvSpPr>
          <ns0:cNvPr id="13" name="Text 11">
            <ns1:extLst>
              <ns1:ext uri="{FF2B5EF4-FFF2-40B4-BE49-F238E27FC236}">
                <ns2:creationId id="{0F4AC5DE-488A-4C4E-85C8-39D13C1FCF22}"/>
              </ns1:ext>
            </ns1:extLst>
          </ns0:cNvPr>
          <ns0:cNvSpPr>
            <ns1:spLocks noGrp="1"/>
          </ns0:cNvSpPr>
          <ns0:nvPr/>
        </ns0:nvSpPr>
        <ns0:spPr>
          <ns1:xfrm>
            <ns1:off x="3584448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revenue</ns1:t>
            </ns1:r>
            <ns1:endParaRPr sz="1250"/>
          </ns1:p>
        </ns0:txBody>
      </ns0:sp>
      <ns0:sp>
        <ns0:nvSpPr>
          <ns0:cNvPr id="14" name="Shape 12">
            <ns1:extLst>
              <ns1:ext uri="{FF2B5EF4-FFF2-40B4-BE49-F238E27FC236}">
                <ns2:creationId id="{858B923C-11D2-4850-B179-F1A3485AF089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5DDBBE7C-27B1-4C0E-990E-8EC3A03BCB85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₹1,985</ns1:t>
            </ns1:r>
            <ns1:endParaRPr sz="3000"/>
          </ns1:p>
        </ns0:txBody>
      </ns0:sp>
      <ns0:sp>
        <ns0:nvSpPr>
          <ns0:cNvPr id="16" name="Text 14">
            <ns1:extLst>
              <ns1:ext uri="{FF2B5EF4-FFF2-40B4-BE49-F238E27FC236}">
                <ns2:creationId id="{25CC6CEF-CEDD-4D12-BADA-7849D6FBEF24}"/>
              </ns1:ext>
            </ns1:extLst>
          </ns0:cNvPr>
          <ns0:cNvSpPr>
            <ns1:spLocks noGrp="1"/>
          </ns0:cNvSpPr>
          <ns0:nvPr/>
        </ns0:nvSpPr>
        <ns0:spPr>
          <ns1:xfrm>
            <ns1:off x="6391656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surplus</ns1:t>
            </ns1:r>
            <ns1:endParaRPr sz="1250"/>
          </ns1:p>
        </ns0:txBody>
      </ns0:sp>
      <ns0:sp>
        <ns0:nvSpPr>
          <ns0:cNvPr id="17" name="Shape 15">
            <ns1:extLst>
              <ns1:ext uri="{FF2B5EF4-FFF2-40B4-BE49-F238E27FC236}">
                <ns2:creationId id="{D750AB4A-EBEC-425C-9B14-3303BEFCE885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EC7FFDC-9790-4104-B31F-1A7FB9312A2D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~14</ns1:t>
            </ns1:r>
            <ns1:endParaRPr sz="3000"/>
          </ns1:p>
        </ns0:txBody>
      </ns0:sp>
      <ns0:sp>
        <ns0:nvSpPr>
          <ns0:cNvPr id="19" name="Text 17">
            <ns1:extLst>
              <ns1:ext uri="{FF2B5EF4-FFF2-40B4-BE49-F238E27FC236}">
                <ns2:creationId id="{384AD310-DCCB-4E79-B3D4-4514C3B89B41}"/>
              </ns1:ext>
            </ns1:extLst>
          </ns0:cNvPr>
          <ns0:cNvSpPr>
            <ns1:spLocks noGrp="1"/>
          </ns0:cNvSpPr>
          <ns0:nvPr/>
        </ns0:nvSpPr>
        <ns0:spPr>
          <ns1:xfrm>
            <ns1:off x="9198864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Accounts to break even</ns1:t>
            </ns1:r>
            <ns1:endParaRPr sz="1250"/>
          </ns1:p>
        </ns0:txBody>
      </ns0:sp>
      <ns0:graphicFrame>
        <ns0:nvGraphicFramePr>
          <ns0:cNvPr id="20" name="Table 0">
            <ns1:extLst>
              <ns1:ext uri="{FF2B5EF4-FFF2-40B4-BE49-F238E27FC236}">
                <ns2:creationId id="{1E487B99-80EF-48CD-9606-5FB8C5C03FAF}"/>
              </ns1:ext>
            </ns1:extLst>
          </ns0:cNvPr>
          <ns0:cNvGraphicFramePr/>
          <ns0:nvPr/>
        </ns0:nvGraphicFramePr>
        <ns0:xfrm>
          <ns1:off x="64008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90-day budget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Founder time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₹60,000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Hosting &amp; tools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Security review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Outreach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Total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23" name="Table 1">
            <ns1:extLst>
              <ns1:ext uri="{FF2B5EF4-FFF2-40B4-BE49-F238E27FC236}">
                <ns2:creationId id="{757EA3B3-1691-482A-AF46-D786064DDAC6}"/>
              </ns1:ext>
            </ns1:extLst>
          </ns0:cNvPr>
          <ns0:cNvGraphicFramePr/>
          <ns0:nvPr/>
        </ns0:nvGraphicFramePr>
        <ns0:xfrm>
          <ns1:off x="626364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Example month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10 Starter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₹9,990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5 Business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₹14,995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Variable (15 × ₹200)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−₹3,000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Fixed cash costs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−₹20,000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Operating surplus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₹1,985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</ns0:spTree>
    <ns0:extLst>
      <ns0:ext uri="{BB962C8B-B14F-4D97-AF65-F5344CB8AC3E}">
        <ns3:creationId val="1441105053"/>
      </ns0:ext>
    </ns0:extLst>
  </ns0:cSld>
  <ns0:transition spd="med" advClick="1">
    <ns0:fade/>
  </ns0:transition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36c45f15592740a9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F4DBACC6-5F91-4341-AA16-601558B4F1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327D4711-F8F9-4369-B2D7-88FD14FA3D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12AA65AA-74D5-4254-8C9D-EACCE621F48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Roadmap, Ask &amp; Closing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BAA1907E-174D-436E-A0D8-B92E1BE61EC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8735AA0F-A744-4B61-AA50-C7094F7AE30B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8A7E0748-31A3-40E7-BEB9-E15F4C325B9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Shape 6">
            <ns1:extLst>
              <ns1:ext uri="{FF2B5EF4-FFF2-40B4-BE49-F238E27FC236}">
                <ns3:creationId id="{C33E5498-48FF-4949-BD32-5C8CA407490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9" name="Image 0">
            <ns1:extLst>
              <ns1:ext uri="{FF2B5EF4-FFF2-40B4-BE49-F238E27FC236}">
                <ns3:creationId id="{75F1573A-DDEE-48EC-B34F-BD77626A30D7}"/>
              </ns1:ext>
            </ns1:extLst>
          </ns0:cNvPr>
          <ns0:cNvPicPr>
            <ns1:picLocks noChangeAspect="1"/>
          </ns0:cNvPicPr>
          <ns0:nvPr/>
        </ns0:nvPicPr>
        <ns0:blipFill>
          <ns1:blip ns2:embed="R83a9e4bef1da42a5"/>
          <ns1:stretch>
            <ns1:fillRect l="0" t="0" r="0" b="0"/>
          </ns1:stretch>
        </ns0:blipFill>
        <ns0:spPr>
          <ns1:xfrm>
            <ns1:off x="1061801" y="2140793"/>
            <ns1:ext cx="272125" cy="272125"/>
          </ns1:xfrm>
          <ns1:prstGeom prst="rect">
            <ns1:avLst/>
          </ns1:prstGeom>
        </ns0:spPr>
      </ns0:pic>
      <ns0:sp>
        <ns0:nvSpPr>
          <ns0:cNvPr id="10" name="Text 7">
            <ns1:extLst>
              <ns1:ext uri="{FF2B5EF4-FFF2-40B4-BE49-F238E27FC236}">
                <ns3:creationId id="{843AE5A0-332B-44FA-A153-EFD46FCA99EE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30 days</ns1:t>
            </ns1:r>
            <ns1:endParaRPr sz="2100"/>
          </ns1:p>
        </ns0:txBody>
      </ns0:sp>
      <ns0:sp>
        <ns0:nvSpPr>
          <ns0:cNvPr id="11" name="Text 8">
            <ns1:extLst>
              <ns1:ext uri="{FF2B5EF4-FFF2-40B4-BE49-F238E27FC236}">
                <ns3:creationId id="{369B76BD-BE19-4026-B72C-67E2F42043F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Pilot feedback and persistent hosting.</ns1:t>
            </ns1:r>
            <ns1:endParaRPr sz="1400"/>
          </ns1:p>
        </ns0:txBody>
      </ns0:sp>
      <ns0:sp>
        <ns0:nvSpPr>
          <ns0:cNvPr id="12" name="Shape 9">
            <ns1:extLst>
              <ns1:ext uri="{FF2B5EF4-FFF2-40B4-BE49-F238E27FC236}">
                <ns3:creationId id="{3C78BF1B-A3D9-4A1F-B3E6-7E4A846697E0}"/>
              </ns1:ext>
            </ns1:extLst>
          </ns0:cNvPr>
          <ns0:cNvSpPr>
            <ns1:spLocks noGrp="1"/>
          </ns0:cNvSpPr>
          <ns0:nvPr/>
        </ns0:nvSpPr>
        <ns0:spPr>
          <ns1:xfrm>
            <ns1:off x="4407408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0">
            <ns1:extLst>
              <ns1:ext uri="{FF2B5EF4-FFF2-40B4-BE49-F238E27FC236}">
                <ns3:creationId id="{35AF0362-F994-4556-936F-EA95C6AC9F32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F773A23C-50FA-46C0-99C2-12DAECB9A76B}"/>
              </ns1:ext>
            </ns1:extLst>
          </ns0:cNvPr>
          <ns0:cNvPicPr>
            <ns1:picLocks noChangeAspect="1"/>
          </ns0:cNvPicPr>
          <ns0:nvPr/>
        </ns0:nvPicPr>
        <ns0:blipFill>
          <ns1:blip ns2:embed="R1892669accf64d24"/>
          <ns1:stretch>
            <ns1:fillRect l="0" t="0" r="0" b="0"/>
          </ns1:stretch>
        </ns0:blipFill>
        <ns0:spPr>
          <ns1:xfrm>
            <ns1:off x="4829129" y="2140793"/>
            <ns1:ext cx="272125" cy="272125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CB497E0-1AB4-40FD-9937-02FA7F831DC2}"/>
              </ns1:ext>
            </ns1:extLst>
          </ns0:cNvPr>
          <ns0:cNvSpPr>
            <ns1:spLocks noGrp="1"/>
          </ns0:cNvSpPr>
          <ns0:nvPr/>
        </ns0:nvSpPr>
        <ns0:spPr>
          <ns1:xfrm>
            <ns1:off x="5367528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60 days</ns1:t>
            </ns1:r>
            <ns1:endParaRPr sz="2100"/>
          </ns1:p>
        </ns0:txBody>
      </ns0:sp>
      <ns0:sp>
        <ns0:nvSpPr>
          <ns0:cNvPr id="16" name="Text 12">
            <ns1:extLst>
              <ns1:ext uri="{FF2B5EF4-FFF2-40B4-BE49-F238E27FC236}">
                <ns3:creationId id="{F40652FE-7C86-4E89-A89F-5CB2A63D0621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Stronger access control, tenant isolation, broader repair coverage.</ns1:t>
            </ns1:r>
            <ns1:endParaRPr sz="1400"/>
          </ns1:p>
        </ns0:txBody>
      </ns0:sp>
      <ns0:sp>
        <ns0:nvSpPr>
          <ns0:cNvPr id="17" name="Shape 13">
            <ns1:extLst>
              <ns1:ext uri="{FF2B5EF4-FFF2-40B4-BE49-F238E27FC236}">
                <ns3:creationId id="{BFDD6B00-67CA-48B6-8142-120E5070A52C}"/>
              </ns1:ext>
            </ns1:extLst>
          </ns0:cNvPr>
          <ns0:cNvSpPr>
            <ns1:spLocks noGrp="1"/>
          </ns0:cNvSpPr>
          <ns0:nvPr/>
        </ns0:nvSpPr>
        <ns0:spPr>
          <ns1:xfrm>
            <ns1:off x="8174736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4">
            <ns1:extLst>
              <ns1:ext uri="{FF2B5EF4-FFF2-40B4-BE49-F238E27FC236}">
                <ns3:creationId id="{B95ACF9D-7320-4401-98ED-88426A9D002C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9" name="Image 2">
            <ns1:extLst>
              <ns1:ext uri="{FF2B5EF4-FFF2-40B4-BE49-F238E27FC236}">
                <ns3:creationId id="{0D5326FD-CE1A-40B4-9514-63CB4194AB85}"/>
              </ns1:ext>
            </ns1:extLst>
          </ns0:cNvPr>
          <ns0:cNvPicPr>
            <ns1:picLocks noChangeAspect="1"/>
          </ns0:cNvPicPr>
          <ns0:nvPr/>
        </ns0:nvPicPr>
        <ns0:blipFill>
          <ns1:blip ns2:embed="R6fbc6076afc44071"/>
          <ns1:stretch>
            <ns1:fillRect l="0" t="0" r="0" b="0"/>
          </ns1:stretch>
        </ns0:blipFill>
        <ns0:spPr>
          <ns1:xfrm>
            <ns1:off x="8596457" y="2140793"/>
            <ns1:ext cx="272125" cy="272125"/>
          </ns1:xfrm>
          <ns1:prstGeom prst="rect">
            <ns1:avLst/>
          </ns1:prstGeom>
        </ns0:spPr>
      </ns0:pic>
      <ns0:sp>
        <ns0:nvSpPr>
          <ns0:cNvPr id="20" name="Text 15">
            <ns1:extLst>
              <ns1:ext uri="{FF2B5EF4-FFF2-40B4-BE49-F238E27FC236}">
                <ns3:creationId id="{A982CEE0-D24E-4990-93C2-0D5193344770}"/>
              </ns1:ext>
            </ns1:extLst>
          </ns0:cNvPr>
          <ns0:cNvSpPr>
            <ns1:spLocks noGrp="1"/>
          </ns0:cNvSpPr>
          <ns0:nvPr/>
        </ns0:nvSpPr>
        <ns0:spPr>
          <ns1:xfrm>
            <ns1:off x="9134856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90 days</ns1:t>
            </ns1:r>
            <ns1:endParaRPr sz="2100"/>
          </ns1:p>
        </ns0:txBody>
      </ns0:sp>
      <ns0:sp>
        <ns0:nvSpPr>
          <ns0:cNvPr id="21" name="Text 16">
            <ns1:extLst>
              <ns1:ext uri="{FF2B5EF4-FFF2-40B4-BE49-F238E27FC236}">
                <ns3:creationId id="{8B5724B0-BB44-4A42-8A65-7A26FCCCA5A6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Evaluate production crypto dependencies, CI integration, paid pilots.</ns1:t>
            </ns1:r>
            <ns1:endParaRPr sz="1400"/>
          </ns1:p>
        </ns0:txBody>
      </ns0:sp>
      <ns0:sp>
        <ns0:nvSpPr>
          <ns0:cNvPr id="22" name="Shape 17">
            <ns1:extLst>
              <ns1:ext uri="{FF2B5EF4-FFF2-40B4-BE49-F238E27FC236}">
                <ns3:creationId id="{DCB411DC-20FF-4CBA-A559-D66798CFC36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7764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18">
            <ns1:extLst>
              <ns1:ext uri="{FF2B5EF4-FFF2-40B4-BE49-F238E27FC236}">
                <ns3:creationId id="{43607CDE-3950-4632-8BA7-B67DCACF1E02}"/>
              </ns1:ext>
            </ns1:extLst>
          </ns0:cNvPr>
          <ns0:cNvSpPr>
            <ns1:spLocks noGrp="1"/>
          </ns0:cNvSpPr>
          <ns0:nvPr/>
        </ns0:nvSpPr>
        <ns0:spPr>
          <ns1:xfrm>
            <ns1:off x="960120" y="4114800"/>
            <ns1:ext cx="10058400" cy="41148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THE ASK    </ns1:t>
            </ns1:r>
            <ns1:r>
              <ns1:rPr sz="18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Pilot introductions and an independent security review.</ns1:t>
            </ns1:r>
            <ns1:endParaRPr sz="1800"/>
          </ns1:p>
        </ns0:txBody>
      </ns0:sp>
      <ns0:sp>
        <ns0:nvSpPr>
          <ns0:cNvPr id="24" name="Shape 19">
            <ns1:extLst>
              <ns1:ext uri="{FF2B5EF4-FFF2-40B4-BE49-F238E27FC236}">
                <ns3:creationId id="{939E8AD2-7CAC-4731-A6CD-FA9564E92BA3}"/>
              </ns1:ext>
            </ns1:extLst>
            <ns1:hlinkClick ns2:id="rIdPitch10" tooltip="Click to open reference"/>
          </ns0:cNvPr>
          <ns0:cNvSpPr>
            <ns1:spLocks noGrp="1"/>
          </ns0:cNvSpPr>
          <ns0:nvPr/>
        </ns0:nvSpPr>
        <ns0:spPr>
          <ns1:xfrm>
            <ns1:off x="960120" y="4526280"/>
            <ns1:ext cx="33832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5" name="Image 3">
            <ns1:extLst>
              <ns1:ext uri="{FF2B5EF4-FFF2-40B4-BE49-F238E27FC236}">
                <ns3:creationId id="{B2EBC5D4-C37F-4D77-9F1B-B26DED1A3F8A}"/>
              </ns1:ext>
            </ns1:extLst>
          </ns0:cNvPr>
          <ns0:cNvPicPr>
            <ns1:picLocks noChangeAspect="1"/>
          </ns0:cNvPicPr>
          <ns0:nvPr/>
        </ns0:nvPicPr>
        <ns0:blipFill>
          <ns1:blip ns2:embed="R2acd9929379a4bee"/>
          <ns1:stretch>
            <ns1:fillRect l="0" t="0" r="0" b="0"/>
          </ns1:stretch>
        </ns0:blipFill>
        <ns0:spPr>
          <ns1:xfrm>
            <ns1:off x="1097280" y="4599432"/>
            <ns1:ext cx="237744" cy="237744"/>
          </ns1:xfrm>
          <ns1:prstGeom prst="rect">
            <ns1:avLst/>
          </ns1:prstGeom>
        </ns0:spPr>
      </ns0:pic>
      <ns0:sp>
        <ns0:nvSpPr>
          <ns0:cNvPr id="26" name="Text 20">
            <ns1:extLst>
              <ns1:ext uri="{FF2B5EF4-FFF2-40B4-BE49-F238E27FC236}">
                <ns3:creationId id="{C2F338F4-6ACE-47BD-AEE8-21FEA781B188}"/>
              </ns1:ext>
            </ns1:extLst>
            <ns1:hlinkClick ns2:id="rIdPitch11" tooltip="Click to open reference"/>
          </ns0:cNvPr>
          <ns0:cNvSpPr>
            <ns1:spLocks noGrp="1"/>
          </ns0:cNvSpPr>
          <ns0:nvPr/>
        </ns0:nvSpPr>
        <ns0:spPr>
          <ns1:xfrm>
            <ns1:off x="1417320" y="4526280"/>
            <ns1:ext cx="28346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1"/>
              </ns1:rPr>
              <ns1:t>Click to view GitHub</ns1:t>
            </ns1:r>
            <ns1:endParaRPr sz="1300"/>
          </ns1:p>
        </ns0:txBody>
      </ns0:sp>
      <ns0:sp>
        <ns0:nvSpPr>
          <ns0:cNvPr id="27" name="Shape 21">
            <ns1:extLst>
              <ns1:ext uri="{FF2B5EF4-FFF2-40B4-BE49-F238E27FC236}">
                <ns3:creationId id="{EC7A65C6-2746-4434-AA56-EDA3447D7775}"/>
              </ns1:ext>
            </ns1:extLst>
            <ns1:hlinkClick ns2:id="rIdPitch12" tooltip="Click to open CryptIQ live demo"/>
          </ns0:cNvPr>
          <ns0:cNvSpPr>
            <ns1:spLocks noGrp="1"/>
          </ns0:cNvSpPr>
          <ns0:nvPr/>
        </ns0:nvSpPr>
        <ns0:spPr>
          <ns1:xfrm>
            <ns1:off x="4526280" y="4526280"/>
            <ns1:ext cx="47548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8" name="Image 4">
            <ns1:extLst>
              <ns1:ext uri="{FF2B5EF4-FFF2-40B4-BE49-F238E27FC236}">
                <ns3:creationId id="{28924C27-79F6-42F5-8FA6-A9F31F3368A8}"/>
              </ns1:ext>
            </ns1:extLst>
          </ns0:cNvPr>
          <ns0:cNvPicPr>
            <ns1:picLocks noChangeAspect="1"/>
          </ns0:cNvPicPr>
          <ns0:nvPr/>
        </ns0:nvPicPr>
        <ns0:blipFill>
          <ns1:blip ns2:embed="R2e0b8e0bb53c40a1"/>
          <ns1:stretch>
            <ns1:fillRect l="0" t="0" r="0" b="0"/>
          </ns1:stretch>
        </ns0:blipFill>
        <ns0:spPr>
          <ns1:xfrm>
            <ns1:off x="4663440" y="4599432"/>
            <ns1:ext cx="237744" cy="237744"/>
          </ns1:xfrm>
          <ns1:prstGeom prst="rect">
            <ns1:avLst/>
          </ns1:prstGeom>
        </ns0:spPr>
      </ns0:pic>
      <ns0:sp>
        <ns0:nvSpPr>
          <ns0:cNvPr id="29" name="Text 22">
            <ns1:extLst>
              <ns1:ext uri="{FF2B5EF4-FFF2-40B4-BE49-F238E27FC236}">
                <ns3:creationId id="{02DA1808-8397-4118-B96D-AB18AF4FE21C}"/>
              </ns1:ext>
            </ns1:extLst>
            <ns1:hlinkClick ns2:id="rIdPitch13" tooltip="Click to open CryptIQ live demo"/>
          </ns0:cNvPr>
          <ns0:cNvSpPr>
            <ns1:spLocks noGrp="1"/>
          </ns0:cNvSpPr>
          <ns0:nvPr/>
        </ns0:nvSpPr>
        <ns0:spPr>
          <ns1:xfrm>
            <ns1:off x="4983480" y="4526280"/>
            <ns1:ext cx="42062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3"/>
              </ns1:rPr>
              <ns1:t>Click to open the live CryptIQ app</ns1:t>
            </ns1:r>
            <ns1:endParaRPr sz="1300"/>
          </ns1:p>
        </ns0:txBody>
      </ns0:sp>
      <ns0:sp>
        <ns0:nvSpPr>
          <ns0:cNvPr id="30" name="Text 23">
            <ns1:extLst>
              <ns1:ext uri="{FF2B5EF4-FFF2-40B4-BE49-F238E27FC236}">
                <ns3:creationId id="{B6E48A93-0641-4789-8B6E-E2072B55380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230368"/>
            <ns1:ext cx="10881360" cy="7315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 i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“CryptIQ connects an understandable risk with a supported repair and evidence of the result.”</ns1:t>
            </ns1:r>
            <ns1:endParaRPr sz="2200"/>
          </ns1:p>
        </ns0:txBody>
      </ns0:sp>
      <ns0:sp>
        <ns0:nvSpPr>
          <ns0:cNvPr id="31" name="">
            <ns1:extLst>
              <ns1:ext uri="{FF2B5EF4-FFF2-40B4-BE49-F238E27FC236}">
                <ns3:creationId id="{25752AFD-DA63-4228-951F-B6A62179A959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5038725"/>
            <ns1:ext cx="103822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buNone/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Click in presentation mode. Temporary demo: presenter PC must stay online.</ns1:t>
            </ns1:r>
          </ns1:p>
        </ns0:txBody>
      </ns0:sp>
    </ns0:spTree>
    <ns0:extLst>
      <ns0:ext uri="{BB962C8B-B14F-4D97-AF65-F5344CB8AC3E}">
        <ns4:creationId val="1326480117"/>
      </ns0:ext>
    </ns0:extLst>
  </ns0:cSld>
  <ns0:transition spd="med" advClick="1">
    <ns0:fade/>
  </ns0:transition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2026-10-15T03:46:52.9830000Z</dcterms:created>
  <dcterms:modified xsi:type="dcterms:W3CDTF">2026-10-15T03:46:52.9830000Z</dcterms:modified>
</coreProperties>
</file>