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b882c0303549fd" /><Relationship Type="http://schemas.openxmlformats.org/officeDocument/2006/relationships/extended-properties" Target="/docProps/app.xml" Id="Rb05455a73f954ee1" /><Relationship Type="http://schemas.openxmlformats.org/officeDocument/2006/relationships/officeDocument" Target="/ppt/presentation.xml" Id="Rc1b5e9ea3ad9444c" /></Relationships>
</file>

<file path=ppt/presentation.xml><?xml version="1.0" encoding="utf-8"?>
<p:presentation xmlns:p="http://schemas.openxmlformats.org/presentationml/2006/main">
  <p:sldMasterIdLst>
    <p:sldMasterId xmlns:r="http://schemas.openxmlformats.org/officeDocument/2006/relationships" id="2147483648" r:id="R2e505a82696a4cdc"/>
  </p:sldMasterIdLst>
  <p:notesMasterIdLst>
    <p:notesMasterId xmlns:r="http://schemas.openxmlformats.org/officeDocument/2006/relationships" r:id="Rcc9b72a78e9a4ee1"/>
  </p:notesMasterIdLst>
  <p:sldIdLst>
    <p:sldId xmlns:r="http://schemas.openxmlformats.org/officeDocument/2006/relationships" id="256" r:id="R0faace3e21f540fa"/>
    <p:sldId xmlns:r="http://schemas.openxmlformats.org/officeDocument/2006/relationships" id="257" r:id="R3c09f05abc7a4b23"/>
    <p:sldId xmlns:r="http://schemas.openxmlformats.org/officeDocument/2006/relationships" id="258" r:id="Rac58cb07673b47f3"/>
    <p:sldId xmlns:r="http://schemas.openxmlformats.org/officeDocument/2006/relationships" id="259" r:id="Re33276ec16fa4379"/>
    <p:sldId xmlns:r="http://schemas.openxmlformats.org/officeDocument/2006/relationships" id="260" r:id="R71f1fd3eee0c44c0"/>
    <p:sldId xmlns:r="http://schemas.openxmlformats.org/officeDocument/2006/relationships" id="261" r:id="R2a160ed59f124627"/>
    <p:sldId xmlns:r="http://schemas.openxmlformats.org/officeDocument/2006/relationships" id="262" r:id="R93b8c52ff4b6469d"/>
    <p:sldId xmlns:r="http://schemas.openxmlformats.org/officeDocument/2006/relationships" id="263" r:id="Rdc13b7b67a2a4511"/>
    <p:sldId xmlns:r="http://schemas.openxmlformats.org/officeDocument/2006/relationships" id="264" r:id="R50a7c30c375a4009"/>
    <p:sldId xmlns:r="http://schemas.openxmlformats.org/officeDocument/2006/relationships" id="265" r:id="R0e6b4f0ddbff4f06"/>
    <p:sldId xmlns:r="http://schemas.openxmlformats.org/officeDocument/2006/relationships" id="266" r:id="Rcb82dde7d2104bea"/>
    <p:sldId xmlns:r="http://schemas.openxmlformats.org/officeDocument/2006/relationships" id="267" r:id="R25b157dd889b45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76c8882d5bd4a7c" /><Relationship Type="http://schemas.openxmlformats.org/officeDocument/2006/relationships/slideMaster" Target="/ppt/slideMasters/slideMaster1.xml" Id="R2e505a82696a4cdc" /><Relationship Type="http://schemas.openxmlformats.org/officeDocument/2006/relationships/notesMaster" Target="/ppt/notesMasters/notesMaster1.xml" Id="Rcc9b72a78e9a4ee1" /><Relationship Type="http://schemas.openxmlformats.org/officeDocument/2006/relationships/presProps" Target="/ppt/presProps.xml" Id="R3c1b4ad3583849a7" /><Relationship Type="http://schemas.openxmlformats.org/officeDocument/2006/relationships/tableStyles" Target="/ppt/tableStyles.xml" Id="Rb327b65467464809" /><Relationship Type="http://schemas.openxmlformats.org/officeDocument/2006/relationships/slide" Target="/ppt/slides/slide1.xml" Id="R0faace3e21f540fa" /><Relationship Type="http://schemas.openxmlformats.org/officeDocument/2006/relationships/slide" Target="/ppt/slides/slide2.xml" Id="R3c09f05abc7a4b23" /><Relationship Type="http://schemas.openxmlformats.org/officeDocument/2006/relationships/slide" Target="/ppt/slides/slide3.xml" Id="Rac58cb07673b47f3" /><Relationship Type="http://schemas.openxmlformats.org/officeDocument/2006/relationships/slide" Target="/ppt/slides/slide4.xml" Id="Re33276ec16fa4379" /><Relationship Type="http://schemas.openxmlformats.org/officeDocument/2006/relationships/slide" Target="/ppt/slides/slide5.xml" Id="R71f1fd3eee0c44c0" /><Relationship Type="http://schemas.openxmlformats.org/officeDocument/2006/relationships/slide" Target="/ppt/slides/slide6.xml" Id="R2a160ed59f124627" /><Relationship Type="http://schemas.openxmlformats.org/officeDocument/2006/relationships/slide" Target="/ppt/slides/slide7.xml" Id="R93b8c52ff4b6469d" /><Relationship Type="http://schemas.openxmlformats.org/officeDocument/2006/relationships/slide" Target="/ppt/slides/slide8.xml" Id="Rdc13b7b67a2a4511" /><Relationship Type="http://schemas.openxmlformats.org/officeDocument/2006/relationships/slide" Target="/ppt/slides/slide9.xml" Id="R50a7c30c375a4009" /><Relationship Type="http://schemas.openxmlformats.org/officeDocument/2006/relationships/slide" Target="/ppt/slides/slide10.xml" Id="R0e6b4f0ddbff4f06" /><Relationship Type="http://schemas.openxmlformats.org/officeDocument/2006/relationships/slide" Target="/ppt/slides/slide11.xml" Id="Rcb82dde7d2104bea" /><Relationship Type="http://schemas.openxmlformats.org/officeDocument/2006/relationships/slide" Target="/ppt/slides/slide12.xml" Id="R25b157dd889b45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9fc97cc9d349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94dc82b1d445ee" /><Relationship Type="http://schemas.openxmlformats.org/officeDocument/2006/relationships/notesMaster" Target="/ppt/notesMasters/notesMaster1.xml" Id="Re1db73ef221841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63cc605bd34705" /><Relationship Type="http://schemas.openxmlformats.org/officeDocument/2006/relationships/notesMaster" Target="/ppt/notesMasters/notesMaster1.xml" Id="R90343814527d41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69c039f8a2470e" /><Relationship Type="http://schemas.openxmlformats.org/officeDocument/2006/relationships/notesMaster" Target="/ppt/notesMasters/notesMaster1.xml" Id="R67b46af645fd42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beb6f6f19c41fa" /><Relationship Type="http://schemas.openxmlformats.org/officeDocument/2006/relationships/notesMaster" Target="/ppt/notesMasters/notesMaster1.xml" Id="R094e2d4e342740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1441a0f3844305" /><Relationship Type="http://schemas.openxmlformats.org/officeDocument/2006/relationships/notesMaster" Target="/ppt/notesMasters/notesMaster1.xml" Id="R36cb55bb442440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0a84c498bd4ce3" /><Relationship Type="http://schemas.openxmlformats.org/officeDocument/2006/relationships/notesMaster" Target="/ppt/notesMasters/notesMaster1.xml" Id="Rbbf0cdac603349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de2a8476d04ab8" /><Relationship Type="http://schemas.openxmlformats.org/officeDocument/2006/relationships/notesMaster" Target="/ppt/notesMasters/notesMaster1.xml" Id="Rd9aff73162e140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665427adef47a6" /><Relationship Type="http://schemas.openxmlformats.org/officeDocument/2006/relationships/notesMaster" Target="/ppt/notesMasters/notesMaster1.xml" Id="Rdf9784be214f4a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d0be1d2645449e" /><Relationship Type="http://schemas.openxmlformats.org/officeDocument/2006/relationships/notesMaster" Target="/ppt/notesMasters/notesMaster1.xml" Id="R88a3a68d77f54e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1f67748bdd47a4" /><Relationship Type="http://schemas.openxmlformats.org/officeDocument/2006/relationships/notesMaster" Target="/ppt/notesMasters/notesMaster1.xml" Id="Ra087ca10c9e146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cf3b616c1048e6" /><Relationship Type="http://schemas.openxmlformats.org/officeDocument/2006/relationships/notesMaster" Target="/ppt/notesMasters/notesMaster1.xml" Id="Ra6a1cc8b11e347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ee35daa40f4cdf" /><Relationship Type="http://schemas.openxmlformats.org/officeDocument/2006/relationships/notesMaster" Target="/ppt/notesMasters/notesMaster1.xml" Id="Rbcb3b5e5927845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15 seconds. We are Tech Squad. Our product is CryptIQ. A small business should be able to see a concrete data-protection problem, review a repair, and see evidence that the repair worked. The demonstration uses only synthetic customers. Team member names were not supplied. Do not invent them. Source: core/demo-shop/seed.py and docs/PUBLIC_DEMO.md.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Chennai Organics is a deliberately vulnerable fictional shop. This is an example of a risk, not a claim that every small shop has these defects. Its before configuration uses MD5, readable contact fields, a hardcoded fake payment secret and deliberately small RSA for fake IDs. The browser appearance does not establish secure storage. Sources: core/demo-shop/src_before and core/api/engine/simple_rules.py. Do not claim a breach of a real business.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Separate engineering validation from market validation. The repository records a public HTTPS browser journey that checked signup notification, selected-account password recovery, repair, reattack, four verification checks and PDF download. No customer interviews, paying customers or measured retention were supplied. Proposed discovery: interview 10 owners and 3 IT/audit partners, then recruit 5 consenting pilot businesses. These are targets, not completed interviews. Sources: docs/STATUS.md, core/web/tests/public-demo.spec.ts, core/web/src/pages/PartnerConsole.tsx or current partner component.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The owner view gives plain-language findings. The developer view exposes file locations and algorithm details. Hacker opens a separate tab and receives shop events. The partner console is a separate read-only experience. Individual fix cards select changes for review, but the backend currently applies four dependent repairs atomically. It does not independently apply one of four. The candidate score comes from rules. Publication waits for all verification gates. Sources: core/web/src/pages/FixWorkflow.tsx, core/api/engine/score.py, docs/PUBLIC_DEMO.md.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45 seconds in the pitch to explain the sequence. Run a separate 3–5 minute live demonstration if permitted. PREPARATION: keep the presenter PC awake, backend and Cloudflare tunnel running. Share the complete private access link from core/.runtime/public-demo-link.txt. Reviewers share one database. Reset only when no job is running. MAIN TAB: home, show Free/Starter/Business prices, select Business, select Chennai Organics, consent and save project, then scan. Show score 38 and readable findings. HACKER TAB: open using the navigation link, keep it open. SHOP: register a fictional name, unused phone number and prosculpt123. Never enter a real reused password. HACKER: click the top-right signup alert to select that account and run the recommended password attempt. Explain that this is a real bounded dictionary test with 25 candidates. FIXES: show 0/4, review the bundle and apply all. One progress bar follows migrated rows. Wait for successful commit and 4/4. HACKER: retry the same account, which no longer yields the password under the database-only model. Optionally register again with a new phone and the same test password, then test that account. VERIFICATION: after the final shop action, run all four checks: rescan, reattack, browser login/cart/checkout, new-account storage. Show 91 and download PDF. Any subsequent signup/order changes the evidence and requires verification again. PARTNER: show Northstar Security Advisory, the live Chennai score and the clearly labelled sample portfolio. Explain read-only access and separate partner subscription. Source: docs/PUBLIC_DEMO.md and core/web/tests/public-demo.spec.ts. Transaction attacks are scripted demonstrations, not evidence of a payment exploit. Do not present preview tools as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System flow: React dashboard sends scan/fix/verify requests to FastAPI. FastAPI invokes engine/pipeline.py and simple_rules.py, reads the demo SQLite sample, and stores revision-bound results. Flask serves the shop and writes signup/login/order events. Hacker polls activity, selects an account and asks the API to attempt the controlled dictionary test. The public gateway serves React at /, shop at /shop/ and API at /api/. Four browser experiences do not imply four production deployments. Eight rules: weak password hashing, plaintext contact storage, hardcoded payment secret, insecure cookie flag, RSA storage, disabled access logging, absent retention document and absent security contact. Source rules use Python AST and a small set of known patterns. They do not offer whole-program data-flow analysis, dependency CVE coverage or comprehensive penetration testing. Storage checks sample the first 100 rows and separately count customers. ZIP limits: 20 MB archive, 100 MB expanded, 2,000 files. Website-only input is preview, not an implemented deep URL scan. Score = max(0, 100 - 15*critical - 7*high - 3*medium - low). Before: 3 critical, 2 high, 3 low = 38. Remaining manual findings leave 91 after repairs. Sources: core/api/engine/pipeline.py, simple_rules.py, score.py, project upload handlers and docs/PUBLIC_DEMO.md.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Evidence baseline is commit e56d9eb, which records connected public-demo repairs and PDF export. Original here means repository-specific integration, not invention of Argon2id, AES, ML-KEM or static analysis. Hash Patch is the team's earlier project referenced by the original plan. PRE_EXISTING.md remains a pending reuse disclosure, the vendor integration is absent, and T02/T09 remain deferred. Do not claim Hash Patch code powers the live scanner. Dependencies pinned locally: React 18.3.1, FastAPI 0.127.0, Flask 3.0.3, argon2-cffi 25.1.0, cryptography 50.0.2 and kyber-py 1.2.0. Playwright/Chromium drives browser verification and PDF rendering. Standard library AST, SQLite, hashlib and hmac support scanning and storage. CycloneDX 1.6 is the inventory format, not a vulnerability database. Synthetic data is generated locally, not a sourced real-customer dataset. The 25 candidates are an embedded demonstration list, not RockYou or a comprehensive password corpus. Sources: core/web/package.json, core/api/requirements.txt, core/demo-shop/requirements.txt, core/demo-shop/seed.py, core/api/attacks/dictionary.py, PRE_EXISTING.md. Standard reference: https://cyclonedx.org/capabilities/cbom/. Educational library source: https://github.com/GiacomoPope/kyber-py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Before, unsalted MD5 permits matching one of 25 dictionary guesses. After, HMAC-SHA256 with a random 32-byte server-held pepper precedes Argon2id. Existing accounts wrap their legacy MD5 value without learning the plaintext. New accounts process their password directly. Argon2id uses time cost 2, memory 19,456 KiB and parallelism 1. The attacker receives the database, not the server secret. This does not demonstrate resistance to host compromise or online guessing. Fields use authenticated AES-GCM encryption with key protection involving ML-KEM-768. kyber-py explicitly identifies itself as educational and unsuitable for cryptographic production applications, so production replacement is necessary. The RSA demonstration factors a deliberately tiny 64-bit textbook key using classical Pollard-rho. Shor simulation language must not imply a quantum computer or broken production RSA. Transaction attack effects are scripted. Migration uses SQLite rollback and maintenance state, with bounded workers. Verification binds results to source/revision/database state. Accessibility: owner language and visible progress exist, but formal keyboard and screen-reader audit remains future work. Scale evidence covers the 3,000-row demonstration, not multi-tenant production load. Sources: core/demo-shop/src_after/auth.py, crypto_utils.py, migrate_to_after.py, core/api/verify/checks.py, core/api/attacks and https://github.com/GiacomoPope/kyber-py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Semgrep documents static analysis, software composition analysis and secrets scanning. ZAP is an open-source web app scanner. They have broader established capabilities than this prototype in their domains. We are testing a workflow distinction: owner-facing explanations, bounded attack evidence, supported repair and proof within one demonstration. Do not claim competitors cannot repair or verify. Pilot targets are proposed recruitment goals, not signed clients. Sources checked 15 October 2026: https://docs.semgrep.dev/ and https://www.zaproxy.org/ . No independent market-size research or paid traction is available in the repository. Proposed channel: local IT service firms and small-business referrals. Validate repair demand, onboarding time and support effort before extrapolating revenue.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These are the current displayed pilot prices, not validated market prices or enabled billing. All three company plans show one project. Monthly scan limits are Free 1, Starter 4, Business 12. Free locks remediation. Starter supports ZIP inspection and the bundled repair/verification workflow. Business is the recommended full presentation path including evidence. The present gates are demo/UI behavior, not secure subscription entitlements. Partner payment is separate: 1,199 includes 3 active workspaces and 500 for each additional workspace. Define active for the proposal as a client workspace enabled for tracking in that billing period. Example: 5 active workspaces cost 2,199 per month. Partner reads client health and findings, the company/developer operates repairs under its own appropriate plan. Other portfolio companies are fixtures, Chennai is live. No payment gateway, production tenant isolation or enforceable billing metering is claimed. Source: core/web/src/pages/DemoEntrance.tsx, demoSession.ts, partner view and docs/FRONTEND_PRODUCT_BRIEF.md. Proposed acquisition test: 20 qualified owner conversations, 5 pilots, track activation and paid conversion.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All numbers are planning assumptions, not actual spend, quotes, revenue or audited unit economics. Three founder responsibilities: product/frontend, API/crypto integration, QA/partner onboarding. Assume 80 hours each over 90 days at 250 rupees/hour, giving 60,000 of founder-time opportunity cost. Add 15,000 for hosting/tools, 10,000 for security review and 5,000 for outreach: total 90,000 including imputed time, with 30,000 cash outlay if founders take no salary. These estimates require supplier validation. Recurring example: 10*999 + 5*2999 = 24,985 per month. 15*200 = 3,000 variable costs. Contribution = 21,985, or 87.99% of revenue. Subtract 20,000 assumed fixed monthly cash costs = 1,985 operating surplus before founder salaries, tax, financing and amortization. Average contribution = 1,465.67/account. ceil(20,000/1,465.67) = 14 accounts at the assumed blended mix. This is recurring operating break-even, not recovery of the 90-day budget. Illustrative paid acquisition cohort: 5,000 outreach spend / 5 new paying customers = 1,000 CAC. Do not confuse this cohort with the 15-account steady-state example. No LTV can be defended without churn/retention measurements. Partner revenue excluded to avoid assuming unmeasured usage costs or double-counting customers.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Targets are proposals, dependent on pilot feedback and engineering capacity. Thirty days: persistent deployment, formal consent/onboarding, baseline performance and usability measurements. Sixty days: server-enforced plan limits, tenant isolation, authenticated roles, secret management, backup/restore and expanded scanner coverage. Ninety days: replace educational cryptographic implementation with an appropriate audited dependency, evaluate CI integration, prove safe repairs beyond our fixture and validate a paid offering. Hash Patch reuse still needs explicit authorization and provenance review. Main risks: narrow scan coverage, false confidence from a bounded test, safe migration of unfamiliar schemas, real-world support cost and education-library limits. Repo: https://github.com/shriram-s7/cryptiq . Temporary demo origin: https://usual-orbit-national-mazda.trycloudflare.com/ . Reviewers need the full access link supplied privately. The laptop, backend and tunnel must remain running. Do not publish its bearer access key in this deck or GitHub. Close by inviting the jury to inspect the live before/after workflow and the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f20436b26542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539b45e96146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ef9c1c15a449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c34513472a45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e0eca5afea48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b11e5891b840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F4C686-6D4D-441E-AF35-09A87C3AF3C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358344-364C-4033-9411-62E3F3F7ECD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7C4F3E-A2E0-4166-B7AC-9F075D9C3B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387916-EFC7-4925-A3E0-D9D7A12FEF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F412CD7-808C-4AE2-857A-F9D28AAE58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2E41C4-BC91-45C6-91FE-611A029390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6714F8-F172-4865-A556-C3A400A22D2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3E9306-7B6C-4E84-8AED-64F76F0BFF7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52363B-B47F-40C9-A6ED-1402EADDFF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EE204C-0FE7-4F86-98A2-0FBAD8ACD6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5ccdaa984e4057" /><Relationship Type="http://schemas.openxmlformats.org/officeDocument/2006/relationships/slideLayout" Target="/ppt/slideLayouts/slideLayout1.xml" Id="Rb42ef8c349e945e0" /><Relationship Type="http://schemas.openxmlformats.org/officeDocument/2006/relationships/slideLayout" Target="/ppt/slideLayouts/slideLayout2.xml" Id="R67307c885c5c46cc" /><Relationship Type="http://schemas.openxmlformats.org/officeDocument/2006/relationships/slideLayout" Target="/ppt/slideLayouts/slideLayout3.xml" Id="R6e8eb859b65a4f62" /><Relationship Type="http://schemas.openxmlformats.org/officeDocument/2006/relationships/slideLayout" Target="/ppt/slideLayouts/slideLayout4.xml" Id="R99db224f36424c66" /><Relationship Type="http://schemas.openxmlformats.org/officeDocument/2006/relationships/slideLayout" Target="/ppt/slideLayouts/slideLayout5.xml" Id="R28309463a6794c3d" /><Relationship Type="http://schemas.openxmlformats.org/officeDocument/2006/relationships/slideLayout" Target="/ppt/slideLayouts/slideLayout6.xml" Id="Raa2bf1810b8b44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2ef8c349e945e0"/>
    <p:sldLayoutId xmlns:r="http://schemas.openxmlformats.org/officeDocument/2006/relationships" id="2147483650" r:id="R67307c885c5c46cc"/>
    <p:sldLayoutId xmlns:r="http://schemas.openxmlformats.org/officeDocument/2006/relationships" id="2147483651" r:id="R6e8eb859b65a4f62"/>
    <p:sldLayoutId xmlns:r="http://schemas.openxmlformats.org/officeDocument/2006/relationships" id="2147483652" r:id="R99db224f36424c66"/>
    <p:sldLayoutId xmlns:r="http://schemas.openxmlformats.org/officeDocument/2006/relationships" id="2147483653" r:id="R28309463a6794c3d"/>
    <p:sldLayoutId xmlns:r="http://schemas.openxmlformats.org/officeDocument/2006/relationships" id="2147483654" r:id="Raa2bf1810b8b44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180f26baf024ecd" /><Relationship Type="http://schemas.openxmlformats.org/officeDocument/2006/relationships/image" Target="/ppt/media/image.png" Id="R344a229291bb4b3f" /><Relationship Type="http://schemas.openxmlformats.org/officeDocument/2006/relationships/notesSlide" Target="/ppt/notesSlides/notesSlide1.xml" Id="R7f8124b26ff14f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1c3e0360b34798" /><Relationship Type="http://schemas.openxmlformats.org/officeDocument/2006/relationships/image" Target="/ppt/media/image2.png" Id="R70dfb923feb0431e" /><Relationship Type="http://schemas.openxmlformats.org/officeDocument/2006/relationships/notesSlide" Target="/ppt/notesSlides/notesSlide2.xml" Id="R24b0d4c0ca9d49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b8796ccb6f4f4e" /><Relationship Type="http://schemas.openxmlformats.org/officeDocument/2006/relationships/image" Target="/ppt/media/image3.png" Id="R6e9ca521fe994a11" /><Relationship Type="http://schemas.openxmlformats.org/officeDocument/2006/relationships/notesSlide" Target="/ppt/notesSlides/notesSlide3.xml" Id="R3ef8832695624e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9d44da471974090" /><Relationship Type="http://schemas.openxmlformats.org/officeDocument/2006/relationships/notesSlide" Target="/ppt/notesSlides/notesSlide4.xml" Id="Rc7d0419971ab40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8f198ad18d4275" /><Relationship Type="http://schemas.openxmlformats.org/officeDocument/2006/relationships/image" Target="/ppt/media/image4.png" Id="Rd0051583dcb8431a" /><Relationship Type="http://schemas.openxmlformats.org/officeDocument/2006/relationships/notesSlide" Target="/ppt/notesSlides/notesSlide5.xml" Id="Rf88e7e8db24842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a8168d4dadf40e5" /><Relationship Type="http://schemas.openxmlformats.org/officeDocument/2006/relationships/notesSlide" Target="/ppt/notesSlides/notesSlide6.xml" Id="R04336d6296cb41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8ebb5734e04452d" /><Relationship Type="http://schemas.openxmlformats.org/officeDocument/2006/relationships/notesSlide" Target="/ppt/notesSlides/notesSlide7.xml" Id="Rc47665a50a734e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9c88a2bb1da4a0d" /><Relationship Type="http://schemas.openxmlformats.org/officeDocument/2006/relationships/notesSlide" Target="/ppt/notesSlides/notesSlide8.xml" Id="R30780f85848444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804b9af7805400c" /><Relationship Type="http://schemas.openxmlformats.org/officeDocument/2006/relationships/notesSlide" Target="/ppt/notesSlides/notesSlide9.xml" Id="R07e54084f17643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cf6c10833024ff4" /><Relationship Type="http://schemas.openxmlformats.org/officeDocument/2006/relationships/notesSlide" Target="/ppt/notesSlides/notesSlide10.xml" Id="R2f818b6963af47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d9514690ac3437f" /><Relationship Type="http://schemas.openxmlformats.org/officeDocument/2006/relationships/notesSlide" Target="/ppt/notesSlides/notesSlide11.xml" Id="R5bbe11658e784612" /></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6.xml" Id="Rf0635da411ec40bf" /><ns0:Relationship Type="http://schemas.openxmlformats.org/officeDocument/2006/relationships/notesSlide" Target="/ppt/notesSlides/notesSlide12.xml" Id="R60e6784a48b442c8" /><ns0:Relationship Id="rIdCryptIQLink0" Type="http://schemas.openxmlformats.org/officeDocument/2006/relationships/hyperlink" Target="https://usual-orbit-national-mazda.trycloudflare.com/" TargetMode="External" /><ns0:Relationship Id="rIdCryptIQLink1" Type="http://schemas.openxmlformats.org/officeDocument/2006/relationships/hyperlink" Target="https://github.com/shriram-s7/cryptiq" TargetMode="External" /></ns0:Relationships>
</file>

<file path=ppt/slides/slide1.xml><?xml version="1.0" encoding="utf-8"?>
<p:sld xmlns:p="http://schemas.openxmlformats.org/presentationml/2006/main">
  <p:cSld>
    <p:bg>
      <p:bgPr>
        <a:solidFill xmlns:a="http://schemas.openxmlformats.org/drawingml/2006/main">
          <a:srgbClr val="10263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0A9E6E-6688-4CE0-901E-C41F522B5B8E}"/>
              </a:ext>
            </a:extLst>
          </p:cNvPr>
          <p:cNvSpPr>
            <a:spLocks xmlns:a="http://schemas.openxmlformats.org/drawingml/2006/main" noGrp="1"/>
          </p:cNvSpPr>
          <p:nvPr/>
        </p:nvSpPr>
        <p:spPr>
          <a:xfrm xmlns:a="http://schemas.openxmlformats.org/drawingml/2006/main">
            <a:off x="5715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AFBBC5"/>
                </a:solidFill>
              </a:defRPr>
            </a:defPPr>
          </a:lstStyle>
          <a:p xmlns:a="http://schemas.openxmlformats.org/drawingml/2006/main">
            <a:pPr>
              <a:defRPr sz="1050" b="1">
                <a:solidFill>
                  <a:srgbClr val="AFBBC5"/>
                </a:solidFill>
              </a:defRPr>
            </a:pPr>
            <a:r>
              <a:rPr sz="1050" b="1">
                <a:solidFill>
                  <a:srgbClr val="AFBBC5"/>
                </a:solidFill>
              </a:rPr>
              <a:t>TECH SQUAD    /    CRYPTIQ</a:t>
            </a:r>
          </a:p>
        </p:txBody>
      </p:sp>
      <p:sp>
        <p:nvSpPr>
          <p:cNvPr id="2" name="">
            <a:extLst xmlns:a="http://schemas.openxmlformats.org/drawingml/2006/main">
              <a:ext uri="{FF2B5EF4-FFF2-40B4-BE49-F238E27FC236}">
                <a16:creationId xmlns:a16="http://schemas.microsoft.com/office/drawing/2014/main" id="{91C1FD75-8713-45DD-8A7B-0698B8D4F502}"/>
              </a:ext>
            </a:extLst>
          </p:cNvPr>
          <p:cNvSpPr>
            <a:spLocks xmlns:a="http://schemas.openxmlformats.org/drawingml/2006/main" noGrp="1"/>
          </p:cNvSpPr>
          <p:nvPr/>
        </p:nvSpPr>
        <p:spPr>
          <a:xfrm xmlns:a="http://schemas.openxmlformats.org/drawingml/2006/main">
            <a:off x="571500" y="8191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FFFF"/>
                </a:solidFill>
              </a:defRPr>
            </a:defPPr>
          </a:lstStyle>
          <a:p xmlns:a="http://schemas.openxmlformats.org/drawingml/2006/main">
            <a:pPr>
              <a:defRPr sz="3300" b="1">
                <a:solidFill>
                  <a:srgbClr val="FFFFFF"/>
                </a:solidFill>
              </a:defRPr>
            </a:pPr>
            <a:r>
              <a:rPr sz="3300" b="1">
                <a:solidFill>
                  <a:srgbClr val="FFFFFF"/>
                </a:solidFill>
              </a:rPr>
              <a:t>CryptIQ</a:t>
            </a:r>
          </a:p>
        </p:txBody>
      </p:sp>
      <p:sp>
        <p:nvSpPr>
          <p:cNvPr id="3" name="">
            <a:extLst xmlns:a="http://schemas.openxmlformats.org/drawingml/2006/main">
              <a:ext uri="{FF2B5EF4-FFF2-40B4-BE49-F238E27FC236}">
                <a16:creationId xmlns:a16="http://schemas.microsoft.com/office/drawing/2014/main" id="{CF7CD3FB-4E3E-497B-B6C5-5A1420943851}"/>
              </a:ext>
            </a:extLst>
          </p:cNvPr>
          <p:cNvSpPr>
            <a:spLocks xmlns:a="http://schemas.openxmlformats.org/drawingml/2006/main" noGrp="1"/>
          </p:cNvSpPr>
          <p:nvPr/>
        </p:nvSpPr>
        <p:spPr>
          <a:xfrm xmlns:a="http://schemas.openxmlformats.org/drawingml/2006/main">
            <a:off x="10668000" y="64389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AFBBC5"/>
                </a:solidFill>
              </a:defRPr>
            </a:defPPr>
          </a:lstStyle>
          <a:p xmlns:a="http://schemas.openxmlformats.org/drawingml/2006/main">
            <a:pPr>
              <a:defRPr sz="1050" b="0">
                <a:solidFill>
                  <a:srgbClr val="AFBBC5"/>
                </a:solidFill>
              </a:defRPr>
            </a:pPr>
            <a:r>
              <a:rPr sz="1050" b="0">
                <a:solidFill>
                  <a:srgbClr val="AFBBC5"/>
                </a:solidFill>
              </a:rPr>
              <a:t>01 / 12</a:t>
            </a:r>
          </a:p>
        </p:txBody>
      </p:sp>
      <p:sp>
        <p:nvSpPr>
          <p:cNvPr id="4" name="">
            <a:extLst xmlns:a="http://schemas.openxmlformats.org/drawingml/2006/main">
              <a:ext uri="{FF2B5EF4-FFF2-40B4-BE49-F238E27FC236}">
                <a16:creationId xmlns:a16="http://schemas.microsoft.com/office/drawing/2014/main" id="{438D38DE-583D-472A-A6C0-575F62DCC7A5}"/>
              </a:ext>
            </a:extLst>
          </p:cNvPr>
          <p:cNvSpPr>
            <a:spLocks xmlns:a="http://schemas.openxmlformats.org/drawingml/2006/main" noGrp="1"/>
          </p:cNvSpPr>
          <p:nvPr/>
        </p:nvSpPr>
        <p:spPr>
          <a:xfrm xmlns:a="http://schemas.openxmlformats.org/drawingml/2006/main">
            <a:off x="571500" y="2190750"/>
            <a:ext cx="4476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0">
                <a:solidFill>
                  <a:srgbClr val="FFFFFF"/>
                </a:solidFill>
              </a:defRPr>
            </a:defPPr>
          </a:lstStyle>
          <a:p xmlns:a="http://schemas.openxmlformats.org/drawingml/2006/main">
            <a:pPr>
              <a:defRPr sz="3150" b="0">
                <a:solidFill>
                  <a:srgbClr val="FFFFFF"/>
                </a:solidFill>
              </a:defRPr>
            </a:pPr>
            <a:r>
              <a:rPr sz="3150" b="0">
                <a:solidFill>
                  <a:srgbClr val="FFFFFF"/>
                </a:solidFill>
              </a:rPr>
              <a:t>Security you can</a:t>
            </a:r>
          </a:p>
          <a:p xmlns:a="http://schemas.openxmlformats.org/drawingml/2006/main">
            <a:pPr>
              <a:defRPr sz="3150" b="0">
                <a:solidFill>
                  <a:srgbClr val="FFFFFF"/>
                </a:solidFill>
              </a:defRPr>
            </a:pPr>
            <a:r>
              <a:rPr sz="3150" b="0">
                <a:solidFill>
                  <a:srgbClr val="FFFFFF"/>
                </a:solidFill>
              </a:rPr>
              <a:t>explain. Repairs you</a:t>
            </a:r>
          </a:p>
          <a:p xmlns:a="http://schemas.openxmlformats.org/drawingml/2006/main">
            <a:pPr>
              <a:defRPr sz="3150" b="0">
                <a:solidFill>
                  <a:srgbClr val="FFFFFF"/>
                </a:solidFill>
              </a:defRPr>
            </a:pPr>
            <a:r>
              <a:rPr sz="3150" b="0">
                <a:solidFill>
                  <a:srgbClr val="FFFFFF"/>
                </a:solidFill>
              </a:rPr>
              <a:t>can verify.</a:t>
            </a:r>
          </a:p>
        </p:txBody>
      </p:sp>
      <p:pic>
        <p:nvPicPr>
          <p:cNvPr id="5" name="">
            <a:extLst xmlns:a="http://schemas.openxmlformats.org/drawingml/2006/main">
              <a:ext uri="{FF2B5EF4-FFF2-40B4-BE49-F238E27FC236}">
                <a16:creationId xmlns:a16="http://schemas.microsoft.com/office/drawing/2014/main" id="{24103656-2CBC-4367-B9E7-24E922266C1B}"/>
              </a:ext>
            </a:extLst>
          </p:cNvPr>
          <p:cNvPicPr>
            <a:picLocks xmlns:a="http://schemas.openxmlformats.org/drawingml/2006/main" noChangeAspect="1"/>
          </p:cNvPicPr>
          <p:nvPr/>
        </p:nvPicPr>
        <p:blipFill>
          <a:blip xmlns:r="http://schemas.openxmlformats.org/officeDocument/2006/relationships" xmlns:a="http://schemas.openxmlformats.org/drawingml/2006/main" r:embed="R344a229291bb4b3f"/>
          <a:stretch xmlns:a="http://schemas.openxmlformats.org/drawingml/2006/main"/>
        </p:blipFill>
        <p:spPr>
          <a:xfrm xmlns:a="http://schemas.openxmlformats.org/drawingml/2006/main">
            <a:off x="5477827" y="1933575"/>
            <a:ext cx="6141720" cy="38385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74546D8-31F4-4679-8D59-5E5554914BCA}"/>
              </a:ext>
            </a:extLst>
          </p:cNvPr>
          <p:cNvSpPr>
            <a:spLocks xmlns:a="http://schemas.openxmlformats.org/drawingml/2006/main" noGrp="1"/>
          </p:cNvSpPr>
          <p:nvPr/>
        </p:nvSpPr>
        <p:spPr>
          <a:xfrm xmlns:a="http://schemas.openxmlformats.org/drawingml/2006/main">
            <a:off x="571500" y="57150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C1CDD7"/>
                </a:solidFill>
              </a:defRPr>
            </a:defPPr>
          </a:lstStyle>
          <a:p xmlns:a="http://schemas.openxmlformats.org/drawingml/2006/main">
            <a:pPr>
              <a:defRPr sz="1725" b="0">
                <a:solidFill>
                  <a:srgbClr val="C1CDD7"/>
                </a:solidFill>
              </a:defRPr>
            </a:pPr>
            <a:r>
              <a:rPr sz="1725" b="0">
                <a:solidFill>
                  <a:srgbClr val="C1CDD7"/>
                </a:solidFill>
              </a:rPr>
              <a:t>A working small-business security prototype</a:t>
            </a:r>
          </a:p>
        </p:txBody>
      </p:sp>
      <p:sp>
        <p:nvSpPr>
          <p:cNvPr id="7" name="">
            <a:extLst xmlns:a="http://schemas.openxmlformats.org/drawingml/2006/main">
              <a:ext uri="{FF2B5EF4-FFF2-40B4-BE49-F238E27FC236}">
                <a16:creationId xmlns:a16="http://schemas.microsoft.com/office/drawing/2014/main" id="{130E278C-F912-460A-85B7-73469ABDEE13}"/>
              </a:ext>
            </a:extLst>
          </p:cNvPr>
          <p:cNvSpPr>
            <a:spLocks xmlns:a="http://schemas.openxmlformats.org/drawingml/2006/main" noGrp="1"/>
          </p:cNvSpPr>
          <p:nvPr/>
        </p:nvSpPr>
        <p:spPr>
          <a:xfrm xmlns:a="http://schemas.openxmlformats.org/drawingml/2006/main">
            <a:off x="571500" y="1457325"/>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A7BCD1"/>
                </a:solidFill>
              </a:defRPr>
            </a:defPPr>
          </a:lstStyle>
          <a:p xmlns:a="http://schemas.openxmlformats.org/drawingml/2006/main">
            <a:pPr>
              <a:defRPr sz="1050" b="1">
                <a:solidFill>
                  <a:srgbClr val="A7BCD1"/>
                </a:solidFill>
              </a:defRPr>
            </a:pPr>
            <a:r>
              <a:rPr sz="1050" b="1">
                <a:solidFill>
                  <a:srgbClr val="A7BCD1"/>
                </a:solidFill>
              </a:rPr>
              <a:t>01  TEAM &amp; BIG IDEA</a:t>
            </a:r>
          </a:p>
        </p:txBody>
      </p:sp>
    </p:spTree>
    <p:extLst>
      <p:ext uri="{BB962C8B-B14F-4D97-AF65-F5344CB8AC3E}">
        <p14:creationId xmlns:p14="http://schemas.microsoft.com/office/powerpoint/2010/main" val="1156875476"/>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31F6DA-7914-4E88-924E-AC31961B44DF}"/>
              </a:ext>
            </a:extLst>
          </p:cNvPr>
          <p:cNvSpPr>
            <a:spLocks xmlns:a="http://schemas.openxmlformats.org/drawingml/2006/main" noGrp="1"/>
          </p:cNvSpPr>
          <p:nvPr/>
        </p:nvSpPr>
        <p:spPr>
          <a:xfrm xmlns:a="http://schemas.openxmlformats.org/drawingml/2006/main">
            <a:off x="5715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36575"/>
                </a:solidFill>
              </a:defRPr>
            </a:defPPr>
          </a:lstStyle>
          <a:p xmlns:a="http://schemas.openxmlformats.org/drawingml/2006/main">
            <a:pPr>
              <a:defRPr sz="1050" b="1">
                <a:solidFill>
                  <a:srgbClr val="536575"/>
                </a:solidFill>
              </a:defRPr>
            </a:pPr>
            <a:r>
              <a:rPr sz="1050" b="1">
                <a:solidFill>
                  <a:srgbClr val="536575"/>
                </a:solidFill>
              </a:rPr>
              <a:t>TECH SQUAD    /    CRYPTIQ</a:t>
            </a:r>
          </a:p>
        </p:txBody>
      </p:sp>
      <p:sp>
        <p:nvSpPr>
          <p:cNvPr id="2" name="">
            <a:extLst xmlns:a="http://schemas.openxmlformats.org/drawingml/2006/main">
              <a:ext uri="{FF2B5EF4-FFF2-40B4-BE49-F238E27FC236}">
                <a16:creationId xmlns:a16="http://schemas.microsoft.com/office/drawing/2014/main" id="{29C952E6-68CC-4DCF-B799-975CDC40351B}"/>
              </a:ext>
            </a:extLst>
          </p:cNvPr>
          <p:cNvSpPr>
            <a:spLocks xmlns:a="http://schemas.openxmlformats.org/drawingml/2006/main" noGrp="1"/>
          </p:cNvSpPr>
          <p:nvPr/>
        </p:nvSpPr>
        <p:spPr>
          <a:xfrm xmlns:a="http://schemas.openxmlformats.org/drawingml/2006/main">
            <a:off x="571500" y="8191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638"/>
                </a:solidFill>
              </a:defRPr>
            </a:defPPr>
          </a:lstStyle>
          <a:p xmlns:a="http://schemas.openxmlformats.org/drawingml/2006/main">
            <a:pPr>
              <a:defRPr sz="3300" b="1">
                <a:solidFill>
                  <a:srgbClr val="102638"/>
                </a:solidFill>
              </a:defRPr>
            </a:pPr>
            <a:r>
              <a:rPr sz="3300" b="1">
                <a:solidFill>
                  <a:srgbClr val="102638"/>
                </a:solidFill>
              </a:rPr>
              <a:t>02  The storefront hides the storage risk</a:t>
            </a:r>
          </a:p>
        </p:txBody>
      </p:sp>
      <p:sp>
        <p:nvSpPr>
          <p:cNvPr id="3" name="">
            <a:extLst xmlns:a="http://schemas.openxmlformats.org/drawingml/2006/main">
              <a:ext uri="{FF2B5EF4-FFF2-40B4-BE49-F238E27FC236}">
                <a16:creationId xmlns:a16="http://schemas.microsoft.com/office/drawing/2014/main" id="{5640273C-3A7C-47D0-A36D-33E8818566D6}"/>
              </a:ext>
            </a:extLst>
          </p:cNvPr>
          <p:cNvSpPr>
            <a:spLocks xmlns:a="http://schemas.openxmlformats.org/drawingml/2006/main" noGrp="1"/>
          </p:cNvSpPr>
          <p:nvPr/>
        </p:nvSpPr>
        <p:spPr>
          <a:xfrm xmlns:a="http://schemas.openxmlformats.org/drawingml/2006/main">
            <a:off x="10668000" y="64389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575"/>
                </a:solidFill>
              </a:defRPr>
            </a:defPPr>
          </a:lstStyle>
          <a:p xmlns:a="http://schemas.openxmlformats.org/drawingml/2006/main">
            <a:pPr>
              <a:defRPr sz="1050" b="0">
                <a:solidFill>
                  <a:srgbClr val="536575"/>
                </a:solidFill>
              </a:defRPr>
            </a:pPr>
            <a:r>
              <a:rPr sz="1050" b="0">
                <a:solidFill>
                  <a:srgbClr val="536575"/>
                </a:solidFill>
              </a:rPr>
              <a:t>02 / 12</a:t>
            </a:r>
          </a:p>
        </p:txBody>
      </p:sp>
      <p:pic>
        <p:nvPicPr>
          <p:cNvPr id="4" name="">
            <a:extLst xmlns:a="http://schemas.openxmlformats.org/drawingml/2006/main">
              <a:ext uri="{FF2B5EF4-FFF2-40B4-BE49-F238E27FC236}">
                <a16:creationId xmlns:a16="http://schemas.microsoft.com/office/drawing/2014/main" id="{4DBEFA3A-CA4F-4185-967F-6BA25E8DB77C}"/>
              </a:ext>
            </a:extLst>
          </p:cNvPr>
          <p:cNvPicPr>
            <a:picLocks xmlns:a="http://schemas.openxmlformats.org/drawingml/2006/main" noChangeAspect="1"/>
          </p:cNvPicPr>
          <p:nvPr/>
        </p:nvPicPr>
        <p:blipFill>
          <a:blip xmlns:r="http://schemas.openxmlformats.org/officeDocument/2006/relationships" xmlns:a="http://schemas.openxmlformats.org/drawingml/2006/main" r:embed="R70dfb923feb0431e"/>
          <a:stretch xmlns:a="http://schemas.openxmlformats.org/drawingml/2006/main"/>
        </p:blipFill>
        <p:spPr>
          <a:xfrm xmlns:a="http://schemas.openxmlformats.org/drawingml/2006/main">
            <a:off x="571500" y="1954411"/>
            <a:ext cx="7096125" cy="443507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114EA0B-E895-4B77-B044-D350216C79FB}"/>
              </a:ext>
            </a:extLst>
          </p:cNvPr>
          <p:cNvSpPr>
            <a:spLocks xmlns:a="http://schemas.openxmlformats.org/drawingml/2006/main" noGrp="1"/>
          </p:cNvSpPr>
          <p:nvPr/>
        </p:nvSpPr>
        <p:spPr>
          <a:xfrm xmlns:a="http://schemas.openxmlformats.org/drawingml/2006/main">
            <a:off x="8210550" y="2047875"/>
            <a:ext cx="285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800" b="1">
                <a:solidFill>
                  <a:srgbClr val="B34049"/>
                </a:solidFill>
              </a:defRPr>
            </a:defPPr>
          </a:lstStyle>
          <a:p xmlns:a="http://schemas.openxmlformats.org/drawingml/2006/main">
            <a:pPr>
              <a:defRPr sz="7800" b="1">
                <a:solidFill>
                  <a:srgbClr val="B34049"/>
                </a:solidFill>
              </a:defRPr>
            </a:pPr>
            <a:r>
              <a:rPr sz="7800" b="1">
                <a:solidFill>
                  <a:srgbClr val="B34049"/>
                </a:solidFill>
              </a:rPr>
              <a:t>38</a:t>
            </a:r>
          </a:p>
        </p:txBody>
      </p:sp>
      <p:sp>
        <p:nvSpPr>
          <p:cNvPr id="6" name="">
            <a:extLst xmlns:a="http://schemas.openxmlformats.org/drawingml/2006/main">
              <a:ext uri="{FF2B5EF4-FFF2-40B4-BE49-F238E27FC236}">
                <a16:creationId xmlns:a16="http://schemas.microsoft.com/office/drawing/2014/main" id="{8F7B9FE1-5F9B-4FEA-AB7B-95ACB81CB26E}"/>
              </a:ext>
            </a:extLst>
          </p:cNvPr>
          <p:cNvSpPr>
            <a:spLocks xmlns:a="http://schemas.openxmlformats.org/drawingml/2006/main" noGrp="1"/>
          </p:cNvSpPr>
          <p:nvPr/>
        </p:nvSpPr>
        <p:spPr>
          <a:xfrm xmlns:a="http://schemas.openxmlformats.org/drawingml/2006/main">
            <a:off x="8248650" y="319087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36575"/>
                </a:solidFill>
              </a:defRPr>
            </a:defPPr>
          </a:lstStyle>
          <a:p xmlns:a="http://schemas.openxmlformats.org/drawingml/2006/main">
            <a:pPr>
              <a:defRPr sz="1650" b="0">
                <a:solidFill>
                  <a:srgbClr val="536575"/>
                </a:solidFill>
              </a:defRPr>
            </a:pPr>
            <a:r>
              <a:rPr sz="1650" b="0">
                <a:solidFill>
                  <a:srgbClr val="536575"/>
                </a:solidFill>
              </a:rPr>
              <a:t>Baseline demo score / 100</a:t>
            </a:r>
          </a:p>
        </p:txBody>
      </p:sp>
      <p:sp>
        <p:nvSpPr>
          <p:cNvPr id="7" name="">
            <a:extLst xmlns:a="http://schemas.openxmlformats.org/drawingml/2006/main">
              <a:ext uri="{FF2B5EF4-FFF2-40B4-BE49-F238E27FC236}">
                <a16:creationId xmlns:a16="http://schemas.microsoft.com/office/drawing/2014/main" id="{D3277508-6086-460F-80B5-9B2EF569CADE}"/>
              </a:ext>
            </a:extLst>
          </p:cNvPr>
          <p:cNvSpPr>
            <a:spLocks xmlns:a="http://schemas.openxmlformats.org/drawingml/2006/main" noGrp="1"/>
          </p:cNvSpPr>
          <p:nvPr/>
        </p:nvSpPr>
        <p:spPr>
          <a:xfrm xmlns:a="http://schemas.openxmlformats.org/drawingml/2006/main">
            <a:off x="8248650" y="40005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638"/>
                </a:solidFill>
              </a:defRPr>
            </a:defPPr>
          </a:lstStyle>
          <a:p xmlns:a="http://schemas.openxmlformats.org/drawingml/2006/main">
            <a:pPr>
              <a:defRPr sz="1875" b="0">
                <a:solidFill>
                  <a:srgbClr val="102638"/>
                </a:solidFill>
              </a:defRPr>
            </a:pPr>
            <a:r>
              <a:rPr sz="1875" b="0">
                <a:solidFill>
                  <a:srgbClr val="102638"/>
                </a:solidFill>
              </a:rPr>
              <a:t>Weak password hashes</a:t>
            </a:r>
          </a:p>
          <a:p xmlns:a="http://schemas.openxmlformats.org/drawingml/2006/main">
            <a:pPr>
              <a:defRPr sz="1875" b="0">
                <a:solidFill>
                  <a:srgbClr val="102638"/>
                </a:solidFill>
              </a:defRPr>
            </a:pPr>
            <a:r>
              <a:rPr sz="1875" b="0">
                <a:solidFill>
                  <a:srgbClr val="102638"/>
                </a:solidFill>
              </a:rPr>
              <a:t>Readable contact details</a:t>
            </a:r>
          </a:p>
          <a:p xmlns:a="http://schemas.openxmlformats.org/drawingml/2006/main">
            <a:pPr>
              <a:defRPr sz="1875" b="0">
                <a:solidFill>
                  <a:srgbClr val="102638"/>
                </a:solidFill>
              </a:defRPr>
            </a:pPr>
            <a:r>
              <a:rPr sz="1875" b="0">
                <a:solidFill>
                  <a:srgbClr val="102638"/>
                </a:solidFill>
              </a:rPr>
              <a:t>A secret embedded in code</a:t>
            </a:r>
          </a:p>
        </p:txBody>
      </p:sp>
      <p:sp>
        <p:nvSpPr>
          <p:cNvPr id="8" name="">
            <a:extLst xmlns:a="http://schemas.openxmlformats.org/drawingml/2006/main">
              <a:ext uri="{FF2B5EF4-FFF2-40B4-BE49-F238E27FC236}">
                <a16:creationId xmlns:a16="http://schemas.microsoft.com/office/drawing/2014/main" id="{5125FB9C-8145-45EA-A294-A3E8A5A76384}"/>
              </a:ext>
            </a:extLst>
          </p:cNvPr>
          <p:cNvSpPr>
            <a:spLocks xmlns:a="http://schemas.openxmlformats.org/drawingml/2006/main" noGrp="1"/>
          </p:cNvSpPr>
          <p:nvPr/>
        </p:nvSpPr>
        <p:spPr>
          <a:xfrm xmlns:a="http://schemas.openxmlformats.org/drawingml/2006/main">
            <a:off x="8248650" y="56102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6575"/>
                </a:solidFill>
              </a:defRPr>
            </a:defPPr>
          </a:lstStyle>
          <a:p xmlns:a="http://schemas.openxmlformats.org/drawingml/2006/main">
            <a:pPr>
              <a:defRPr sz="1500" b="0">
                <a:solidFill>
                  <a:srgbClr val="536575"/>
                </a:solidFill>
              </a:defRPr>
            </a:pPr>
            <a:r>
              <a:rPr sz="1500" b="0">
                <a:solidFill>
                  <a:srgbClr val="536575"/>
                </a:solidFill>
              </a:rPr>
              <a:t>3,000 synthetic customers.</a:t>
            </a:r>
          </a:p>
          <a:p xmlns:a="http://schemas.openxmlformats.org/drawingml/2006/main">
            <a:pPr>
              <a:defRPr sz="1500" b="0">
                <a:solidFill>
                  <a:srgbClr val="536575"/>
                </a:solidFill>
              </a:defRPr>
            </a:pPr>
            <a:r>
              <a:rPr sz="1500" b="0">
                <a:solidFill>
                  <a:srgbClr val="536575"/>
                </a:solidFill>
              </a:rPr>
              <a:t>No real customer data.</a:t>
            </a:r>
          </a:p>
        </p:txBody>
      </p:sp>
    </p:spTree>
    <p:extLst>
      <p:ext uri="{BB962C8B-B14F-4D97-AF65-F5344CB8AC3E}">
        <p14:creationId xmlns:p14="http://schemas.microsoft.com/office/powerpoint/2010/main" val="5139021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48845F-C345-470A-BE55-5176BFD7D025}"/>
              </a:ext>
            </a:extLst>
          </p:cNvPr>
          <p:cNvSpPr>
            <a:spLocks xmlns:a="http://schemas.openxmlformats.org/drawingml/2006/main" noGrp="1"/>
          </p:cNvSpPr>
          <p:nvPr/>
        </p:nvSpPr>
        <p:spPr>
          <a:xfrm xmlns:a="http://schemas.openxmlformats.org/drawingml/2006/main">
            <a:off x="5715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36575"/>
                </a:solidFill>
              </a:defRPr>
            </a:defPPr>
          </a:lstStyle>
          <a:p xmlns:a="http://schemas.openxmlformats.org/drawingml/2006/main">
            <a:pPr>
              <a:defRPr sz="1050" b="1">
                <a:solidFill>
                  <a:srgbClr val="536575"/>
                </a:solidFill>
              </a:defRPr>
            </a:pPr>
            <a:r>
              <a:rPr sz="1050" b="1">
                <a:solidFill>
                  <a:srgbClr val="536575"/>
                </a:solidFill>
              </a:rPr>
              <a:t>TECH SQUAD    /    CRYPTIQ</a:t>
            </a:r>
          </a:p>
        </p:txBody>
      </p:sp>
      <p:sp>
        <p:nvSpPr>
          <p:cNvPr id="2" name="">
            <a:extLst xmlns:a="http://schemas.openxmlformats.org/drawingml/2006/main">
              <a:ext uri="{FF2B5EF4-FFF2-40B4-BE49-F238E27FC236}">
                <a16:creationId xmlns:a16="http://schemas.microsoft.com/office/drawing/2014/main" id="{A981448D-B4AE-49FE-AF6D-62BFF5BB124B}"/>
              </a:ext>
            </a:extLst>
          </p:cNvPr>
          <p:cNvSpPr>
            <a:spLocks xmlns:a="http://schemas.openxmlformats.org/drawingml/2006/main" noGrp="1"/>
          </p:cNvSpPr>
          <p:nvPr/>
        </p:nvSpPr>
        <p:spPr>
          <a:xfrm xmlns:a="http://schemas.openxmlformats.org/drawingml/2006/main">
            <a:off x="571500" y="8191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638"/>
                </a:solidFill>
              </a:defRPr>
            </a:defPPr>
          </a:lstStyle>
          <a:p xmlns:a="http://schemas.openxmlformats.org/drawingml/2006/main">
            <a:pPr>
              <a:defRPr sz="3300" b="1">
                <a:solidFill>
                  <a:srgbClr val="102638"/>
                </a:solidFill>
              </a:defRPr>
            </a:pPr>
            <a:r>
              <a:rPr sz="3300" b="1">
                <a:solidFill>
                  <a:srgbClr val="102638"/>
                </a:solidFill>
              </a:rPr>
              <a:t>03  Owners act. Partners follow progress.</a:t>
            </a:r>
          </a:p>
        </p:txBody>
      </p:sp>
      <p:sp>
        <p:nvSpPr>
          <p:cNvPr id="3" name="">
            <a:extLst xmlns:a="http://schemas.openxmlformats.org/drawingml/2006/main">
              <a:ext uri="{FF2B5EF4-FFF2-40B4-BE49-F238E27FC236}">
                <a16:creationId xmlns:a16="http://schemas.microsoft.com/office/drawing/2014/main" id="{9A2A56E2-B61A-4DDA-85CD-7B564A84F89A}"/>
              </a:ext>
            </a:extLst>
          </p:cNvPr>
          <p:cNvSpPr>
            <a:spLocks xmlns:a="http://schemas.openxmlformats.org/drawingml/2006/main" noGrp="1"/>
          </p:cNvSpPr>
          <p:nvPr/>
        </p:nvSpPr>
        <p:spPr>
          <a:xfrm xmlns:a="http://schemas.openxmlformats.org/drawingml/2006/main">
            <a:off x="10668000" y="64389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575"/>
                </a:solidFill>
              </a:defRPr>
            </a:defPPr>
          </a:lstStyle>
          <a:p xmlns:a="http://schemas.openxmlformats.org/drawingml/2006/main">
            <a:pPr>
              <a:defRPr sz="1050" b="0">
                <a:solidFill>
                  <a:srgbClr val="536575"/>
                </a:solidFill>
              </a:defRPr>
            </a:pPr>
            <a:r>
              <a:rPr sz="1050" b="0">
                <a:solidFill>
                  <a:srgbClr val="536575"/>
                </a:solidFill>
              </a:rPr>
              <a:t>03 / 12</a:t>
            </a:r>
          </a:p>
        </p:txBody>
      </p:sp>
      <p:sp>
        <p:nvSpPr>
          <p:cNvPr id="4" name="">
            <a:extLst xmlns:a="http://schemas.openxmlformats.org/drawingml/2006/main">
              <a:ext uri="{FF2B5EF4-FFF2-40B4-BE49-F238E27FC236}">
                <a16:creationId xmlns:a16="http://schemas.microsoft.com/office/drawing/2014/main" id="{B202E99A-BEE0-4C53-8A2D-724E4C089D5F}"/>
              </a:ext>
            </a:extLst>
          </p:cNvPr>
          <p:cNvSpPr>
            <a:spLocks xmlns:a="http://schemas.openxmlformats.org/drawingml/2006/main" noGrp="1"/>
          </p:cNvSpPr>
          <p:nvPr/>
        </p:nvSpPr>
        <p:spPr>
          <a:xfrm xmlns:a="http://schemas.openxmlformats.org/drawingml/2006/main">
            <a:off x="571500" y="20478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2465A0"/>
                </a:solidFill>
              </a:defRPr>
            </a:defPPr>
          </a:lstStyle>
          <a:p xmlns:a="http://schemas.openxmlformats.org/drawingml/2006/main">
            <a:pPr>
              <a:defRPr sz="1200" b="1">
                <a:solidFill>
                  <a:srgbClr val="2465A0"/>
                </a:solidFill>
              </a:defRPr>
            </a:pPr>
            <a:r>
              <a:rPr sz="1200" b="1">
                <a:solidFill>
                  <a:srgbClr val="2465A0"/>
                </a:solidFill>
              </a:rPr>
              <a:t>OWNER</a:t>
            </a:r>
          </a:p>
        </p:txBody>
      </p:sp>
      <p:sp>
        <p:nvSpPr>
          <p:cNvPr id="5" name="">
            <a:extLst xmlns:a="http://schemas.openxmlformats.org/drawingml/2006/main">
              <a:ext uri="{FF2B5EF4-FFF2-40B4-BE49-F238E27FC236}">
                <a16:creationId xmlns:a16="http://schemas.microsoft.com/office/drawing/2014/main" id="{92AB6B2F-DFF3-4AF1-B0A8-CFC9DF8239B3}"/>
              </a:ext>
            </a:extLst>
          </p:cNvPr>
          <p:cNvSpPr>
            <a:spLocks xmlns:a="http://schemas.openxmlformats.org/drawingml/2006/main" noGrp="1"/>
          </p:cNvSpPr>
          <p:nvPr/>
        </p:nvSpPr>
        <p:spPr>
          <a:xfrm xmlns:a="http://schemas.openxmlformats.org/drawingml/2006/main">
            <a:off x="571500" y="23812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638"/>
                </a:solidFill>
              </a:defRPr>
            </a:defPPr>
          </a:lstStyle>
          <a:p xmlns:a="http://schemas.openxmlformats.org/drawingml/2006/main">
            <a:pPr>
              <a:defRPr sz="2175" b="0">
                <a:solidFill>
                  <a:srgbClr val="102638"/>
                </a:solidFill>
              </a:defRPr>
            </a:pPr>
            <a:r>
              <a:rPr sz="2175" b="0">
                <a:solidFill>
                  <a:srgbClr val="102638"/>
                </a:solidFill>
              </a:rPr>
              <a:t>Understands the risk</a:t>
            </a:r>
          </a:p>
          <a:p xmlns:a="http://schemas.openxmlformats.org/drawingml/2006/main">
            <a:pPr>
              <a:defRPr sz="2175" b="0">
                <a:solidFill>
                  <a:srgbClr val="102638"/>
                </a:solidFill>
              </a:defRPr>
            </a:pPr>
            <a:r>
              <a:rPr sz="2175" b="0">
                <a:solidFill>
                  <a:srgbClr val="102638"/>
                </a:solidFill>
              </a:rPr>
              <a:t>and approves the next step.</a:t>
            </a:r>
          </a:p>
        </p:txBody>
      </p:sp>
      <p:sp>
        <p:nvSpPr>
          <p:cNvPr id="6" name="">
            <a:extLst xmlns:a="http://schemas.openxmlformats.org/drawingml/2006/main">
              <a:ext uri="{FF2B5EF4-FFF2-40B4-BE49-F238E27FC236}">
                <a16:creationId xmlns:a16="http://schemas.microsoft.com/office/drawing/2014/main" id="{98EC900D-5CFC-4BD5-A52E-EA1DE03A4873}"/>
              </a:ext>
            </a:extLst>
          </p:cNvPr>
          <p:cNvSpPr>
            <a:spLocks xmlns:a="http://schemas.openxmlformats.org/drawingml/2006/main" noGrp="1"/>
          </p:cNvSpPr>
          <p:nvPr/>
        </p:nvSpPr>
        <p:spPr>
          <a:xfrm xmlns:a="http://schemas.openxmlformats.org/drawingml/2006/main">
            <a:off x="571500" y="3524250"/>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2465A0"/>
                </a:solidFill>
              </a:defRPr>
            </a:defPPr>
          </a:lstStyle>
          <a:p xmlns:a="http://schemas.openxmlformats.org/drawingml/2006/main">
            <a:pPr>
              <a:defRPr sz="1200" b="1">
                <a:solidFill>
                  <a:srgbClr val="2465A0"/>
                </a:solidFill>
              </a:defRPr>
            </a:pPr>
            <a:r>
              <a:rPr sz="1200" b="1">
                <a:solidFill>
                  <a:srgbClr val="2465A0"/>
                </a:solidFill>
              </a:rPr>
              <a:t>DEVELOPER</a:t>
            </a:r>
          </a:p>
        </p:txBody>
      </p:sp>
      <p:sp>
        <p:nvSpPr>
          <p:cNvPr id="7" name="">
            <a:extLst xmlns:a="http://schemas.openxmlformats.org/drawingml/2006/main">
              <a:ext uri="{FF2B5EF4-FFF2-40B4-BE49-F238E27FC236}">
                <a16:creationId xmlns:a16="http://schemas.microsoft.com/office/drawing/2014/main" id="{C0E2AA02-64AF-418F-AE85-594ED740DCAC}"/>
              </a:ext>
            </a:extLst>
          </p:cNvPr>
          <p:cNvSpPr>
            <a:spLocks xmlns:a="http://schemas.openxmlformats.org/drawingml/2006/main" noGrp="1"/>
          </p:cNvSpPr>
          <p:nvPr/>
        </p:nvSpPr>
        <p:spPr>
          <a:xfrm xmlns:a="http://schemas.openxmlformats.org/drawingml/2006/main">
            <a:off x="571500" y="38576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638"/>
                </a:solidFill>
              </a:defRPr>
            </a:defPPr>
          </a:lstStyle>
          <a:p xmlns:a="http://schemas.openxmlformats.org/drawingml/2006/main">
            <a:pPr>
              <a:defRPr sz="2175" b="0">
                <a:solidFill>
                  <a:srgbClr val="102638"/>
                </a:solidFill>
              </a:defRPr>
            </a:pPr>
            <a:r>
              <a:rPr sz="2175" b="0">
                <a:solidFill>
                  <a:srgbClr val="102638"/>
                </a:solidFill>
              </a:rPr>
              <a:t>Reviews evidence and</a:t>
            </a:r>
          </a:p>
          <a:p xmlns:a="http://schemas.openxmlformats.org/drawingml/2006/main">
            <a:pPr>
              <a:defRPr sz="2175" b="0">
                <a:solidFill>
                  <a:srgbClr val="102638"/>
                </a:solidFill>
              </a:defRPr>
            </a:pPr>
            <a:r>
              <a:rPr sz="2175" b="0">
                <a:solidFill>
                  <a:srgbClr val="102638"/>
                </a:solidFill>
              </a:rPr>
              <a:t>applies supported repairs.</a:t>
            </a:r>
          </a:p>
        </p:txBody>
      </p:sp>
      <p:pic>
        <p:nvPicPr>
          <p:cNvPr id="8" name="">
            <a:extLst xmlns:a="http://schemas.openxmlformats.org/drawingml/2006/main">
              <a:ext uri="{FF2B5EF4-FFF2-40B4-BE49-F238E27FC236}">
                <a16:creationId xmlns:a16="http://schemas.microsoft.com/office/drawing/2014/main" id="{413FBF90-FD00-43F6-8DBA-0577BDCEBD3A}"/>
              </a:ext>
            </a:extLst>
          </p:cNvPr>
          <p:cNvPicPr>
            <a:picLocks xmlns:a="http://schemas.openxmlformats.org/drawingml/2006/main" noChangeAspect="1"/>
          </p:cNvPicPr>
          <p:nvPr/>
        </p:nvPicPr>
        <p:blipFill>
          <a:blip xmlns:r="http://schemas.openxmlformats.org/officeDocument/2006/relationships" xmlns:a="http://schemas.openxmlformats.org/drawingml/2006/main" r:embed="R6e9ca521fe994a11"/>
          <a:stretch xmlns:a="http://schemas.openxmlformats.org/drawingml/2006/main"/>
        </p:blipFill>
        <p:spPr>
          <a:xfrm xmlns:a="http://schemas.openxmlformats.org/drawingml/2006/main">
            <a:off x="5050155" y="1952625"/>
            <a:ext cx="6568440" cy="41052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D87DF65-790E-4ADB-91B1-FBD662F2470F}"/>
              </a:ext>
            </a:extLst>
          </p:cNvPr>
          <p:cNvSpPr>
            <a:spLocks xmlns:a="http://schemas.openxmlformats.org/drawingml/2006/main" noGrp="1"/>
          </p:cNvSpPr>
          <p:nvPr/>
        </p:nvSpPr>
        <p:spPr>
          <a:xfrm xmlns:a="http://schemas.openxmlformats.org/drawingml/2006/main">
            <a:off x="5048250" y="6115050"/>
            <a:ext cx="647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575"/>
                </a:solidFill>
              </a:defRPr>
            </a:defPPr>
          </a:lstStyle>
          <a:p xmlns:a="http://schemas.openxmlformats.org/drawingml/2006/main">
            <a:pPr>
              <a:defRPr sz="1200" b="0">
                <a:solidFill>
                  <a:srgbClr val="536575"/>
                </a:solidFill>
              </a:defRPr>
            </a:pPr>
            <a:r>
              <a:rPr sz="1200" b="0">
                <a:solidFill>
                  <a:srgbClr val="536575"/>
                </a:solidFill>
              </a:rPr>
              <a:t>Partner: read-only portfolio. Chennai is live; other clients are examples.</a:t>
            </a:r>
          </a:p>
        </p:txBody>
      </p:sp>
      <p:sp>
        <p:nvSpPr>
          <p:cNvPr id="10" name="">
            <a:extLst xmlns:a="http://schemas.openxmlformats.org/drawingml/2006/main">
              <a:ext uri="{FF2B5EF4-FFF2-40B4-BE49-F238E27FC236}">
                <a16:creationId xmlns:a16="http://schemas.microsoft.com/office/drawing/2014/main" id="{DB814B4E-05DF-4AE2-81E2-68E244211D6F}"/>
              </a:ext>
            </a:extLst>
          </p:cNvPr>
          <p:cNvSpPr>
            <a:spLocks xmlns:a="http://schemas.openxmlformats.org/drawingml/2006/main" noGrp="1"/>
          </p:cNvSpPr>
          <p:nvPr/>
        </p:nvSpPr>
        <p:spPr>
          <a:xfrm xmlns:a="http://schemas.openxmlformats.org/drawingml/2006/main">
            <a:off x="571500" y="5534025"/>
            <a:ext cx="390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575"/>
                </a:solidFill>
              </a:defRPr>
            </a:defPPr>
          </a:lstStyle>
          <a:p xmlns:a="http://schemas.openxmlformats.org/drawingml/2006/main">
            <a:pPr>
              <a:defRPr sz="1575" b="0">
                <a:solidFill>
                  <a:srgbClr val="536575"/>
                </a:solidFill>
              </a:defRPr>
            </a:pPr>
            <a:r>
              <a:rPr sz="1575" b="0">
                <a:solidFill>
                  <a:srgbClr val="536575"/>
                </a:solidFill>
              </a:rPr>
              <a:t>Demand and willingness to pay still need pilot validation.</a:t>
            </a:r>
          </a:p>
        </p:txBody>
      </p:sp>
    </p:spTree>
    <p:extLst>
      <p:ext uri="{BB962C8B-B14F-4D97-AF65-F5344CB8AC3E}">
        <p14:creationId xmlns:p14="http://schemas.microsoft.com/office/powerpoint/2010/main" val="2068567416"/>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F43C6EC-59B2-489E-9120-B0550A75BC28}"/>
              </a:ext>
            </a:extLst>
          </p:cNvPr>
          <p:cNvSpPr>
            <a:spLocks xmlns:a="http://schemas.openxmlformats.org/drawingml/2006/main" noGrp="1"/>
          </p:cNvSpPr>
          <p:nvPr/>
        </p:nvSpPr>
        <p:spPr>
          <a:xfrm xmlns:a="http://schemas.openxmlformats.org/drawingml/2006/main">
            <a:off x="5715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36575"/>
                </a:solidFill>
              </a:defRPr>
            </a:defPPr>
          </a:lstStyle>
          <a:p xmlns:a="http://schemas.openxmlformats.org/drawingml/2006/main">
            <a:pPr>
              <a:defRPr sz="1050" b="1">
                <a:solidFill>
                  <a:srgbClr val="536575"/>
                </a:solidFill>
              </a:defRPr>
            </a:pPr>
            <a:r>
              <a:rPr sz="1050" b="1">
                <a:solidFill>
                  <a:srgbClr val="536575"/>
                </a:solidFill>
              </a:rPr>
              <a:t>TECH SQUAD    /    CRYPTIQ</a:t>
            </a:r>
          </a:p>
        </p:txBody>
      </p:sp>
      <p:sp>
        <p:nvSpPr>
          <p:cNvPr id="2" name="">
            <a:extLst xmlns:a="http://schemas.openxmlformats.org/drawingml/2006/main">
              <a:ext uri="{FF2B5EF4-FFF2-40B4-BE49-F238E27FC236}">
                <a16:creationId xmlns:a16="http://schemas.microsoft.com/office/drawing/2014/main" id="{616BAD18-40B1-4ADA-9D8C-B9AC44C7F511}"/>
              </a:ext>
            </a:extLst>
          </p:cNvPr>
          <p:cNvSpPr>
            <a:spLocks xmlns:a="http://schemas.openxmlformats.org/drawingml/2006/main" noGrp="1"/>
          </p:cNvSpPr>
          <p:nvPr/>
        </p:nvSpPr>
        <p:spPr>
          <a:xfrm xmlns:a="http://schemas.openxmlformats.org/drawingml/2006/main">
            <a:off x="571500" y="8191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638"/>
                </a:solidFill>
              </a:defRPr>
            </a:defPPr>
          </a:lstStyle>
          <a:p xmlns:a="http://schemas.openxmlformats.org/drawingml/2006/main">
            <a:pPr>
              <a:defRPr sz="3300" b="1">
                <a:solidFill>
                  <a:srgbClr val="102638"/>
                </a:solidFill>
              </a:defRPr>
            </a:pPr>
            <a:r>
              <a:rPr sz="3300" b="1">
                <a:solidFill>
                  <a:srgbClr val="102638"/>
                </a:solidFill>
              </a:rPr>
              <a:t>04  One workflow, four connected views</a:t>
            </a:r>
          </a:p>
        </p:txBody>
      </p:sp>
      <p:sp>
        <p:nvSpPr>
          <p:cNvPr id="3" name="">
            <a:extLst xmlns:a="http://schemas.openxmlformats.org/drawingml/2006/main">
              <a:ext uri="{FF2B5EF4-FFF2-40B4-BE49-F238E27FC236}">
                <a16:creationId xmlns:a16="http://schemas.microsoft.com/office/drawing/2014/main" id="{E9EC2075-C019-479B-AFB4-3F9E262C58FC}"/>
              </a:ext>
            </a:extLst>
          </p:cNvPr>
          <p:cNvSpPr>
            <a:spLocks xmlns:a="http://schemas.openxmlformats.org/drawingml/2006/main" noGrp="1"/>
          </p:cNvSpPr>
          <p:nvPr/>
        </p:nvSpPr>
        <p:spPr>
          <a:xfrm xmlns:a="http://schemas.openxmlformats.org/drawingml/2006/main">
            <a:off x="10668000" y="64389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575"/>
                </a:solidFill>
              </a:defRPr>
            </a:defPPr>
          </a:lstStyle>
          <a:p xmlns:a="http://schemas.openxmlformats.org/drawingml/2006/main">
            <a:pPr>
              <a:defRPr sz="1050" b="0">
                <a:solidFill>
                  <a:srgbClr val="536575"/>
                </a:solidFill>
              </a:defRPr>
            </a:pPr>
            <a:r>
              <a:rPr sz="1050" b="0">
                <a:solidFill>
                  <a:srgbClr val="536575"/>
                </a:solidFill>
              </a:rPr>
              <a:t>04 / 12</a:t>
            </a:r>
          </a:p>
        </p:txBody>
      </p:sp>
      <p:sp>
        <p:nvSpPr>
          <p:cNvPr id="4" name="">
            <a:extLst xmlns:a="http://schemas.openxmlformats.org/drawingml/2006/main">
              <a:ext uri="{FF2B5EF4-FFF2-40B4-BE49-F238E27FC236}">
                <a16:creationId xmlns:a16="http://schemas.microsoft.com/office/drawing/2014/main" id="{89C1E028-856D-41B7-8314-9DFD2E3661EA}"/>
              </a:ext>
            </a:extLst>
          </p:cNvPr>
          <p:cNvSpPr>
            <a:spLocks xmlns:a="http://schemas.openxmlformats.org/drawingml/2006/main" noGrp="1"/>
          </p:cNvSpPr>
          <p:nvPr/>
        </p:nvSpPr>
        <p:spPr>
          <a:xfrm xmlns:a="http://schemas.openxmlformats.org/drawingml/2006/main">
            <a:off x="571500" y="2143125"/>
            <a:ext cx="142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0">
                <a:solidFill>
                  <a:srgbClr val="2465A0"/>
                </a:solidFill>
              </a:defRPr>
            </a:defPPr>
          </a:lstStyle>
          <a:p xmlns:a="http://schemas.openxmlformats.org/drawingml/2006/main">
            <a:pPr>
              <a:defRPr sz="5100" b="0">
                <a:solidFill>
                  <a:srgbClr val="2465A0"/>
                </a:solidFill>
              </a:defRPr>
            </a:pPr>
            <a:r>
              <a:rPr sz="5100" b="0">
                <a:solidFill>
                  <a:srgbClr val="2465A0"/>
                </a:solidFill>
              </a:rPr>
              <a:t>01</a:t>
            </a:r>
          </a:p>
        </p:txBody>
      </p:sp>
      <p:sp>
        <p:nvSpPr>
          <p:cNvPr id="5" name="">
            <a:extLst xmlns:a="http://schemas.openxmlformats.org/drawingml/2006/main">
              <a:ext uri="{FF2B5EF4-FFF2-40B4-BE49-F238E27FC236}">
                <a16:creationId xmlns:a16="http://schemas.microsoft.com/office/drawing/2014/main" id="{4E23D00B-DEEC-4FA0-83CB-AAE799F45326}"/>
              </a:ext>
            </a:extLst>
          </p:cNvPr>
          <p:cNvSpPr>
            <a:spLocks xmlns:a="http://schemas.openxmlformats.org/drawingml/2006/main" noGrp="1"/>
          </p:cNvSpPr>
          <p:nvPr/>
        </p:nvSpPr>
        <p:spPr>
          <a:xfrm xmlns:a="http://schemas.openxmlformats.org/drawingml/2006/main">
            <a:off x="571500" y="327660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02638"/>
                </a:solidFill>
              </a:defRPr>
            </a:defPPr>
          </a:lstStyle>
          <a:p xmlns:a="http://schemas.openxmlformats.org/drawingml/2006/main">
            <a:pPr>
              <a:defRPr sz="1725" b="1">
                <a:solidFill>
                  <a:srgbClr val="102638"/>
                </a:solidFill>
              </a:defRPr>
            </a:pPr>
            <a:r>
              <a:rPr sz="1725" b="1">
                <a:solidFill>
                  <a:srgbClr val="102638"/>
                </a:solidFill>
              </a:rPr>
              <a:t>SCAN</a:t>
            </a:r>
          </a:p>
        </p:txBody>
      </p:sp>
      <p:sp>
        <p:nvSpPr>
          <p:cNvPr id="6" name="">
            <a:extLst xmlns:a="http://schemas.openxmlformats.org/drawingml/2006/main">
              <a:ext uri="{FF2B5EF4-FFF2-40B4-BE49-F238E27FC236}">
                <a16:creationId xmlns:a16="http://schemas.microsoft.com/office/drawing/2014/main" id="{A03B5622-12AB-43C4-928B-03B5B292832A}"/>
              </a:ext>
            </a:extLst>
          </p:cNvPr>
          <p:cNvSpPr>
            <a:spLocks xmlns:a="http://schemas.openxmlformats.org/drawingml/2006/main" noGrp="1"/>
          </p:cNvSpPr>
          <p:nvPr/>
        </p:nvSpPr>
        <p:spPr>
          <a:xfrm xmlns:a="http://schemas.openxmlformats.org/drawingml/2006/main">
            <a:off x="571500" y="3762375"/>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575"/>
                </a:solidFill>
              </a:defRPr>
            </a:defPPr>
          </a:lstStyle>
          <a:p xmlns:a="http://schemas.openxmlformats.org/drawingml/2006/main">
            <a:pPr>
              <a:defRPr sz="1875" b="0">
                <a:solidFill>
                  <a:srgbClr val="536575"/>
                </a:solidFill>
              </a:defRPr>
            </a:pPr>
            <a:r>
              <a:rPr sz="1875" b="0">
                <a:solidFill>
                  <a:srgbClr val="536575"/>
                </a:solidFill>
              </a:rPr>
              <a:t>Owner-readable findings</a:t>
            </a:r>
          </a:p>
        </p:txBody>
      </p:sp>
      <p:sp>
        <p:nvSpPr>
          <p:cNvPr id="7" name="">
            <a:extLst xmlns:a="http://schemas.openxmlformats.org/drawingml/2006/main">
              <a:ext uri="{FF2B5EF4-FFF2-40B4-BE49-F238E27FC236}">
                <a16:creationId xmlns:a16="http://schemas.microsoft.com/office/drawing/2014/main" id="{77A41695-D18E-45B3-8CFB-4C09DDD660FD}"/>
              </a:ext>
            </a:extLst>
          </p:cNvPr>
          <p:cNvSpPr>
            <a:spLocks xmlns:a="http://schemas.openxmlformats.org/drawingml/2006/main" noGrp="1"/>
          </p:cNvSpPr>
          <p:nvPr/>
        </p:nvSpPr>
        <p:spPr>
          <a:xfrm xmlns:a="http://schemas.openxmlformats.org/drawingml/2006/main">
            <a:off x="2781300" y="23336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0">
                <a:solidFill>
                  <a:srgbClr val="2465A0"/>
                </a:solidFill>
              </a:defRPr>
            </a:defPPr>
          </a:lstStyle>
          <a:p xmlns:a="http://schemas.openxmlformats.org/drawingml/2006/main">
            <a:pPr>
              <a:defRPr sz="3000" b="0">
                <a:solidFill>
                  <a:srgbClr val="2465A0"/>
                </a:solidFill>
              </a:defRPr>
            </a:pPr>
            <a:r>
              <a:rPr sz="3000" b="0">
                <a:solidFill>
                  <a:srgbClr val="2465A0"/>
                </a:solidFill>
              </a:rPr>
              <a:t>→</a:t>
            </a:r>
          </a:p>
        </p:txBody>
      </p:sp>
      <p:sp>
        <p:nvSpPr>
          <p:cNvPr id="8" name="">
            <a:extLst xmlns:a="http://schemas.openxmlformats.org/drawingml/2006/main">
              <a:ext uri="{FF2B5EF4-FFF2-40B4-BE49-F238E27FC236}">
                <a16:creationId xmlns:a16="http://schemas.microsoft.com/office/drawing/2014/main" id="{39CB0189-60AA-492D-ABC7-77031B293BCA}"/>
              </a:ext>
            </a:extLst>
          </p:cNvPr>
          <p:cNvSpPr>
            <a:spLocks xmlns:a="http://schemas.openxmlformats.org/drawingml/2006/main" noGrp="1"/>
          </p:cNvSpPr>
          <p:nvPr/>
        </p:nvSpPr>
        <p:spPr>
          <a:xfrm xmlns:a="http://schemas.openxmlformats.org/drawingml/2006/main">
            <a:off x="3429000" y="2143125"/>
            <a:ext cx="142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0">
                <a:solidFill>
                  <a:srgbClr val="2465A0"/>
                </a:solidFill>
              </a:defRPr>
            </a:defPPr>
          </a:lstStyle>
          <a:p xmlns:a="http://schemas.openxmlformats.org/drawingml/2006/main">
            <a:pPr>
              <a:defRPr sz="5100" b="0">
                <a:solidFill>
                  <a:srgbClr val="2465A0"/>
                </a:solidFill>
              </a:defRPr>
            </a:pPr>
            <a:r>
              <a:rPr sz="5100" b="0">
                <a:solidFill>
                  <a:srgbClr val="2465A0"/>
                </a:solidFill>
              </a:rPr>
              <a:t>02</a:t>
            </a:r>
          </a:p>
        </p:txBody>
      </p:sp>
      <p:sp>
        <p:nvSpPr>
          <p:cNvPr id="9" name="">
            <a:extLst xmlns:a="http://schemas.openxmlformats.org/drawingml/2006/main">
              <a:ext uri="{FF2B5EF4-FFF2-40B4-BE49-F238E27FC236}">
                <a16:creationId xmlns:a16="http://schemas.microsoft.com/office/drawing/2014/main" id="{B628224B-7889-4C1B-A820-405BFB7C4F61}"/>
              </a:ext>
            </a:extLst>
          </p:cNvPr>
          <p:cNvSpPr>
            <a:spLocks xmlns:a="http://schemas.openxmlformats.org/drawingml/2006/main" noGrp="1"/>
          </p:cNvSpPr>
          <p:nvPr/>
        </p:nvSpPr>
        <p:spPr>
          <a:xfrm xmlns:a="http://schemas.openxmlformats.org/drawingml/2006/main">
            <a:off x="3429000" y="327660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02638"/>
                </a:solidFill>
              </a:defRPr>
            </a:defPPr>
          </a:lstStyle>
          <a:p xmlns:a="http://schemas.openxmlformats.org/drawingml/2006/main">
            <a:pPr>
              <a:defRPr sz="1725" b="1">
                <a:solidFill>
                  <a:srgbClr val="102638"/>
                </a:solidFill>
              </a:defRPr>
            </a:pPr>
            <a:r>
              <a:rPr sz="1725" b="1">
                <a:solidFill>
                  <a:srgbClr val="102638"/>
                </a:solidFill>
              </a:rPr>
              <a:t>DEMONSTRATE</a:t>
            </a:r>
          </a:p>
        </p:txBody>
      </p:sp>
      <p:sp>
        <p:nvSpPr>
          <p:cNvPr id="10" name="">
            <a:extLst xmlns:a="http://schemas.openxmlformats.org/drawingml/2006/main">
              <a:ext uri="{FF2B5EF4-FFF2-40B4-BE49-F238E27FC236}">
                <a16:creationId xmlns:a16="http://schemas.microsoft.com/office/drawing/2014/main" id="{249E404A-9E44-4700-B06B-AF58EDFF2882}"/>
              </a:ext>
            </a:extLst>
          </p:cNvPr>
          <p:cNvSpPr>
            <a:spLocks xmlns:a="http://schemas.openxmlformats.org/drawingml/2006/main" noGrp="1"/>
          </p:cNvSpPr>
          <p:nvPr/>
        </p:nvSpPr>
        <p:spPr>
          <a:xfrm xmlns:a="http://schemas.openxmlformats.org/drawingml/2006/main">
            <a:off x="3429000" y="3762375"/>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575"/>
                </a:solidFill>
              </a:defRPr>
            </a:defPPr>
          </a:lstStyle>
          <a:p xmlns:a="http://schemas.openxmlformats.org/drawingml/2006/main">
            <a:pPr>
              <a:defRPr sz="1875" b="0">
                <a:solidFill>
                  <a:srgbClr val="536575"/>
                </a:solidFill>
              </a:defRPr>
            </a:pPr>
            <a:r>
              <a:rPr sz="1875" b="0">
                <a:solidFill>
                  <a:srgbClr val="536575"/>
                </a:solidFill>
              </a:rPr>
              <a:t>A controlled password test</a:t>
            </a:r>
          </a:p>
        </p:txBody>
      </p:sp>
      <p:sp>
        <p:nvSpPr>
          <p:cNvPr id="11" name="">
            <a:extLst xmlns:a="http://schemas.openxmlformats.org/drawingml/2006/main">
              <a:ext uri="{FF2B5EF4-FFF2-40B4-BE49-F238E27FC236}">
                <a16:creationId xmlns:a16="http://schemas.microsoft.com/office/drawing/2014/main" id="{9B49BEC3-2F40-482E-BEC6-9A5C7D65D189}"/>
              </a:ext>
            </a:extLst>
          </p:cNvPr>
          <p:cNvSpPr>
            <a:spLocks xmlns:a="http://schemas.openxmlformats.org/drawingml/2006/main" noGrp="1"/>
          </p:cNvSpPr>
          <p:nvPr/>
        </p:nvSpPr>
        <p:spPr>
          <a:xfrm xmlns:a="http://schemas.openxmlformats.org/drawingml/2006/main">
            <a:off x="5638800" y="23336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0">
                <a:solidFill>
                  <a:srgbClr val="2465A0"/>
                </a:solidFill>
              </a:defRPr>
            </a:defPPr>
          </a:lstStyle>
          <a:p xmlns:a="http://schemas.openxmlformats.org/drawingml/2006/main">
            <a:pPr>
              <a:defRPr sz="3000" b="0">
                <a:solidFill>
                  <a:srgbClr val="2465A0"/>
                </a:solidFill>
              </a:defRPr>
            </a:pPr>
            <a:r>
              <a:rPr sz="3000" b="0">
                <a:solidFill>
                  <a:srgbClr val="2465A0"/>
                </a:solidFill>
              </a:rPr>
              <a:t>→</a:t>
            </a:r>
          </a:p>
        </p:txBody>
      </p:sp>
      <p:sp>
        <p:nvSpPr>
          <p:cNvPr id="12" name="">
            <a:extLst xmlns:a="http://schemas.openxmlformats.org/drawingml/2006/main">
              <a:ext uri="{FF2B5EF4-FFF2-40B4-BE49-F238E27FC236}">
                <a16:creationId xmlns:a16="http://schemas.microsoft.com/office/drawing/2014/main" id="{0606F82F-2916-463F-ACA1-B4153D5B5FF9}"/>
              </a:ext>
            </a:extLst>
          </p:cNvPr>
          <p:cNvSpPr>
            <a:spLocks xmlns:a="http://schemas.openxmlformats.org/drawingml/2006/main" noGrp="1"/>
          </p:cNvSpPr>
          <p:nvPr/>
        </p:nvSpPr>
        <p:spPr>
          <a:xfrm xmlns:a="http://schemas.openxmlformats.org/drawingml/2006/main">
            <a:off x="6286500" y="2143125"/>
            <a:ext cx="142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0">
                <a:solidFill>
                  <a:srgbClr val="2465A0"/>
                </a:solidFill>
              </a:defRPr>
            </a:defPPr>
          </a:lstStyle>
          <a:p xmlns:a="http://schemas.openxmlformats.org/drawingml/2006/main">
            <a:pPr>
              <a:defRPr sz="5100" b="0">
                <a:solidFill>
                  <a:srgbClr val="2465A0"/>
                </a:solidFill>
              </a:defRPr>
            </a:pPr>
            <a:r>
              <a:rPr sz="5100" b="0">
                <a:solidFill>
                  <a:srgbClr val="2465A0"/>
                </a:solidFill>
              </a:rPr>
              <a:t>03</a:t>
            </a:r>
          </a:p>
        </p:txBody>
      </p:sp>
      <p:sp>
        <p:nvSpPr>
          <p:cNvPr id="13" name="">
            <a:extLst xmlns:a="http://schemas.openxmlformats.org/drawingml/2006/main">
              <a:ext uri="{FF2B5EF4-FFF2-40B4-BE49-F238E27FC236}">
                <a16:creationId xmlns:a16="http://schemas.microsoft.com/office/drawing/2014/main" id="{690926DA-FC26-4893-A5C3-F43C3BCA82C9}"/>
              </a:ext>
            </a:extLst>
          </p:cNvPr>
          <p:cNvSpPr>
            <a:spLocks xmlns:a="http://schemas.openxmlformats.org/drawingml/2006/main" noGrp="1"/>
          </p:cNvSpPr>
          <p:nvPr/>
        </p:nvSpPr>
        <p:spPr>
          <a:xfrm xmlns:a="http://schemas.openxmlformats.org/drawingml/2006/main">
            <a:off x="6286500" y="327660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02638"/>
                </a:solidFill>
              </a:defRPr>
            </a:defPPr>
          </a:lstStyle>
          <a:p xmlns:a="http://schemas.openxmlformats.org/drawingml/2006/main">
            <a:pPr>
              <a:defRPr sz="1725" b="1">
                <a:solidFill>
                  <a:srgbClr val="102638"/>
                </a:solidFill>
              </a:defRPr>
            </a:pPr>
            <a:r>
              <a:rPr sz="1725" b="1">
                <a:solidFill>
                  <a:srgbClr val="102638"/>
                </a:solidFill>
              </a:rPr>
              <a:t>REPAIR</a:t>
            </a:r>
          </a:p>
        </p:txBody>
      </p:sp>
      <p:sp>
        <p:nvSpPr>
          <p:cNvPr id="14" name="">
            <a:extLst xmlns:a="http://schemas.openxmlformats.org/drawingml/2006/main">
              <a:ext uri="{FF2B5EF4-FFF2-40B4-BE49-F238E27FC236}">
                <a16:creationId xmlns:a16="http://schemas.microsoft.com/office/drawing/2014/main" id="{53D28647-DEA5-4F20-A230-844DD75A7A04}"/>
              </a:ext>
            </a:extLst>
          </p:cNvPr>
          <p:cNvSpPr>
            <a:spLocks xmlns:a="http://schemas.openxmlformats.org/drawingml/2006/main" noGrp="1"/>
          </p:cNvSpPr>
          <p:nvPr/>
        </p:nvSpPr>
        <p:spPr>
          <a:xfrm xmlns:a="http://schemas.openxmlformats.org/drawingml/2006/main">
            <a:off x="6286500" y="3762375"/>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575"/>
                </a:solidFill>
              </a:defRPr>
            </a:defPPr>
          </a:lstStyle>
          <a:p xmlns:a="http://schemas.openxmlformats.org/drawingml/2006/main">
            <a:pPr>
              <a:defRPr sz="1875" b="0">
                <a:solidFill>
                  <a:srgbClr val="536575"/>
                </a:solidFill>
              </a:defRPr>
            </a:pPr>
            <a:r>
              <a:rPr sz="1875" b="0">
                <a:solidFill>
                  <a:srgbClr val="536575"/>
                </a:solidFill>
              </a:rPr>
              <a:t>One reviewed repair bundle</a:t>
            </a:r>
          </a:p>
        </p:txBody>
      </p:sp>
      <p:sp>
        <p:nvSpPr>
          <p:cNvPr id="15" name="">
            <a:extLst xmlns:a="http://schemas.openxmlformats.org/drawingml/2006/main">
              <a:ext uri="{FF2B5EF4-FFF2-40B4-BE49-F238E27FC236}">
                <a16:creationId xmlns:a16="http://schemas.microsoft.com/office/drawing/2014/main" id="{8A1752D0-8226-4840-8886-77219D12945F}"/>
              </a:ext>
            </a:extLst>
          </p:cNvPr>
          <p:cNvSpPr>
            <a:spLocks xmlns:a="http://schemas.openxmlformats.org/drawingml/2006/main" noGrp="1"/>
          </p:cNvSpPr>
          <p:nvPr/>
        </p:nvSpPr>
        <p:spPr>
          <a:xfrm xmlns:a="http://schemas.openxmlformats.org/drawingml/2006/main">
            <a:off x="8496300" y="233362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0">
                <a:solidFill>
                  <a:srgbClr val="2465A0"/>
                </a:solidFill>
              </a:defRPr>
            </a:defPPr>
          </a:lstStyle>
          <a:p xmlns:a="http://schemas.openxmlformats.org/drawingml/2006/main">
            <a:pPr>
              <a:defRPr sz="3000" b="0">
                <a:solidFill>
                  <a:srgbClr val="2465A0"/>
                </a:solidFill>
              </a:defRPr>
            </a:pPr>
            <a:r>
              <a:rPr sz="3000" b="0">
                <a:solidFill>
                  <a:srgbClr val="2465A0"/>
                </a:solidFill>
              </a:rPr>
              <a:t>→</a:t>
            </a:r>
          </a:p>
        </p:txBody>
      </p:sp>
      <p:sp>
        <p:nvSpPr>
          <p:cNvPr id="16" name="">
            <a:extLst xmlns:a="http://schemas.openxmlformats.org/drawingml/2006/main">
              <a:ext uri="{FF2B5EF4-FFF2-40B4-BE49-F238E27FC236}">
                <a16:creationId xmlns:a16="http://schemas.microsoft.com/office/drawing/2014/main" id="{92BAC12D-6A9D-4CA7-BA64-F0A712686168}"/>
              </a:ext>
            </a:extLst>
          </p:cNvPr>
          <p:cNvSpPr>
            <a:spLocks xmlns:a="http://schemas.openxmlformats.org/drawingml/2006/main" noGrp="1"/>
          </p:cNvSpPr>
          <p:nvPr/>
        </p:nvSpPr>
        <p:spPr>
          <a:xfrm xmlns:a="http://schemas.openxmlformats.org/drawingml/2006/main">
            <a:off x="9144000" y="2143125"/>
            <a:ext cx="142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00" b="0">
                <a:solidFill>
                  <a:srgbClr val="2465A0"/>
                </a:solidFill>
              </a:defRPr>
            </a:defPPr>
          </a:lstStyle>
          <a:p xmlns:a="http://schemas.openxmlformats.org/drawingml/2006/main">
            <a:pPr>
              <a:defRPr sz="5100" b="0">
                <a:solidFill>
                  <a:srgbClr val="2465A0"/>
                </a:solidFill>
              </a:defRPr>
            </a:pPr>
            <a:r>
              <a:rPr sz="5100" b="0">
                <a:solidFill>
                  <a:srgbClr val="2465A0"/>
                </a:solidFill>
              </a:rPr>
              <a:t>04</a:t>
            </a:r>
          </a:p>
        </p:txBody>
      </p:sp>
      <p:sp>
        <p:nvSpPr>
          <p:cNvPr id="17" name="">
            <a:extLst xmlns:a="http://schemas.openxmlformats.org/drawingml/2006/main">
              <a:ext uri="{FF2B5EF4-FFF2-40B4-BE49-F238E27FC236}">
                <a16:creationId xmlns:a16="http://schemas.microsoft.com/office/drawing/2014/main" id="{F908AC29-1372-46C2-A5BB-56C913810BF9}"/>
              </a:ext>
            </a:extLst>
          </p:cNvPr>
          <p:cNvSpPr>
            <a:spLocks xmlns:a="http://schemas.openxmlformats.org/drawingml/2006/main" noGrp="1"/>
          </p:cNvSpPr>
          <p:nvPr/>
        </p:nvSpPr>
        <p:spPr>
          <a:xfrm xmlns:a="http://schemas.openxmlformats.org/drawingml/2006/main">
            <a:off x="9144000" y="327660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02638"/>
                </a:solidFill>
              </a:defRPr>
            </a:defPPr>
          </a:lstStyle>
          <a:p xmlns:a="http://schemas.openxmlformats.org/drawingml/2006/main">
            <a:pPr>
              <a:defRPr sz="1725" b="1">
                <a:solidFill>
                  <a:srgbClr val="102638"/>
                </a:solidFill>
              </a:defRPr>
            </a:pPr>
            <a:r>
              <a:rPr sz="1725" b="1">
                <a:solidFill>
                  <a:srgbClr val="102638"/>
                </a:solidFill>
              </a:rPr>
              <a:t>VERIFY</a:t>
            </a:r>
          </a:p>
        </p:txBody>
      </p:sp>
      <p:sp>
        <p:nvSpPr>
          <p:cNvPr id="18" name="">
            <a:extLst xmlns:a="http://schemas.openxmlformats.org/drawingml/2006/main">
              <a:ext uri="{FF2B5EF4-FFF2-40B4-BE49-F238E27FC236}">
                <a16:creationId xmlns:a16="http://schemas.microsoft.com/office/drawing/2014/main" id="{45D1FA54-C45A-4458-92DD-E74F6AA92423}"/>
              </a:ext>
            </a:extLst>
          </p:cNvPr>
          <p:cNvSpPr>
            <a:spLocks xmlns:a="http://schemas.openxmlformats.org/drawingml/2006/main" noGrp="1"/>
          </p:cNvSpPr>
          <p:nvPr/>
        </p:nvSpPr>
        <p:spPr>
          <a:xfrm xmlns:a="http://schemas.openxmlformats.org/drawingml/2006/main">
            <a:off x="9144000" y="3762375"/>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575"/>
                </a:solidFill>
              </a:defRPr>
            </a:defPPr>
          </a:lstStyle>
          <a:p xmlns:a="http://schemas.openxmlformats.org/drawingml/2006/main">
            <a:pPr>
              <a:defRPr sz="1875" b="0">
                <a:solidFill>
                  <a:srgbClr val="536575"/>
                </a:solidFill>
              </a:defRPr>
            </a:pPr>
            <a:r>
              <a:rPr sz="1875" b="0">
                <a:solidFill>
                  <a:srgbClr val="536575"/>
                </a:solidFill>
              </a:rPr>
              <a:t>Four checks, then evidence</a:t>
            </a:r>
          </a:p>
        </p:txBody>
      </p:sp>
      <p:sp>
        <p:nvSpPr>
          <p:cNvPr id="19" name="">
            <a:extLst xmlns:a="http://schemas.openxmlformats.org/drawingml/2006/main">
              <a:ext uri="{FF2B5EF4-FFF2-40B4-BE49-F238E27FC236}">
                <a16:creationId xmlns:a16="http://schemas.microsoft.com/office/drawing/2014/main" id="{2A2BE765-C4CF-418F-87C5-2799E9B3702D}"/>
              </a:ext>
            </a:extLst>
          </p:cNvPr>
          <p:cNvSpPr>
            <a:spLocks xmlns:a="http://schemas.openxmlformats.org/drawingml/2006/main" noGrp="1"/>
          </p:cNvSpPr>
          <p:nvPr/>
        </p:nvSpPr>
        <p:spPr>
          <a:xfrm xmlns:a="http://schemas.openxmlformats.org/drawingml/2006/main">
            <a:off x="571500" y="51625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638"/>
                </a:solidFill>
              </a:defRPr>
            </a:defPPr>
          </a:lstStyle>
          <a:p xmlns:a="http://schemas.openxmlformats.org/drawingml/2006/main">
            <a:pPr>
              <a:defRPr sz="2025" b="0">
                <a:solidFill>
                  <a:srgbClr val="102638"/>
                </a:solidFill>
              </a:defRPr>
            </a:pPr>
            <a:r>
              <a:rPr sz="2025" b="0">
                <a:solidFill>
                  <a:srgbClr val="102638"/>
                </a:solidFill>
              </a:rPr>
              <a:t>CryptIQ coordinates the work. The shop generates events. Hacker tests the exposure.</a:t>
            </a:r>
          </a:p>
        </p:txBody>
      </p:sp>
      <p:sp>
        <p:nvSpPr>
          <p:cNvPr id="20" name="">
            <a:extLst xmlns:a="http://schemas.openxmlformats.org/drawingml/2006/main">
              <a:ext uri="{FF2B5EF4-FFF2-40B4-BE49-F238E27FC236}">
                <a16:creationId xmlns:a16="http://schemas.microsoft.com/office/drawing/2014/main" id="{E787ED6B-A19E-4645-9855-FC8746BED0D8}"/>
              </a:ext>
            </a:extLst>
          </p:cNvPr>
          <p:cNvSpPr>
            <a:spLocks xmlns:a="http://schemas.openxmlformats.org/drawingml/2006/main" noGrp="1"/>
          </p:cNvSpPr>
          <p:nvPr/>
        </p:nvSpPr>
        <p:spPr>
          <a:xfrm xmlns:a="http://schemas.openxmlformats.org/drawingml/2006/main">
            <a:off x="571500" y="59150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575"/>
                </a:solidFill>
              </a:defRPr>
            </a:defPPr>
          </a:lstStyle>
          <a:p xmlns:a="http://schemas.openxmlformats.org/drawingml/2006/main">
            <a:pPr>
              <a:defRPr sz="1725" b="0">
                <a:solidFill>
                  <a:srgbClr val="536575"/>
                </a:solidFill>
              </a:defRPr>
            </a:pPr>
            <a:r>
              <a:rPr sz="1725" b="0">
                <a:solidFill>
                  <a:srgbClr val="536575"/>
                </a:solidFill>
              </a:rPr>
              <a:t>The partner observes the result without executing client repairs.</a:t>
            </a:r>
          </a:p>
        </p:txBody>
      </p:sp>
    </p:spTree>
    <p:extLst>
      <p:ext uri="{BB962C8B-B14F-4D97-AF65-F5344CB8AC3E}">
        <p14:creationId xmlns:p14="http://schemas.microsoft.com/office/powerpoint/2010/main" val="1717601595"/>
      </p:ext>
    </p:extLst>
  </p:cSld>
</p:sld>
</file>

<file path=ppt/slides/slide5.xml><?xml version="1.0" encoding="utf-8"?>
<p:sld xmlns:p="http://schemas.openxmlformats.org/presentationml/2006/main">
  <p:cSld>
    <p:bg>
      <p:bgPr>
        <a:solidFill xmlns:a="http://schemas.openxmlformats.org/drawingml/2006/main">
          <a:srgbClr val="10263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3A762A6-89B8-4D92-A6C3-E25ED002C3B8}"/>
              </a:ext>
            </a:extLst>
          </p:cNvPr>
          <p:cNvSpPr>
            <a:spLocks xmlns:a="http://schemas.openxmlformats.org/drawingml/2006/main" noGrp="1"/>
          </p:cNvSpPr>
          <p:nvPr/>
        </p:nvSpPr>
        <p:spPr>
          <a:xfrm xmlns:a="http://schemas.openxmlformats.org/drawingml/2006/main">
            <a:off x="5715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AFBBC5"/>
                </a:solidFill>
              </a:defRPr>
            </a:defPPr>
          </a:lstStyle>
          <a:p xmlns:a="http://schemas.openxmlformats.org/drawingml/2006/main">
            <a:pPr>
              <a:defRPr sz="1050" b="1">
                <a:solidFill>
                  <a:srgbClr val="AFBBC5"/>
                </a:solidFill>
              </a:defRPr>
            </a:pPr>
            <a:r>
              <a:rPr sz="1050" b="1">
                <a:solidFill>
                  <a:srgbClr val="AFBBC5"/>
                </a:solidFill>
              </a:rPr>
              <a:t>TECH SQUAD    /    CRYPTIQ</a:t>
            </a:r>
          </a:p>
        </p:txBody>
      </p:sp>
      <p:sp>
        <p:nvSpPr>
          <p:cNvPr id="2" name="">
            <a:extLst xmlns:a="http://schemas.openxmlformats.org/drawingml/2006/main">
              <a:ext uri="{FF2B5EF4-FFF2-40B4-BE49-F238E27FC236}">
                <a16:creationId xmlns:a16="http://schemas.microsoft.com/office/drawing/2014/main" id="{64E61F6F-E2CB-417A-830B-96E2030BF73A}"/>
              </a:ext>
            </a:extLst>
          </p:cNvPr>
          <p:cNvSpPr>
            <a:spLocks xmlns:a="http://schemas.openxmlformats.org/drawingml/2006/main" noGrp="1"/>
          </p:cNvSpPr>
          <p:nvPr/>
        </p:nvSpPr>
        <p:spPr>
          <a:xfrm xmlns:a="http://schemas.openxmlformats.org/drawingml/2006/main">
            <a:off x="571500" y="8191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FFFF"/>
                </a:solidFill>
              </a:defRPr>
            </a:defPPr>
          </a:lstStyle>
          <a:p xmlns:a="http://schemas.openxmlformats.org/drawingml/2006/main">
            <a:pPr>
              <a:defRPr sz="3300" b="1">
                <a:solidFill>
                  <a:srgbClr val="FFFFFF"/>
                </a:solidFill>
              </a:defRPr>
            </a:pPr>
            <a:r>
              <a:rPr sz="3300" b="1">
                <a:solidFill>
                  <a:srgbClr val="FFFFFF"/>
                </a:solidFill>
              </a:rPr>
              <a:t>05  The Business demonstration</a:t>
            </a:r>
          </a:p>
        </p:txBody>
      </p:sp>
      <p:sp>
        <p:nvSpPr>
          <p:cNvPr id="3" name="">
            <a:extLst xmlns:a="http://schemas.openxmlformats.org/drawingml/2006/main">
              <a:ext uri="{FF2B5EF4-FFF2-40B4-BE49-F238E27FC236}">
                <a16:creationId xmlns:a16="http://schemas.microsoft.com/office/drawing/2014/main" id="{E7023A8C-CEC5-4D99-95E8-98B9F4515D11}"/>
              </a:ext>
            </a:extLst>
          </p:cNvPr>
          <p:cNvSpPr>
            <a:spLocks xmlns:a="http://schemas.openxmlformats.org/drawingml/2006/main" noGrp="1"/>
          </p:cNvSpPr>
          <p:nvPr/>
        </p:nvSpPr>
        <p:spPr>
          <a:xfrm xmlns:a="http://schemas.openxmlformats.org/drawingml/2006/main">
            <a:off x="10668000" y="64389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AFBBC5"/>
                </a:solidFill>
              </a:defRPr>
            </a:defPPr>
          </a:lstStyle>
          <a:p xmlns:a="http://schemas.openxmlformats.org/drawingml/2006/main">
            <a:pPr>
              <a:defRPr sz="1050" b="0">
                <a:solidFill>
                  <a:srgbClr val="AFBBC5"/>
                </a:solidFill>
              </a:defRPr>
            </a:pPr>
            <a:r>
              <a:rPr sz="1050" b="0">
                <a:solidFill>
                  <a:srgbClr val="AFBBC5"/>
                </a:solidFill>
              </a:rPr>
              <a:t>05 / 12</a:t>
            </a:r>
          </a:p>
        </p:txBody>
      </p:sp>
      <p:pic>
        <p:nvPicPr>
          <p:cNvPr id="4" name="">
            <a:extLst xmlns:a="http://schemas.openxmlformats.org/drawingml/2006/main">
              <a:ext uri="{FF2B5EF4-FFF2-40B4-BE49-F238E27FC236}">
                <a16:creationId xmlns:a16="http://schemas.microsoft.com/office/drawing/2014/main" id="{B9BBB4D8-A6B3-418B-99AB-71837E8FBDD9}"/>
              </a:ext>
            </a:extLst>
          </p:cNvPr>
          <p:cNvPicPr>
            <a:picLocks xmlns:a="http://schemas.openxmlformats.org/drawingml/2006/main" noChangeAspect="1"/>
          </p:cNvPicPr>
          <p:nvPr/>
        </p:nvPicPr>
        <p:blipFill>
          <a:blip xmlns:r="http://schemas.openxmlformats.org/officeDocument/2006/relationships" xmlns:a="http://schemas.openxmlformats.org/drawingml/2006/main" r:embed="Rd0051583dcb8431a"/>
          <a:stretch xmlns:a="http://schemas.openxmlformats.org/drawingml/2006/main"/>
        </p:blipFill>
        <p:spPr>
          <a:xfrm xmlns:a="http://schemas.openxmlformats.org/drawingml/2006/main">
            <a:off x="571500" y="1886545"/>
            <a:ext cx="7572375" cy="473273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151E5E6-E270-4198-AF66-E0FE890A59D2}"/>
              </a:ext>
            </a:extLst>
          </p:cNvPr>
          <p:cNvSpPr>
            <a:spLocks xmlns:a="http://schemas.openxmlformats.org/drawingml/2006/main" noGrp="1"/>
          </p:cNvSpPr>
          <p:nvPr/>
        </p:nvSpPr>
        <p:spPr>
          <a:xfrm xmlns:a="http://schemas.openxmlformats.org/drawingml/2006/main">
            <a:off x="8477250" y="2009775"/>
            <a:ext cx="33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82B8E7"/>
                </a:solidFill>
              </a:defRPr>
            </a:defPPr>
          </a:lstStyle>
          <a:p xmlns:a="http://schemas.openxmlformats.org/drawingml/2006/main">
            <a:pPr>
              <a:defRPr sz="2175" b="1">
                <a:solidFill>
                  <a:srgbClr val="82B8E7"/>
                </a:solidFill>
              </a:defRPr>
            </a:pPr>
            <a:r>
              <a:rPr sz="2175" b="1">
                <a:solidFill>
                  <a:srgbClr val="82B8E7"/>
                </a:solidFill>
              </a:rPr>
              <a:t>1</a:t>
            </a:r>
          </a:p>
        </p:txBody>
      </p:sp>
      <p:sp>
        <p:nvSpPr>
          <p:cNvPr id="6" name="">
            <a:extLst xmlns:a="http://schemas.openxmlformats.org/drawingml/2006/main">
              <a:ext uri="{FF2B5EF4-FFF2-40B4-BE49-F238E27FC236}">
                <a16:creationId xmlns:a16="http://schemas.microsoft.com/office/drawing/2014/main" id="{300D7A0E-A9C0-437A-883F-AA0BE51E692D}"/>
              </a:ext>
            </a:extLst>
          </p:cNvPr>
          <p:cNvSpPr>
            <a:spLocks xmlns:a="http://schemas.openxmlformats.org/drawingml/2006/main" noGrp="1"/>
          </p:cNvSpPr>
          <p:nvPr/>
        </p:nvSpPr>
        <p:spPr>
          <a:xfrm xmlns:a="http://schemas.openxmlformats.org/drawingml/2006/main">
            <a:off x="8934450" y="2009775"/>
            <a:ext cx="2638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FFFFF"/>
                </a:solidFill>
              </a:defRPr>
            </a:defPPr>
          </a:lstStyle>
          <a:p xmlns:a="http://schemas.openxmlformats.org/drawingml/2006/main">
            <a:pPr>
              <a:defRPr sz="1800" b="0">
                <a:solidFill>
                  <a:srgbClr val="FFFFFF"/>
                </a:solidFill>
              </a:defRPr>
            </a:pPr>
            <a:r>
              <a:rPr sz="1800" b="0">
                <a:solidFill>
                  <a:srgbClr val="FFFFFF"/>
                </a:solidFill>
              </a:rPr>
              <a:t>Scan the bundled shop</a:t>
            </a:r>
          </a:p>
        </p:txBody>
      </p:sp>
      <p:sp>
        <p:nvSpPr>
          <p:cNvPr id="7" name="">
            <a:extLst xmlns:a="http://schemas.openxmlformats.org/drawingml/2006/main">
              <a:ext uri="{FF2B5EF4-FFF2-40B4-BE49-F238E27FC236}">
                <a16:creationId xmlns:a16="http://schemas.microsoft.com/office/drawing/2014/main" id="{1A950839-5F21-4979-AE73-65AFE822155D}"/>
              </a:ext>
            </a:extLst>
          </p:cNvPr>
          <p:cNvSpPr>
            <a:spLocks xmlns:a="http://schemas.openxmlformats.org/drawingml/2006/main" noGrp="1"/>
          </p:cNvSpPr>
          <p:nvPr/>
        </p:nvSpPr>
        <p:spPr>
          <a:xfrm xmlns:a="http://schemas.openxmlformats.org/drawingml/2006/main">
            <a:off x="8477250" y="2762250"/>
            <a:ext cx="33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82B8E7"/>
                </a:solidFill>
              </a:defRPr>
            </a:defPPr>
          </a:lstStyle>
          <a:p xmlns:a="http://schemas.openxmlformats.org/drawingml/2006/main">
            <a:pPr>
              <a:defRPr sz="2175" b="1">
                <a:solidFill>
                  <a:srgbClr val="82B8E7"/>
                </a:solidFill>
              </a:defRPr>
            </a:pPr>
            <a:r>
              <a:rPr sz="2175" b="1">
                <a:solidFill>
                  <a:srgbClr val="82B8E7"/>
                </a:solidFill>
              </a:rPr>
              <a:t>2</a:t>
            </a:r>
          </a:p>
        </p:txBody>
      </p:sp>
      <p:sp>
        <p:nvSpPr>
          <p:cNvPr id="8" name="">
            <a:extLst xmlns:a="http://schemas.openxmlformats.org/drawingml/2006/main">
              <a:ext uri="{FF2B5EF4-FFF2-40B4-BE49-F238E27FC236}">
                <a16:creationId xmlns:a16="http://schemas.microsoft.com/office/drawing/2014/main" id="{7A87EA6B-BA72-44B6-8A9A-01F023A34FB6}"/>
              </a:ext>
            </a:extLst>
          </p:cNvPr>
          <p:cNvSpPr>
            <a:spLocks xmlns:a="http://schemas.openxmlformats.org/drawingml/2006/main" noGrp="1"/>
          </p:cNvSpPr>
          <p:nvPr/>
        </p:nvSpPr>
        <p:spPr>
          <a:xfrm xmlns:a="http://schemas.openxmlformats.org/drawingml/2006/main">
            <a:off x="8934450" y="2762250"/>
            <a:ext cx="2638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FFFFF"/>
                </a:solidFill>
              </a:defRPr>
            </a:defPPr>
          </a:lstStyle>
          <a:p xmlns:a="http://schemas.openxmlformats.org/drawingml/2006/main">
            <a:pPr>
              <a:defRPr sz="1800" b="0">
                <a:solidFill>
                  <a:srgbClr val="FFFFFF"/>
                </a:solidFill>
              </a:defRPr>
            </a:pPr>
            <a:r>
              <a:rPr sz="1800" b="0">
                <a:solidFill>
                  <a:srgbClr val="FFFFFF"/>
                </a:solidFill>
              </a:rPr>
              <a:t>Register a test account</a:t>
            </a:r>
          </a:p>
        </p:txBody>
      </p:sp>
      <p:sp>
        <p:nvSpPr>
          <p:cNvPr id="9" name="">
            <a:extLst xmlns:a="http://schemas.openxmlformats.org/drawingml/2006/main">
              <a:ext uri="{FF2B5EF4-FFF2-40B4-BE49-F238E27FC236}">
                <a16:creationId xmlns:a16="http://schemas.microsoft.com/office/drawing/2014/main" id="{ED3A32A0-AFE3-4135-BB73-60F33D830DC6}"/>
              </a:ext>
            </a:extLst>
          </p:cNvPr>
          <p:cNvSpPr>
            <a:spLocks xmlns:a="http://schemas.openxmlformats.org/drawingml/2006/main" noGrp="1"/>
          </p:cNvSpPr>
          <p:nvPr/>
        </p:nvSpPr>
        <p:spPr>
          <a:xfrm xmlns:a="http://schemas.openxmlformats.org/drawingml/2006/main">
            <a:off x="8477250" y="3514725"/>
            <a:ext cx="33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82B8E7"/>
                </a:solidFill>
              </a:defRPr>
            </a:defPPr>
          </a:lstStyle>
          <a:p xmlns:a="http://schemas.openxmlformats.org/drawingml/2006/main">
            <a:pPr>
              <a:defRPr sz="2175" b="1">
                <a:solidFill>
                  <a:srgbClr val="82B8E7"/>
                </a:solidFill>
              </a:defRPr>
            </a:pPr>
            <a:r>
              <a:rPr sz="2175" b="1">
                <a:solidFill>
                  <a:srgbClr val="82B8E7"/>
                </a:solidFill>
              </a:rPr>
              <a:t>3</a:t>
            </a:r>
          </a:p>
        </p:txBody>
      </p:sp>
      <p:sp>
        <p:nvSpPr>
          <p:cNvPr id="10" name="">
            <a:extLst xmlns:a="http://schemas.openxmlformats.org/drawingml/2006/main">
              <a:ext uri="{FF2B5EF4-FFF2-40B4-BE49-F238E27FC236}">
                <a16:creationId xmlns:a16="http://schemas.microsoft.com/office/drawing/2014/main" id="{07C78E02-3FA3-43F7-8A4C-655B0FE492DF}"/>
              </a:ext>
            </a:extLst>
          </p:cNvPr>
          <p:cNvSpPr>
            <a:spLocks xmlns:a="http://schemas.openxmlformats.org/drawingml/2006/main" noGrp="1"/>
          </p:cNvSpPr>
          <p:nvPr/>
        </p:nvSpPr>
        <p:spPr>
          <a:xfrm xmlns:a="http://schemas.openxmlformats.org/drawingml/2006/main">
            <a:off x="8934450" y="3514725"/>
            <a:ext cx="2638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FFFFF"/>
                </a:solidFill>
              </a:defRPr>
            </a:defPPr>
          </a:lstStyle>
          <a:p xmlns:a="http://schemas.openxmlformats.org/drawingml/2006/main">
            <a:pPr>
              <a:defRPr sz="1800" b="0">
                <a:solidFill>
                  <a:srgbClr val="FFFFFF"/>
                </a:solidFill>
              </a:defRPr>
            </a:pPr>
            <a:r>
              <a:rPr sz="1800" b="0">
                <a:solidFill>
                  <a:srgbClr val="FFFFFF"/>
                </a:solidFill>
              </a:rPr>
              <a:t>Open the Hacker alert</a:t>
            </a:r>
          </a:p>
        </p:txBody>
      </p:sp>
      <p:sp>
        <p:nvSpPr>
          <p:cNvPr id="11" name="">
            <a:extLst xmlns:a="http://schemas.openxmlformats.org/drawingml/2006/main">
              <a:ext uri="{FF2B5EF4-FFF2-40B4-BE49-F238E27FC236}">
                <a16:creationId xmlns:a16="http://schemas.microsoft.com/office/drawing/2014/main" id="{A1BAAEB2-954D-4655-BDF1-92C79039793C}"/>
              </a:ext>
            </a:extLst>
          </p:cNvPr>
          <p:cNvSpPr>
            <a:spLocks xmlns:a="http://schemas.openxmlformats.org/drawingml/2006/main" noGrp="1"/>
          </p:cNvSpPr>
          <p:nvPr/>
        </p:nvSpPr>
        <p:spPr>
          <a:xfrm xmlns:a="http://schemas.openxmlformats.org/drawingml/2006/main">
            <a:off x="8477250" y="4267200"/>
            <a:ext cx="33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82B8E7"/>
                </a:solidFill>
              </a:defRPr>
            </a:defPPr>
          </a:lstStyle>
          <a:p xmlns:a="http://schemas.openxmlformats.org/drawingml/2006/main">
            <a:pPr>
              <a:defRPr sz="2175" b="1">
                <a:solidFill>
                  <a:srgbClr val="82B8E7"/>
                </a:solidFill>
              </a:defRPr>
            </a:pPr>
            <a:r>
              <a:rPr sz="2175" b="1">
                <a:solidFill>
                  <a:srgbClr val="82B8E7"/>
                </a:solidFill>
              </a:rPr>
              <a:t>4</a:t>
            </a:r>
          </a:p>
        </p:txBody>
      </p:sp>
      <p:sp>
        <p:nvSpPr>
          <p:cNvPr id="12" name="">
            <a:extLst xmlns:a="http://schemas.openxmlformats.org/drawingml/2006/main">
              <a:ext uri="{FF2B5EF4-FFF2-40B4-BE49-F238E27FC236}">
                <a16:creationId xmlns:a16="http://schemas.microsoft.com/office/drawing/2014/main" id="{D6F4AC63-B1A9-47B9-B8AD-7C2E11493763}"/>
              </a:ext>
            </a:extLst>
          </p:cNvPr>
          <p:cNvSpPr>
            <a:spLocks xmlns:a="http://schemas.openxmlformats.org/drawingml/2006/main" noGrp="1"/>
          </p:cNvSpPr>
          <p:nvPr/>
        </p:nvSpPr>
        <p:spPr>
          <a:xfrm xmlns:a="http://schemas.openxmlformats.org/drawingml/2006/main">
            <a:off x="8934450" y="4267200"/>
            <a:ext cx="2638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FFFFF"/>
                </a:solidFill>
              </a:defRPr>
            </a:defPPr>
          </a:lstStyle>
          <a:p xmlns:a="http://schemas.openxmlformats.org/drawingml/2006/main">
            <a:pPr>
              <a:defRPr sz="1800" b="0">
                <a:solidFill>
                  <a:srgbClr val="FFFFFF"/>
                </a:solidFill>
              </a:defRPr>
            </a:pPr>
            <a:r>
              <a:rPr sz="1800" b="0">
                <a:solidFill>
                  <a:srgbClr val="FFFFFF"/>
                </a:solidFill>
              </a:rPr>
              <a:t>Repair and retry</a:t>
            </a:r>
          </a:p>
        </p:txBody>
      </p:sp>
      <p:sp>
        <p:nvSpPr>
          <p:cNvPr id="13" name="">
            <a:extLst xmlns:a="http://schemas.openxmlformats.org/drawingml/2006/main">
              <a:ext uri="{FF2B5EF4-FFF2-40B4-BE49-F238E27FC236}">
                <a16:creationId xmlns:a16="http://schemas.microsoft.com/office/drawing/2014/main" id="{CC643F89-8417-4412-89E1-C58D6A4FFEE4}"/>
              </a:ext>
            </a:extLst>
          </p:cNvPr>
          <p:cNvSpPr>
            <a:spLocks xmlns:a="http://schemas.openxmlformats.org/drawingml/2006/main" noGrp="1"/>
          </p:cNvSpPr>
          <p:nvPr/>
        </p:nvSpPr>
        <p:spPr>
          <a:xfrm xmlns:a="http://schemas.openxmlformats.org/drawingml/2006/main">
            <a:off x="8477250" y="5019675"/>
            <a:ext cx="33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82B8E7"/>
                </a:solidFill>
              </a:defRPr>
            </a:defPPr>
          </a:lstStyle>
          <a:p xmlns:a="http://schemas.openxmlformats.org/drawingml/2006/main">
            <a:pPr>
              <a:defRPr sz="2175" b="1">
                <a:solidFill>
                  <a:srgbClr val="82B8E7"/>
                </a:solidFill>
              </a:defRPr>
            </a:pPr>
            <a:r>
              <a:rPr sz="2175" b="1">
                <a:solidFill>
                  <a:srgbClr val="82B8E7"/>
                </a:solidFill>
              </a:rPr>
              <a:t>5</a:t>
            </a:r>
          </a:p>
        </p:txBody>
      </p:sp>
      <p:sp>
        <p:nvSpPr>
          <p:cNvPr id="14" name="">
            <a:extLst xmlns:a="http://schemas.openxmlformats.org/drawingml/2006/main">
              <a:ext uri="{FF2B5EF4-FFF2-40B4-BE49-F238E27FC236}">
                <a16:creationId xmlns:a16="http://schemas.microsoft.com/office/drawing/2014/main" id="{A89C8200-AA4A-46F1-9B0C-CEC79476B156}"/>
              </a:ext>
            </a:extLst>
          </p:cNvPr>
          <p:cNvSpPr>
            <a:spLocks xmlns:a="http://schemas.openxmlformats.org/drawingml/2006/main" noGrp="1"/>
          </p:cNvSpPr>
          <p:nvPr/>
        </p:nvSpPr>
        <p:spPr>
          <a:xfrm xmlns:a="http://schemas.openxmlformats.org/drawingml/2006/main">
            <a:off x="8934450" y="5019675"/>
            <a:ext cx="2638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FFFFFF"/>
                </a:solidFill>
              </a:defRPr>
            </a:defPPr>
          </a:lstStyle>
          <a:p xmlns:a="http://schemas.openxmlformats.org/drawingml/2006/main">
            <a:pPr>
              <a:defRPr sz="1800" b="0">
                <a:solidFill>
                  <a:srgbClr val="FFFFFF"/>
                </a:solidFill>
              </a:defRPr>
            </a:pPr>
            <a:r>
              <a:rPr sz="1800" b="0">
                <a:solidFill>
                  <a:srgbClr val="FFFFFF"/>
                </a:solidFill>
              </a:rPr>
              <a:t>Verify, export, show partner</a:t>
            </a:r>
          </a:p>
        </p:txBody>
      </p:sp>
      <p:sp>
        <p:nvSpPr>
          <p:cNvPr id="15" name="">
            <a:extLst xmlns:a="http://schemas.openxmlformats.org/drawingml/2006/main">
              <a:ext uri="{FF2B5EF4-FFF2-40B4-BE49-F238E27FC236}">
                <a16:creationId xmlns:a16="http://schemas.microsoft.com/office/drawing/2014/main" id="{C11385E0-C5BD-4A79-B1E4-B18B1261F55F}"/>
              </a:ext>
            </a:extLst>
          </p:cNvPr>
          <p:cNvSpPr>
            <a:spLocks xmlns:a="http://schemas.openxmlformats.org/drawingml/2006/main" noGrp="1"/>
          </p:cNvSpPr>
          <p:nvPr/>
        </p:nvSpPr>
        <p:spPr>
          <a:xfrm xmlns:a="http://schemas.openxmlformats.org/drawingml/2006/main">
            <a:off x="8477250" y="5848350"/>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B6C8D5"/>
                </a:solidFill>
              </a:defRPr>
            </a:defPPr>
          </a:lstStyle>
          <a:p xmlns:a="http://schemas.openxmlformats.org/drawingml/2006/main">
            <a:pPr>
              <a:defRPr sz="1350" b="0">
                <a:solidFill>
                  <a:srgbClr val="B6C8D5"/>
                </a:solidFill>
              </a:defRPr>
            </a:pPr>
            <a:r>
              <a:rPr sz="1350" b="0">
                <a:solidFill>
                  <a:srgbClr val="B6C8D5"/>
                </a:solidFill>
              </a:rPr>
              <a:t>25 known guesses. Real password test. Synthetic accounts only.</a:t>
            </a:r>
          </a:p>
        </p:txBody>
      </p:sp>
    </p:spTree>
    <p:extLst>
      <p:ext uri="{BB962C8B-B14F-4D97-AF65-F5344CB8AC3E}">
        <p14:creationId xmlns:p14="http://schemas.microsoft.com/office/powerpoint/2010/main" val="503128577"/>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D52C473-D2D3-41CF-8C41-61E2C50CF192}"/>
              </a:ext>
            </a:extLst>
          </p:cNvPr>
          <p:cNvSpPr>
            <a:spLocks xmlns:a="http://schemas.openxmlformats.org/drawingml/2006/main" noGrp="1"/>
          </p:cNvSpPr>
          <p:nvPr/>
        </p:nvSpPr>
        <p:spPr>
          <a:xfrm xmlns:a="http://schemas.openxmlformats.org/drawingml/2006/main">
            <a:off x="5715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36575"/>
                </a:solidFill>
              </a:defRPr>
            </a:defPPr>
          </a:lstStyle>
          <a:p xmlns:a="http://schemas.openxmlformats.org/drawingml/2006/main">
            <a:pPr>
              <a:defRPr sz="1050" b="1">
                <a:solidFill>
                  <a:srgbClr val="536575"/>
                </a:solidFill>
              </a:defRPr>
            </a:pPr>
            <a:r>
              <a:rPr sz="1050" b="1">
                <a:solidFill>
                  <a:srgbClr val="536575"/>
                </a:solidFill>
              </a:rPr>
              <a:t>TECH SQUAD    /    CRYPTIQ</a:t>
            </a:r>
          </a:p>
        </p:txBody>
      </p:sp>
      <p:sp>
        <p:nvSpPr>
          <p:cNvPr id="2" name="">
            <a:extLst xmlns:a="http://schemas.openxmlformats.org/drawingml/2006/main">
              <a:ext uri="{FF2B5EF4-FFF2-40B4-BE49-F238E27FC236}">
                <a16:creationId xmlns:a16="http://schemas.microsoft.com/office/drawing/2014/main" id="{799D2485-7589-461B-90EC-2CC436E95C82}"/>
              </a:ext>
            </a:extLst>
          </p:cNvPr>
          <p:cNvSpPr>
            <a:spLocks xmlns:a="http://schemas.openxmlformats.org/drawingml/2006/main" noGrp="1"/>
          </p:cNvSpPr>
          <p:nvPr/>
        </p:nvSpPr>
        <p:spPr>
          <a:xfrm xmlns:a="http://schemas.openxmlformats.org/drawingml/2006/main">
            <a:off x="571500" y="8191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638"/>
                </a:solidFill>
              </a:defRPr>
            </a:defPPr>
          </a:lstStyle>
          <a:p xmlns:a="http://schemas.openxmlformats.org/drawingml/2006/main">
            <a:pPr>
              <a:defRPr sz="3300" b="1">
                <a:solidFill>
                  <a:srgbClr val="102638"/>
                </a:solidFill>
              </a:defRPr>
            </a:pPr>
            <a:r>
              <a:rPr sz="3300" b="1">
                <a:solidFill>
                  <a:srgbClr val="102638"/>
                </a:solidFill>
              </a:rPr>
              <a:t>06  How the prototype works</a:t>
            </a:r>
          </a:p>
        </p:txBody>
      </p:sp>
      <p:sp>
        <p:nvSpPr>
          <p:cNvPr id="3" name="">
            <a:extLst xmlns:a="http://schemas.openxmlformats.org/drawingml/2006/main">
              <a:ext uri="{FF2B5EF4-FFF2-40B4-BE49-F238E27FC236}">
                <a16:creationId xmlns:a16="http://schemas.microsoft.com/office/drawing/2014/main" id="{0F07E3A7-EE5E-48A1-869D-7B7C355D1917}"/>
              </a:ext>
            </a:extLst>
          </p:cNvPr>
          <p:cNvSpPr>
            <a:spLocks xmlns:a="http://schemas.openxmlformats.org/drawingml/2006/main" noGrp="1"/>
          </p:cNvSpPr>
          <p:nvPr/>
        </p:nvSpPr>
        <p:spPr>
          <a:xfrm xmlns:a="http://schemas.openxmlformats.org/drawingml/2006/main">
            <a:off x="10668000" y="64389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575"/>
                </a:solidFill>
              </a:defRPr>
            </a:defPPr>
          </a:lstStyle>
          <a:p xmlns:a="http://schemas.openxmlformats.org/drawingml/2006/main">
            <a:pPr>
              <a:defRPr sz="1050" b="0">
                <a:solidFill>
                  <a:srgbClr val="536575"/>
                </a:solidFill>
              </a:defRPr>
            </a:pPr>
            <a:r>
              <a:rPr sz="1050" b="0">
                <a:solidFill>
                  <a:srgbClr val="536575"/>
                </a:solidFill>
              </a:rPr>
              <a:t>06 / 12</a:t>
            </a:r>
          </a:p>
        </p:txBody>
      </p:sp>
      <p:sp>
        <p:nvSpPr>
          <p:cNvPr id="4" name="">
            <a:extLst xmlns:a="http://schemas.openxmlformats.org/drawingml/2006/main">
              <a:ext uri="{FF2B5EF4-FFF2-40B4-BE49-F238E27FC236}">
                <a16:creationId xmlns:a16="http://schemas.microsoft.com/office/drawing/2014/main" id="{9CF2BEBC-1BB7-4CF9-990F-8D586CED8376}"/>
              </a:ext>
            </a:extLst>
          </p:cNvPr>
          <p:cNvSpPr>
            <a:spLocks xmlns:a="http://schemas.openxmlformats.org/drawingml/2006/main" noGrp="1"/>
          </p:cNvSpPr>
          <p:nvPr/>
        </p:nvSpPr>
        <p:spPr>
          <a:xfrm xmlns:a="http://schemas.openxmlformats.org/drawingml/2006/main">
            <a:off x="571500" y="2124075"/>
            <a:ext cx="31432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B6C5D0"/>
            </a:solidFill>
          </a:ln>
        </p:spPr>
      </p:sp>
      <p:sp>
        <p:nvSpPr>
          <p:cNvPr id="5" name="">
            <a:extLst xmlns:a="http://schemas.openxmlformats.org/drawingml/2006/main">
              <a:ext uri="{FF2B5EF4-FFF2-40B4-BE49-F238E27FC236}">
                <a16:creationId xmlns:a16="http://schemas.microsoft.com/office/drawing/2014/main" id="{1B78DD17-ED25-41FC-8C4F-D01C3FF98C3E}"/>
              </a:ext>
            </a:extLst>
          </p:cNvPr>
          <p:cNvSpPr>
            <a:spLocks xmlns:a="http://schemas.openxmlformats.org/drawingml/2006/main" noGrp="1"/>
          </p:cNvSpPr>
          <p:nvPr/>
        </p:nvSpPr>
        <p:spPr>
          <a:xfrm xmlns:a="http://schemas.openxmlformats.org/drawingml/2006/main">
            <a:off x="723900" y="225742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02638"/>
                </a:solidFill>
              </a:defRPr>
            </a:defPPr>
          </a:lstStyle>
          <a:p xmlns:a="http://schemas.openxmlformats.org/drawingml/2006/main">
            <a:pPr>
              <a:defRPr sz="1800" b="1">
                <a:solidFill>
                  <a:srgbClr val="102638"/>
                </a:solidFill>
              </a:defRPr>
            </a:pPr>
            <a:r>
              <a:rPr sz="1800" b="1">
                <a:solidFill>
                  <a:srgbClr val="102638"/>
                </a:solidFill>
              </a:rPr>
              <a:t>React experiences</a:t>
            </a:r>
          </a:p>
        </p:txBody>
      </p:sp>
      <p:sp>
        <p:nvSpPr>
          <p:cNvPr id="6" name="">
            <a:extLst xmlns:a="http://schemas.openxmlformats.org/drawingml/2006/main">
              <a:ext uri="{FF2B5EF4-FFF2-40B4-BE49-F238E27FC236}">
                <a16:creationId xmlns:a16="http://schemas.microsoft.com/office/drawing/2014/main" id="{022671E3-CE50-4EBF-ADB6-FADDC83F34D1}"/>
              </a:ext>
            </a:extLst>
          </p:cNvPr>
          <p:cNvSpPr>
            <a:spLocks xmlns:a="http://schemas.openxmlformats.org/drawingml/2006/main" noGrp="1"/>
          </p:cNvSpPr>
          <p:nvPr/>
        </p:nvSpPr>
        <p:spPr>
          <a:xfrm xmlns:a="http://schemas.openxmlformats.org/drawingml/2006/main">
            <a:off x="723900" y="2619375"/>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575"/>
                </a:solidFill>
              </a:defRPr>
            </a:defPPr>
          </a:lstStyle>
          <a:p xmlns:a="http://schemas.openxmlformats.org/drawingml/2006/main">
            <a:pPr>
              <a:defRPr sz="1275" b="0">
                <a:solidFill>
                  <a:srgbClr val="536575"/>
                </a:solidFill>
              </a:defRPr>
            </a:pPr>
            <a:r>
              <a:rPr sz="1275" b="0">
                <a:solidFill>
                  <a:srgbClr val="536575"/>
                </a:solidFill>
              </a:rPr>
              <a:t>Dashboard, Hacker, Partner</a:t>
            </a:r>
          </a:p>
        </p:txBody>
      </p:sp>
      <p:sp>
        <p:nvSpPr>
          <p:cNvPr id="7" name="">
            <a:extLst xmlns:a="http://schemas.openxmlformats.org/drawingml/2006/main">
              <a:ext uri="{FF2B5EF4-FFF2-40B4-BE49-F238E27FC236}">
                <a16:creationId xmlns:a16="http://schemas.microsoft.com/office/drawing/2014/main" id="{F21E6F54-60DF-420F-8940-25B3C167AE46}"/>
              </a:ext>
            </a:extLst>
          </p:cNvPr>
          <p:cNvSpPr>
            <a:spLocks xmlns:a="http://schemas.openxmlformats.org/drawingml/2006/main" noGrp="1"/>
          </p:cNvSpPr>
          <p:nvPr/>
        </p:nvSpPr>
        <p:spPr>
          <a:xfrm xmlns:a="http://schemas.openxmlformats.org/drawingml/2006/main">
            <a:off x="3857625" y="223837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0">
                <a:solidFill>
                  <a:srgbClr val="2465A0"/>
                </a:solidFill>
              </a:defRPr>
            </a:defPPr>
          </a:lstStyle>
          <a:p xmlns:a="http://schemas.openxmlformats.org/drawingml/2006/main">
            <a:pPr>
              <a:defRPr sz="3000" b="0">
                <a:solidFill>
                  <a:srgbClr val="2465A0"/>
                </a:solidFill>
              </a:defRPr>
            </a:pPr>
            <a:r>
              <a:rPr sz="3000" b="0">
                <a:solidFill>
                  <a:srgbClr val="2465A0"/>
                </a:solidFill>
              </a:rPr>
              <a:t>→</a:t>
            </a:r>
          </a:p>
        </p:txBody>
      </p:sp>
      <p:sp>
        <p:nvSpPr>
          <p:cNvPr id="8" name="">
            <a:extLst xmlns:a="http://schemas.openxmlformats.org/drawingml/2006/main">
              <a:ext uri="{FF2B5EF4-FFF2-40B4-BE49-F238E27FC236}">
                <a16:creationId xmlns:a16="http://schemas.microsoft.com/office/drawing/2014/main" id="{D4811EF2-6F5D-4600-AF12-341006D1D38E}"/>
              </a:ext>
            </a:extLst>
          </p:cNvPr>
          <p:cNvSpPr>
            <a:spLocks xmlns:a="http://schemas.openxmlformats.org/drawingml/2006/main" noGrp="1"/>
          </p:cNvSpPr>
          <p:nvPr/>
        </p:nvSpPr>
        <p:spPr>
          <a:xfrm xmlns:a="http://schemas.openxmlformats.org/drawingml/2006/main">
            <a:off x="4667250" y="2124075"/>
            <a:ext cx="31432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B6C5D0"/>
            </a:solidFill>
          </a:ln>
        </p:spPr>
      </p:sp>
      <p:sp>
        <p:nvSpPr>
          <p:cNvPr id="9" name="">
            <a:extLst xmlns:a="http://schemas.openxmlformats.org/drawingml/2006/main">
              <a:ext uri="{FF2B5EF4-FFF2-40B4-BE49-F238E27FC236}">
                <a16:creationId xmlns:a16="http://schemas.microsoft.com/office/drawing/2014/main" id="{4D7071E6-2872-4E09-A289-052510FCAA4C}"/>
              </a:ext>
            </a:extLst>
          </p:cNvPr>
          <p:cNvSpPr>
            <a:spLocks xmlns:a="http://schemas.openxmlformats.org/drawingml/2006/main" noGrp="1"/>
          </p:cNvSpPr>
          <p:nvPr/>
        </p:nvSpPr>
        <p:spPr>
          <a:xfrm xmlns:a="http://schemas.openxmlformats.org/drawingml/2006/main">
            <a:off x="4819650" y="2257425"/>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02638"/>
                </a:solidFill>
              </a:defRPr>
            </a:defPPr>
          </a:lstStyle>
          <a:p xmlns:a="http://schemas.openxmlformats.org/drawingml/2006/main">
            <a:pPr>
              <a:defRPr sz="1800" b="1">
                <a:solidFill>
                  <a:srgbClr val="102638"/>
                </a:solidFill>
              </a:defRPr>
            </a:pPr>
            <a:r>
              <a:rPr sz="1800" b="1">
                <a:solidFill>
                  <a:srgbClr val="102638"/>
                </a:solidFill>
              </a:rPr>
              <a:t>FastAPI workflow</a:t>
            </a:r>
          </a:p>
        </p:txBody>
      </p:sp>
      <p:sp>
        <p:nvSpPr>
          <p:cNvPr id="10" name="">
            <a:extLst xmlns:a="http://schemas.openxmlformats.org/drawingml/2006/main">
              <a:ext uri="{FF2B5EF4-FFF2-40B4-BE49-F238E27FC236}">
                <a16:creationId xmlns:a16="http://schemas.microsoft.com/office/drawing/2014/main" id="{EC445BCB-FE90-4394-BCCB-62DC6243E6E3}"/>
              </a:ext>
            </a:extLst>
          </p:cNvPr>
          <p:cNvSpPr>
            <a:spLocks xmlns:a="http://schemas.openxmlformats.org/drawingml/2006/main" noGrp="1"/>
          </p:cNvSpPr>
          <p:nvPr/>
        </p:nvSpPr>
        <p:spPr>
          <a:xfrm xmlns:a="http://schemas.openxmlformats.org/drawingml/2006/main">
            <a:off x="4819650" y="2619375"/>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575"/>
                </a:solidFill>
              </a:defRPr>
            </a:defPPr>
          </a:lstStyle>
          <a:p xmlns:a="http://schemas.openxmlformats.org/drawingml/2006/main">
            <a:pPr>
              <a:defRPr sz="1275" b="0">
                <a:solidFill>
                  <a:srgbClr val="536575"/>
                </a:solidFill>
              </a:defRPr>
            </a:pPr>
            <a:r>
              <a:rPr sz="1275" b="0">
                <a:solidFill>
                  <a:srgbClr val="536575"/>
                </a:solidFill>
              </a:rPr>
              <a:t>Jobs, findings and evidence</a:t>
            </a:r>
          </a:p>
        </p:txBody>
      </p:sp>
      <p:sp>
        <p:nvSpPr>
          <p:cNvPr id="11" name="">
            <a:extLst xmlns:a="http://schemas.openxmlformats.org/drawingml/2006/main">
              <a:ext uri="{FF2B5EF4-FFF2-40B4-BE49-F238E27FC236}">
                <a16:creationId xmlns:a16="http://schemas.microsoft.com/office/drawing/2014/main" id="{2E47E2A3-2A89-48F4-822A-50ACAD541E34}"/>
              </a:ext>
            </a:extLst>
          </p:cNvPr>
          <p:cNvSpPr>
            <a:spLocks xmlns:a="http://schemas.openxmlformats.org/drawingml/2006/main" noGrp="1"/>
          </p:cNvSpPr>
          <p:nvPr/>
        </p:nvSpPr>
        <p:spPr>
          <a:xfrm xmlns:a="http://schemas.openxmlformats.org/drawingml/2006/main">
            <a:off x="8020050" y="2238375"/>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0">
                <a:solidFill>
                  <a:srgbClr val="2465A0"/>
                </a:solidFill>
              </a:defRPr>
            </a:defPPr>
          </a:lstStyle>
          <a:p xmlns:a="http://schemas.openxmlformats.org/drawingml/2006/main">
            <a:pPr>
              <a:defRPr sz="3000" b="0">
                <a:solidFill>
                  <a:srgbClr val="2465A0"/>
                </a:solidFill>
              </a:defRPr>
            </a:pPr>
            <a:r>
              <a:rPr sz="3000" b="0">
                <a:solidFill>
                  <a:srgbClr val="2465A0"/>
                </a:solidFill>
              </a:rPr>
              <a:t>→</a:t>
            </a:r>
          </a:p>
        </p:txBody>
      </p:sp>
      <p:sp>
        <p:nvSpPr>
          <p:cNvPr id="12" name="">
            <a:extLst xmlns:a="http://schemas.openxmlformats.org/drawingml/2006/main">
              <a:ext uri="{FF2B5EF4-FFF2-40B4-BE49-F238E27FC236}">
                <a16:creationId xmlns:a16="http://schemas.microsoft.com/office/drawing/2014/main" id="{14942A0F-A937-4F03-8305-CCB6CBB5A8D2}"/>
              </a:ext>
            </a:extLst>
          </p:cNvPr>
          <p:cNvSpPr>
            <a:spLocks xmlns:a="http://schemas.openxmlformats.org/drawingml/2006/main" noGrp="1"/>
          </p:cNvSpPr>
          <p:nvPr/>
        </p:nvSpPr>
        <p:spPr>
          <a:xfrm xmlns:a="http://schemas.openxmlformats.org/drawingml/2006/main">
            <a:off x="8763000" y="2124075"/>
            <a:ext cx="285750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B6C5D0"/>
            </a:solidFill>
          </a:ln>
        </p:spPr>
      </p:sp>
      <p:sp>
        <p:nvSpPr>
          <p:cNvPr id="13" name="">
            <a:extLst xmlns:a="http://schemas.openxmlformats.org/drawingml/2006/main">
              <a:ext uri="{FF2B5EF4-FFF2-40B4-BE49-F238E27FC236}">
                <a16:creationId xmlns:a16="http://schemas.microsoft.com/office/drawing/2014/main" id="{C9F50D8A-BE80-4717-BE55-8BBB5ACFA187}"/>
              </a:ext>
            </a:extLst>
          </p:cNvPr>
          <p:cNvSpPr>
            <a:spLocks xmlns:a="http://schemas.openxmlformats.org/drawingml/2006/main" noGrp="1"/>
          </p:cNvSpPr>
          <p:nvPr/>
        </p:nvSpPr>
        <p:spPr>
          <a:xfrm xmlns:a="http://schemas.openxmlformats.org/drawingml/2006/main">
            <a:off x="8915400" y="2257425"/>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02638"/>
                </a:solidFill>
              </a:defRPr>
            </a:defPPr>
          </a:lstStyle>
          <a:p xmlns:a="http://schemas.openxmlformats.org/drawingml/2006/main">
            <a:pPr>
              <a:defRPr sz="1800" b="1">
                <a:solidFill>
                  <a:srgbClr val="102638"/>
                </a:solidFill>
              </a:defRPr>
            </a:pPr>
            <a:r>
              <a:rPr sz="1800" b="1">
                <a:solidFill>
                  <a:srgbClr val="102638"/>
                </a:solidFill>
              </a:rPr>
              <a:t>Flask shop</a:t>
            </a:r>
          </a:p>
        </p:txBody>
      </p:sp>
      <p:sp>
        <p:nvSpPr>
          <p:cNvPr id="14" name="">
            <a:extLst xmlns:a="http://schemas.openxmlformats.org/drawingml/2006/main">
              <a:ext uri="{FF2B5EF4-FFF2-40B4-BE49-F238E27FC236}">
                <a16:creationId xmlns:a16="http://schemas.microsoft.com/office/drawing/2014/main" id="{FBAB24BB-4FC8-4560-A927-D7E6B41AE7F2}"/>
              </a:ext>
            </a:extLst>
          </p:cNvPr>
          <p:cNvSpPr>
            <a:spLocks xmlns:a="http://schemas.openxmlformats.org/drawingml/2006/main" noGrp="1"/>
          </p:cNvSpPr>
          <p:nvPr/>
        </p:nvSpPr>
        <p:spPr>
          <a:xfrm xmlns:a="http://schemas.openxmlformats.org/drawingml/2006/main">
            <a:off x="8915400" y="2619375"/>
            <a:ext cx="2552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575"/>
                </a:solidFill>
              </a:defRPr>
            </a:defPPr>
          </a:lstStyle>
          <a:p xmlns:a="http://schemas.openxmlformats.org/drawingml/2006/main">
            <a:pPr>
              <a:defRPr sz="1275" b="0">
                <a:solidFill>
                  <a:srgbClr val="536575"/>
                </a:solidFill>
              </a:defRPr>
            </a:pPr>
            <a:r>
              <a:rPr sz="1275" b="0">
                <a:solidFill>
                  <a:srgbClr val="536575"/>
                </a:solidFill>
              </a:rPr>
              <a:t>Signups, cart and orders</a:t>
            </a:r>
          </a:p>
        </p:txBody>
      </p:sp>
      <p:sp>
        <p:nvSpPr>
          <p:cNvPr id="15" name="">
            <a:extLst xmlns:a="http://schemas.openxmlformats.org/drawingml/2006/main">
              <a:ext uri="{FF2B5EF4-FFF2-40B4-BE49-F238E27FC236}">
                <a16:creationId xmlns:a16="http://schemas.microsoft.com/office/drawing/2014/main" id="{CF454674-1197-42E0-8D3C-BC838D723731}"/>
              </a:ext>
            </a:extLst>
          </p:cNvPr>
          <p:cNvSpPr>
            <a:spLocks xmlns:a="http://schemas.openxmlformats.org/drawingml/2006/main" noGrp="1"/>
          </p:cNvSpPr>
          <p:nvPr/>
        </p:nvSpPr>
        <p:spPr>
          <a:xfrm xmlns:a="http://schemas.openxmlformats.org/drawingml/2006/main">
            <a:off x="5953125" y="3048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0">
                <a:solidFill>
                  <a:srgbClr val="2465A0"/>
                </a:solidFill>
              </a:defRPr>
            </a:defPPr>
          </a:lstStyle>
          <a:p xmlns:a="http://schemas.openxmlformats.org/drawingml/2006/main">
            <a:pPr>
              <a:defRPr sz="3600" b="0">
                <a:solidFill>
                  <a:srgbClr val="2465A0"/>
                </a:solidFill>
              </a:defRPr>
            </a:pPr>
            <a:r>
              <a:rPr sz="3600" b="0">
                <a:solidFill>
                  <a:srgbClr val="2465A0"/>
                </a:solidFill>
              </a:rPr>
              <a:t>↓</a:t>
            </a:r>
          </a:p>
        </p:txBody>
      </p:sp>
      <p:sp>
        <p:nvSpPr>
          <p:cNvPr id="16" name="">
            <a:extLst xmlns:a="http://schemas.openxmlformats.org/drawingml/2006/main">
              <a:ext uri="{FF2B5EF4-FFF2-40B4-BE49-F238E27FC236}">
                <a16:creationId xmlns:a16="http://schemas.microsoft.com/office/drawing/2014/main" id="{B3B902D3-5400-4A24-A50B-D203144622F7}"/>
              </a:ext>
            </a:extLst>
          </p:cNvPr>
          <p:cNvSpPr>
            <a:spLocks xmlns:a="http://schemas.openxmlformats.org/drawingml/2006/main" noGrp="1"/>
          </p:cNvSpPr>
          <p:nvPr/>
        </p:nvSpPr>
        <p:spPr>
          <a:xfrm xmlns:a="http://schemas.openxmlformats.org/drawingml/2006/main">
            <a:off x="2762250" y="3924300"/>
            <a:ext cx="31432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B6C5D0"/>
            </a:solidFill>
          </a:ln>
        </p:spPr>
      </p:sp>
      <p:sp>
        <p:nvSpPr>
          <p:cNvPr id="17" name="">
            <a:extLst xmlns:a="http://schemas.openxmlformats.org/drawingml/2006/main">
              <a:ext uri="{FF2B5EF4-FFF2-40B4-BE49-F238E27FC236}">
                <a16:creationId xmlns:a16="http://schemas.microsoft.com/office/drawing/2014/main" id="{DE4C8967-15B6-4FA6-AA13-6E180B62F9AB}"/>
              </a:ext>
            </a:extLst>
          </p:cNvPr>
          <p:cNvSpPr>
            <a:spLocks xmlns:a="http://schemas.openxmlformats.org/drawingml/2006/main" noGrp="1"/>
          </p:cNvSpPr>
          <p:nvPr/>
        </p:nvSpPr>
        <p:spPr>
          <a:xfrm xmlns:a="http://schemas.openxmlformats.org/drawingml/2006/main">
            <a:off x="2914650" y="405765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02638"/>
                </a:solidFill>
              </a:defRPr>
            </a:defPPr>
          </a:lstStyle>
          <a:p xmlns:a="http://schemas.openxmlformats.org/drawingml/2006/main">
            <a:pPr>
              <a:defRPr sz="1800" b="1">
                <a:solidFill>
                  <a:srgbClr val="102638"/>
                </a:solidFill>
              </a:defRPr>
            </a:pPr>
            <a:r>
              <a:rPr sz="1800" b="1">
                <a:solidFill>
                  <a:srgbClr val="102638"/>
                </a:solidFill>
              </a:rPr>
              <a:t>Python AST rules</a:t>
            </a:r>
          </a:p>
        </p:txBody>
      </p:sp>
      <p:sp>
        <p:nvSpPr>
          <p:cNvPr id="18" name="">
            <a:extLst xmlns:a="http://schemas.openxmlformats.org/drawingml/2006/main">
              <a:ext uri="{FF2B5EF4-FFF2-40B4-BE49-F238E27FC236}">
                <a16:creationId xmlns:a16="http://schemas.microsoft.com/office/drawing/2014/main" id="{C61B455A-65EE-4EE3-9FA5-CC7BB8D5F52F}"/>
              </a:ext>
            </a:extLst>
          </p:cNvPr>
          <p:cNvSpPr>
            <a:spLocks xmlns:a="http://schemas.openxmlformats.org/drawingml/2006/main" noGrp="1"/>
          </p:cNvSpPr>
          <p:nvPr/>
        </p:nvSpPr>
        <p:spPr>
          <a:xfrm xmlns:a="http://schemas.openxmlformats.org/drawingml/2006/main">
            <a:off x="2914650" y="4419600"/>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575"/>
                </a:solidFill>
              </a:defRPr>
            </a:defPPr>
          </a:lstStyle>
          <a:p xmlns:a="http://schemas.openxmlformats.org/drawingml/2006/main">
            <a:pPr>
              <a:defRPr sz="1275" b="0">
                <a:solidFill>
                  <a:srgbClr val="536575"/>
                </a:solidFill>
              </a:defRPr>
            </a:pPr>
            <a:r>
              <a:rPr sz="1275" b="0">
                <a:solidFill>
                  <a:srgbClr val="536575"/>
                </a:solidFill>
              </a:rPr>
              <a:t>Eight supported rule families</a:t>
            </a:r>
          </a:p>
        </p:txBody>
      </p:sp>
      <p:sp>
        <p:nvSpPr>
          <p:cNvPr id="19" name="">
            <a:extLst xmlns:a="http://schemas.openxmlformats.org/drawingml/2006/main">
              <a:ext uri="{FF2B5EF4-FFF2-40B4-BE49-F238E27FC236}">
                <a16:creationId xmlns:a16="http://schemas.microsoft.com/office/drawing/2014/main" id="{68C5D95B-FA60-44FC-88D5-294D3C04F222}"/>
              </a:ext>
            </a:extLst>
          </p:cNvPr>
          <p:cNvSpPr>
            <a:spLocks xmlns:a="http://schemas.openxmlformats.org/drawingml/2006/main" noGrp="1"/>
          </p:cNvSpPr>
          <p:nvPr/>
        </p:nvSpPr>
        <p:spPr>
          <a:xfrm xmlns:a="http://schemas.openxmlformats.org/drawingml/2006/main">
            <a:off x="6477000" y="3924300"/>
            <a:ext cx="31432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B6C5D0"/>
            </a:solidFill>
          </a:ln>
        </p:spPr>
      </p:sp>
      <p:sp>
        <p:nvSpPr>
          <p:cNvPr id="20" name="">
            <a:extLst xmlns:a="http://schemas.openxmlformats.org/drawingml/2006/main">
              <a:ext uri="{FF2B5EF4-FFF2-40B4-BE49-F238E27FC236}">
                <a16:creationId xmlns:a16="http://schemas.microsoft.com/office/drawing/2014/main" id="{74F6DAD1-01D2-443C-B339-F14BF438E330}"/>
              </a:ext>
            </a:extLst>
          </p:cNvPr>
          <p:cNvSpPr>
            <a:spLocks xmlns:a="http://schemas.openxmlformats.org/drawingml/2006/main" noGrp="1"/>
          </p:cNvSpPr>
          <p:nvPr/>
        </p:nvSpPr>
        <p:spPr>
          <a:xfrm xmlns:a="http://schemas.openxmlformats.org/drawingml/2006/main">
            <a:off x="6629400" y="4057650"/>
            <a:ext cx="2838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02638"/>
                </a:solidFill>
              </a:defRPr>
            </a:defPPr>
          </a:lstStyle>
          <a:p xmlns:a="http://schemas.openxmlformats.org/drawingml/2006/main">
            <a:pPr>
              <a:defRPr sz="1800" b="1">
                <a:solidFill>
                  <a:srgbClr val="102638"/>
                </a:solidFill>
              </a:defRPr>
            </a:pPr>
            <a:r>
              <a:rPr sz="1800" b="1">
                <a:solidFill>
                  <a:srgbClr val="102638"/>
                </a:solidFill>
              </a:rPr>
              <a:t>SQLite storage</a:t>
            </a:r>
          </a:p>
        </p:txBody>
      </p:sp>
      <p:sp>
        <p:nvSpPr>
          <p:cNvPr id="21" name="">
            <a:extLst xmlns:a="http://schemas.openxmlformats.org/drawingml/2006/main">
              <a:ext uri="{FF2B5EF4-FFF2-40B4-BE49-F238E27FC236}">
                <a16:creationId xmlns:a16="http://schemas.microsoft.com/office/drawing/2014/main" id="{B4CD0A27-9EDE-4A0E-9040-F2BE52DBC79A}"/>
              </a:ext>
            </a:extLst>
          </p:cNvPr>
          <p:cNvSpPr>
            <a:spLocks xmlns:a="http://schemas.openxmlformats.org/drawingml/2006/main" noGrp="1"/>
          </p:cNvSpPr>
          <p:nvPr/>
        </p:nvSpPr>
        <p:spPr>
          <a:xfrm xmlns:a="http://schemas.openxmlformats.org/drawingml/2006/main">
            <a:off x="6629400" y="4419600"/>
            <a:ext cx="2838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575"/>
                </a:solidFill>
              </a:defRPr>
            </a:defPPr>
          </a:lstStyle>
          <a:p xmlns:a="http://schemas.openxmlformats.org/drawingml/2006/main">
            <a:pPr>
              <a:defRPr sz="1275" b="0">
                <a:solidFill>
                  <a:srgbClr val="536575"/>
                </a:solidFill>
              </a:defRPr>
            </a:pPr>
            <a:r>
              <a:rPr sz="1275" b="0">
                <a:solidFill>
                  <a:srgbClr val="536575"/>
                </a:solidFill>
              </a:rPr>
              <a:t>First 100 rows + total count</a:t>
            </a:r>
          </a:p>
        </p:txBody>
      </p:sp>
      <p:sp>
        <p:nvSpPr>
          <p:cNvPr id="22" name="">
            <a:extLst xmlns:a="http://schemas.openxmlformats.org/drawingml/2006/main">
              <a:ext uri="{FF2B5EF4-FFF2-40B4-BE49-F238E27FC236}">
                <a16:creationId xmlns:a16="http://schemas.microsoft.com/office/drawing/2014/main" id="{87A5EBD4-3F48-4E55-BC48-A3401938FC26}"/>
              </a:ext>
            </a:extLst>
          </p:cNvPr>
          <p:cNvSpPr>
            <a:spLocks xmlns:a="http://schemas.openxmlformats.org/drawingml/2006/main" noGrp="1"/>
          </p:cNvSpPr>
          <p:nvPr/>
        </p:nvSpPr>
        <p:spPr>
          <a:xfrm xmlns:a="http://schemas.openxmlformats.org/drawingml/2006/main">
            <a:off x="571500" y="534352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465A0"/>
                </a:solidFill>
              </a:defRPr>
            </a:defPPr>
          </a:lstStyle>
          <a:p xmlns:a="http://schemas.openxmlformats.org/drawingml/2006/main">
            <a:pPr>
              <a:defRPr sz="2025" b="1">
                <a:solidFill>
                  <a:srgbClr val="2465A0"/>
                </a:solidFill>
              </a:defRPr>
            </a:pPr>
            <a:r>
              <a:rPr sz="2025" b="1">
                <a:solidFill>
                  <a:srgbClr val="2465A0"/>
                </a:solidFill>
              </a:rPr>
              <a:t>Scan depth</a:t>
            </a:r>
          </a:p>
        </p:txBody>
      </p:sp>
      <p:sp>
        <p:nvSpPr>
          <p:cNvPr id="23" name="">
            <a:extLst xmlns:a="http://schemas.openxmlformats.org/drawingml/2006/main">
              <a:ext uri="{FF2B5EF4-FFF2-40B4-BE49-F238E27FC236}">
                <a16:creationId xmlns:a16="http://schemas.microsoft.com/office/drawing/2014/main" id="{4B5706DC-A1DE-4228-815E-6D44A9B5939B}"/>
              </a:ext>
            </a:extLst>
          </p:cNvPr>
          <p:cNvSpPr>
            <a:spLocks xmlns:a="http://schemas.openxmlformats.org/drawingml/2006/main" noGrp="1"/>
          </p:cNvSpPr>
          <p:nvPr/>
        </p:nvSpPr>
        <p:spPr>
          <a:xfrm xmlns:a="http://schemas.openxmlformats.org/drawingml/2006/main">
            <a:off x="2762250" y="5314950"/>
            <a:ext cx="857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638"/>
                </a:solidFill>
              </a:defRPr>
            </a:defPPr>
          </a:lstStyle>
          <a:p xmlns:a="http://schemas.openxmlformats.org/drawingml/2006/main">
            <a:pPr>
              <a:defRPr sz="1875" b="0">
                <a:solidFill>
                  <a:srgbClr val="102638"/>
                </a:solidFill>
              </a:defRPr>
            </a:pPr>
            <a:r>
              <a:rPr sz="1875" b="0">
                <a:solidFill>
                  <a:srgbClr val="102638"/>
                </a:solidFill>
              </a:rPr>
              <a:t>Local Python patterns and demo database evidence.</a:t>
            </a:r>
          </a:p>
          <a:p xmlns:a="http://schemas.openxmlformats.org/drawingml/2006/main">
            <a:pPr>
              <a:defRPr sz="1875" b="0">
                <a:solidFill>
                  <a:srgbClr val="102638"/>
                </a:solidFill>
              </a:defRPr>
            </a:pPr>
            <a:r>
              <a:rPr sz="1875" b="0">
                <a:solidFill>
                  <a:srgbClr val="102638"/>
                </a:solidFill>
              </a:rPr>
              <a:t>Source is inspected without execution. URL scanning remains a preview.</a:t>
            </a:r>
          </a:p>
        </p:txBody>
      </p:sp>
    </p:spTree>
    <p:extLst>
      <p:ext uri="{BB962C8B-B14F-4D97-AF65-F5344CB8AC3E}">
        <p14:creationId xmlns:p14="http://schemas.microsoft.com/office/powerpoint/2010/main" val="199794383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38E3C3-D20C-4B0A-A11E-2362263ECA35}"/>
              </a:ext>
            </a:extLst>
          </p:cNvPr>
          <p:cNvSpPr>
            <a:spLocks xmlns:a="http://schemas.openxmlformats.org/drawingml/2006/main" noGrp="1"/>
          </p:cNvSpPr>
          <p:nvPr/>
        </p:nvSpPr>
        <p:spPr>
          <a:xfrm xmlns:a="http://schemas.openxmlformats.org/drawingml/2006/main">
            <a:off x="5715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36575"/>
                </a:solidFill>
              </a:defRPr>
            </a:defPPr>
          </a:lstStyle>
          <a:p xmlns:a="http://schemas.openxmlformats.org/drawingml/2006/main">
            <a:pPr>
              <a:defRPr sz="1050" b="1">
                <a:solidFill>
                  <a:srgbClr val="536575"/>
                </a:solidFill>
              </a:defRPr>
            </a:pPr>
            <a:r>
              <a:rPr sz="1050" b="1">
                <a:solidFill>
                  <a:srgbClr val="536575"/>
                </a:solidFill>
              </a:rPr>
              <a:t>TECH SQUAD    /    CRYPTIQ</a:t>
            </a:r>
          </a:p>
        </p:txBody>
      </p:sp>
      <p:sp>
        <p:nvSpPr>
          <p:cNvPr id="2" name="">
            <a:extLst xmlns:a="http://schemas.openxmlformats.org/drawingml/2006/main">
              <a:ext uri="{FF2B5EF4-FFF2-40B4-BE49-F238E27FC236}">
                <a16:creationId xmlns:a16="http://schemas.microsoft.com/office/drawing/2014/main" id="{44D83F98-5C0C-47FC-A208-4D21075FFAE6}"/>
              </a:ext>
            </a:extLst>
          </p:cNvPr>
          <p:cNvSpPr>
            <a:spLocks xmlns:a="http://schemas.openxmlformats.org/drawingml/2006/main" noGrp="1"/>
          </p:cNvSpPr>
          <p:nvPr/>
        </p:nvSpPr>
        <p:spPr>
          <a:xfrm xmlns:a="http://schemas.openxmlformats.org/drawingml/2006/main">
            <a:off x="571500" y="8191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638"/>
                </a:solidFill>
              </a:defRPr>
            </a:defPPr>
          </a:lstStyle>
          <a:p xmlns:a="http://schemas.openxmlformats.org/drawingml/2006/main">
            <a:pPr>
              <a:defRPr sz="3300" b="1">
                <a:solidFill>
                  <a:srgbClr val="102638"/>
                </a:solidFill>
              </a:defRPr>
            </a:pPr>
            <a:r>
              <a:rPr sz="3300" b="1">
                <a:solidFill>
                  <a:srgbClr val="102638"/>
                </a:solidFill>
              </a:rPr>
              <a:t>07  Engineering evidence and provenance</a:t>
            </a:r>
          </a:p>
        </p:txBody>
      </p:sp>
      <p:sp>
        <p:nvSpPr>
          <p:cNvPr id="3" name="">
            <a:extLst xmlns:a="http://schemas.openxmlformats.org/drawingml/2006/main">
              <a:ext uri="{FF2B5EF4-FFF2-40B4-BE49-F238E27FC236}">
                <a16:creationId xmlns:a16="http://schemas.microsoft.com/office/drawing/2014/main" id="{DAF9BFFA-BDC4-4F43-A31C-7DA00AC2E4B8}"/>
              </a:ext>
            </a:extLst>
          </p:cNvPr>
          <p:cNvSpPr>
            <a:spLocks xmlns:a="http://schemas.openxmlformats.org/drawingml/2006/main" noGrp="1"/>
          </p:cNvSpPr>
          <p:nvPr/>
        </p:nvSpPr>
        <p:spPr>
          <a:xfrm xmlns:a="http://schemas.openxmlformats.org/drawingml/2006/main">
            <a:off x="10668000" y="64389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575"/>
                </a:solidFill>
              </a:defRPr>
            </a:defPPr>
          </a:lstStyle>
          <a:p xmlns:a="http://schemas.openxmlformats.org/drawingml/2006/main">
            <a:pPr>
              <a:defRPr sz="1050" b="0">
                <a:solidFill>
                  <a:srgbClr val="536575"/>
                </a:solidFill>
              </a:defRPr>
            </a:pPr>
            <a:r>
              <a:rPr sz="1050" b="0">
                <a:solidFill>
                  <a:srgbClr val="536575"/>
                </a:solidFill>
              </a:rPr>
              <a:t>07 / 12</a:t>
            </a:r>
          </a:p>
        </p:txBody>
      </p:sp>
      <p:sp>
        <p:nvSpPr>
          <p:cNvPr id="4" name="">
            <a:extLst xmlns:a="http://schemas.openxmlformats.org/drawingml/2006/main">
              <a:ext uri="{FF2B5EF4-FFF2-40B4-BE49-F238E27FC236}">
                <a16:creationId xmlns:a16="http://schemas.microsoft.com/office/drawing/2014/main" id="{F71946C4-A276-45BE-93EB-10E9A12924AA}"/>
              </a:ext>
            </a:extLst>
          </p:cNvPr>
          <p:cNvSpPr>
            <a:spLocks xmlns:a="http://schemas.openxmlformats.org/drawingml/2006/main" noGrp="1"/>
          </p:cNvSpPr>
          <p:nvPr/>
        </p:nvSpPr>
        <p:spPr>
          <a:xfrm xmlns:a="http://schemas.openxmlformats.org/drawingml/2006/main">
            <a:off x="571500" y="1933575"/>
            <a:ext cx="190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75" b="0">
                <a:solidFill>
                  <a:srgbClr val="2465A0"/>
                </a:solidFill>
              </a:defRPr>
            </a:defPPr>
          </a:lstStyle>
          <a:p xmlns:a="http://schemas.openxmlformats.org/drawingml/2006/main">
            <a:pPr>
              <a:defRPr sz="6375" b="0">
                <a:solidFill>
                  <a:srgbClr val="2465A0"/>
                </a:solidFill>
              </a:defRPr>
            </a:pPr>
            <a:r>
              <a:rPr sz="6375" b="0">
                <a:solidFill>
                  <a:srgbClr val="2465A0"/>
                </a:solidFill>
              </a:rPr>
              <a:t>8</a:t>
            </a:r>
          </a:p>
        </p:txBody>
      </p:sp>
      <p:sp>
        <p:nvSpPr>
          <p:cNvPr id="5" name="">
            <a:extLst xmlns:a="http://schemas.openxmlformats.org/drawingml/2006/main">
              <a:ext uri="{FF2B5EF4-FFF2-40B4-BE49-F238E27FC236}">
                <a16:creationId xmlns:a16="http://schemas.microsoft.com/office/drawing/2014/main" id="{C68A2718-BE34-446C-8F72-39DC780DB2A7}"/>
              </a:ext>
            </a:extLst>
          </p:cNvPr>
          <p:cNvSpPr>
            <a:spLocks xmlns:a="http://schemas.openxmlformats.org/drawingml/2006/main" noGrp="1"/>
          </p:cNvSpPr>
          <p:nvPr/>
        </p:nvSpPr>
        <p:spPr>
          <a:xfrm xmlns:a="http://schemas.openxmlformats.org/drawingml/2006/main">
            <a:off x="571500" y="2981325"/>
            <a:ext cx="2238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638"/>
                </a:solidFill>
              </a:defRPr>
            </a:defPPr>
          </a:lstStyle>
          <a:p xmlns:a="http://schemas.openxmlformats.org/drawingml/2006/main">
            <a:pPr>
              <a:defRPr sz="1875" b="0">
                <a:solidFill>
                  <a:srgbClr val="102638"/>
                </a:solidFill>
              </a:defRPr>
            </a:pPr>
            <a:r>
              <a:rPr sz="1875" b="0">
                <a:solidFill>
                  <a:srgbClr val="102638"/>
                </a:solidFill>
              </a:rPr>
              <a:t>rule families</a:t>
            </a:r>
          </a:p>
        </p:txBody>
      </p:sp>
      <p:sp>
        <p:nvSpPr>
          <p:cNvPr id="6" name="">
            <a:extLst xmlns:a="http://schemas.openxmlformats.org/drawingml/2006/main">
              <a:ext uri="{FF2B5EF4-FFF2-40B4-BE49-F238E27FC236}">
                <a16:creationId xmlns:a16="http://schemas.microsoft.com/office/drawing/2014/main" id="{35D63E49-7B4F-4083-AB7D-A2A4351260B4}"/>
              </a:ext>
            </a:extLst>
          </p:cNvPr>
          <p:cNvSpPr>
            <a:spLocks xmlns:a="http://schemas.openxmlformats.org/drawingml/2006/main" noGrp="1"/>
          </p:cNvSpPr>
          <p:nvPr/>
        </p:nvSpPr>
        <p:spPr>
          <a:xfrm xmlns:a="http://schemas.openxmlformats.org/drawingml/2006/main">
            <a:off x="3476625" y="193357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75" b="0">
                <a:solidFill>
                  <a:srgbClr val="2465A0"/>
                </a:solidFill>
              </a:defRPr>
            </a:defPPr>
          </a:lstStyle>
          <a:p xmlns:a="http://schemas.openxmlformats.org/drawingml/2006/main">
            <a:pPr>
              <a:defRPr sz="6375" b="0">
                <a:solidFill>
                  <a:srgbClr val="2465A0"/>
                </a:solidFill>
              </a:defRPr>
            </a:pPr>
            <a:r>
              <a:rPr sz="6375" b="0">
                <a:solidFill>
                  <a:srgbClr val="2465A0"/>
                </a:solidFill>
              </a:rPr>
              <a:t>100</a:t>
            </a:r>
          </a:p>
        </p:txBody>
      </p:sp>
      <p:sp>
        <p:nvSpPr>
          <p:cNvPr id="7" name="">
            <a:extLst xmlns:a="http://schemas.openxmlformats.org/drawingml/2006/main">
              <a:ext uri="{FF2B5EF4-FFF2-40B4-BE49-F238E27FC236}">
                <a16:creationId xmlns:a16="http://schemas.microsoft.com/office/drawing/2014/main" id="{D84B7F6A-9EE3-49E5-B8AD-B886D2258280}"/>
              </a:ext>
            </a:extLst>
          </p:cNvPr>
          <p:cNvSpPr>
            <a:spLocks xmlns:a="http://schemas.openxmlformats.org/drawingml/2006/main" noGrp="1"/>
          </p:cNvSpPr>
          <p:nvPr/>
        </p:nvSpPr>
        <p:spPr>
          <a:xfrm xmlns:a="http://schemas.openxmlformats.org/drawingml/2006/main">
            <a:off x="3476625" y="298132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638"/>
                </a:solidFill>
              </a:defRPr>
            </a:defPPr>
          </a:lstStyle>
          <a:p xmlns:a="http://schemas.openxmlformats.org/drawingml/2006/main">
            <a:pPr>
              <a:defRPr sz="1875" b="0">
                <a:solidFill>
                  <a:srgbClr val="102638"/>
                </a:solidFill>
              </a:defRPr>
            </a:pPr>
            <a:r>
              <a:rPr sz="1875" b="0">
                <a:solidFill>
                  <a:srgbClr val="102638"/>
                </a:solidFill>
              </a:rPr>
              <a:t>sampled customer rows</a:t>
            </a:r>
          </a:p>
        </p:txBody>
      </p:sp>
      <p:sp>
        <p:nvSpPr>
          <p:cNvPr id="8" name="">
            <a:extLst xmlns:a="http://schemas.openxmlformats.org/drawingml/2006/main">
              <a:ext uri="{FF2B5EF4-FFF2-40B4-BE49-F238E27FC236}">
                <a16:creationId xmlns:a16="http://schemas.microsoft.com/office/drawing/2014/main" id="{7B7D1165-1FDB-48F5-A661-3E648C578DDB}"/>
              </a:ext>
            </a:extLst>
          </p:cNvPr>
          <p:cNvSpPr>
            <a:spLocks xmlns:a="http://schemas.openxmlformats.org/drawingml/2006/main" noGrp="1"/>
          </p:cNvSpPr>
          <p:nvPr/>
        </p:nvSpPr>
        <p:spPr>
          <a:xfrm xmlns:a="http://schemas.openxmlformats.org/drawingml/2006/main">
            <a:off x="8096250" y="1933575"/>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375" b="0">
                <a:solidFill>
                  <a:srgbClr val="2465A0"/>
                </a:solidFill>
              </a:defRPr>
            </a:defPPr>
          </a:lstStyle>
          <a:p xmlns:a="http://schemas.openxmlformats.org/drawingml/2006/main">
            <a:pPr>
              <a:defRPr sz="6375" b="0">
                <a:solidFill>
                  <a:srgbClr val="2465A0"/>
                </a:solidFill>
              </a:defRPr>
            </a:pPr>
            <a:r>
              <a:rPr sz="6375" b="0">
                <a:solidFill>
                  <a:srgbClr val="2465A0"/>
                </a:solidFill>
              </a:rPr>
              <a:t>25</a:t>
            </a:r>
          </a:p>
        </p:txBody>
      </p:sp>
      <p:sp>
        <p:nvSpPr>
          <p:cNvPr id="9" name="">
            <a:extLst xmlns:a="http://schemas.openxmlformats.org/drawingml/2006/main">
              <a:ext uri="{FF2B5EF4-FFF2-40B4-BE49-F238E27FC236}">
                <a16:creationId xmlns:a16="http://schemas.microsoft.com/office/drawing/2014/main" id="{253E7515-7956-4474-973C-795B65180B83}"/>
              </a:ext>
            </a:extLst>
          </p:cNvPr>
          <p:cNvSpPr>
            <a:spLocks xmlns:a="http://schemas.openxmlformats.org/drawingml/2006/main" noGrp="1"/>
          </p:cNvSpPr>
          <p:nvPr/>
        </p:nvSpPr>
        <p:spPr>
          <a:xfrm xmlns:a="http://schemas.openxmlformats.org/drawingml/2006/main">
            <a:off x="8096250" y="29813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638"/>
                </a:solidFill>
              </a:defRPr>
            </a:defPPr>
          </a:lstStyle>
          <a:p xmlns:a="http://schemas.openxmlformats.org/drawingml/2006/main">
            <a:pPr>
              <a:defRPr sz="1875" b="0">
                <a:solidFill>
                  <a:srgbClr val="102638"/>
                </a:solidFill>
              </a:defRPr>
            </a:pPr>
            <a:r>
              <a:rPr sz="1875" b="0">
                <a:solidFill>
                  <a:srgbClr val="102638"/>
                </a:solidFill>
              </a:rPr>
              <a:t>password candidates</a:t>
            </a:r>
          </a:p>
        </p:txBody>
      </p:sp>
      <p:graphicFrame>
        <p:nvGraphicFramePr>
          <p:cNvPr id="10" name="">
            <a:extLst xmlns:a="http://schemas.openxmlformats.org/drawingml/2006/main">
              <a:ext uri="{FF2B5EF4-FFF2-40B4-BE49-F238E27FC236}">
                <a16:creationId xmlns:a16="http://schemas.microsoft.com/office/drawing/2014/main" id="{668E72B3-472E-4CFA-8A0D-4826990EA4BD}"/>
              </a:ext>
            </a:extLst>
          </p:cNvPr>
          <p:cNvGraphicFramePr/>
          <p:nvPr/>
        </p:nvGraphicFramePr>
        <p:xfrm>
          <a:off xmlns:a="http://schemas.openxmlformats.org/drawingml/2006/main" x="571500" y="3800475"/>
          <a:ext xmlns:a="http://schemas.openxmlformats.org/drawingml/2006/main" cx="11049000" cy="2066925"/>
        </p:xfrm>
        <a:graphic xmlns:a="http://schemas.openxmlformats.org/drawingml/2006/main">
          <a:graphicData uri="http://schemas.openxmlformats.org/drawingml/2006/table">
            <a:tbl>
              <a:tblPr/>
              <a:tblGrid>
                <a:gridCol w="5334000"/>
                <a:gridCol w="5715000"/>
              </a:tblGrid>
              <a:tr h="516731">
                <a:tc>
                  <a:txBody>
                    <a:bodyPr/>
                    <a:lstStyle/>
                    <a:p>
                      <a:r>
                        <a:rPr sz="1425" b="1">
                          <a:solidFill>
                            <a:srgbClr val="FFFFFF"/>
                          </a:solidFill>
                        </a:rPr>
                        <a:t>Built here</a:t>
                      </a:r>
                    </a:p>
                  </a:txBody>
                  <a:tcPr marL="91440" marR="91440" marT="45720" marB="45720">
                    <a:solidFill>
                      <a:srgbClr val="102638"/>
                    </a:solidFill>
                  </a:tcPr>
                </a:tc>
                <a:tc>
                  <a:txBody>
                    <a:bodyPr/>
                    <a:lstStyle/>
                    <a:p>
                      <a:r>
                        <a:rPr sz="1425" b="1">
                          <a:solidFill>
                            <a:srgbClr val="FFFFFF"/>
                          </a:solidFill>
                        </a:rPr>
                        <a:t>Open-source foundations</a:t>
                      </a:r>
                    </a:p>
                  </a:txBody>
                  <a:tcPr marL="91440" marR="91440" marT="45720" marB="45720">
                    <a:solidFill>
                      <a:srgbClr val="102638"/>
                    </a:solidFill>
                  </a:tcPr>
                </a:tc>
              </a:tr>
              <a:tr h="516731">
                <a:tc>
                  <a:txBody>
                    <a:bodyPr/>
                    <a:lstStyle/>
                    <a:p>
                      <a:r>
                        <a:rPr sz="1650" b="0">
                          <a:solidFill>
                            <a:srgbClr val="102638"/>
                          </a:solidFill>
                        </a:rPr>
                        <a:t>Workflow, migration and verification</a:t>
                      </a:r>
                    </a:p>
                  </a:txBody>
                  <a:tcPr marL="91440" marR="91440" marT="45720" marB="45720">
                    <a:solidFill>
                      <a:srgbClr val="FFFFFF"/>
                    </a:solidFill>
                  </a:tcPr>
                </a:tc>
                <a:tc>
                  <a:txBody>
                    <a:bodyPr/>
                    <a:lstStyle/>
                    <a:p>
                      <a:r>
                        <a:rPr sz="1650" b="0">
                          <a:solidFill>
                            <a:srgbClr val="102638"/>
                          </a:solidFill>
                        </a:rPr>
                        <a:t>React, FastAPI, Flask, Playwright</a:t>
                      </a:r>
                    </a:p>
                  </a:txBody>
                  <a:tcPr marL="91440" marR="91440" marT="45720" marB="45720">
                    <a:solidFill>
                      <a:srgbClr val="FFFFFF"/>
                    </a:solidFill>
                  </a:tcPr>
                </a:tc>
              </a:tr>
              <a:tr h="516731">
                <a:tc>
                  <a:txBody>
                    <a:bodyPr/>
                    <a:lstStyle/>
                    <a:p>
                      <a:r>
                        <a:rPr sz="1650" b="0">
                          <a:solidFill>
                            <a:srgbClr val="102638"/>
                          </a:solidFill>
                        </a:rPr>
                        <a:t>Source rules and evidence exports</a:t>
                      </a:r>
                    </a:p>
                  </a:txBody>
                  <a:tcPr marL="91440" marR="91440" marT="45720" marB="45720">
                    <a:solidFill>
                      <a:srgbClr val="EBEEF0"/>
                    </a:solidFill>
                  </a:tcPr>
                </a:tc>
                <a:tc>
                  <a:txBody>
                    <a:bodyPr/>
                    <a:lstStyle/>
                    <a:p>
                      <a:r>
                        <a:rPr sz="1650" b="0">
                          <a:solidFill>
                            <a:srgbClr val="102638"/>
                          </a:solidFill>
                        </a:rPr>
                        <a:t>argon2-cffi, cryptography, kyber-py</a:t>
                      </a:r>
                    </a:p>
                  </a:txBody>
                  <a:tcPr marL="91440" marR="91440" marT="45720" marB="45720">
                    <a:solidFill>
                      <a:srgbClr val="EBEEF0"/>
                    </a:solidFill>
                  </a:tcPr>
                </a:tc>
              </a:tr>
              <a:tr h="516731">
                <a:tc>
                  <a:txBody>
                    <a:bodyPr/>
                    <a:lstStyle/>
                    <a:p>
                      <a:r>
                        <a:rPr sz="1650" b="0">
                          <a:solidFill>
                            <a:srgbClr val="102638"/>
                          </a:solidFill>
                        </a:rPr>
                        <a:t>Synthetic customer data</a:t>
                      </a:r>
                    </a:p>
                  </a:txBody>
                  <a:tcPr marL="91440" marR="91440" marT="45720" marB="45720">
                    <a:solidFill>
                      <a:srgbClr val="FFFFFF"/>
                    </a:solidFill>
                  </a:tcPr>
                </a:tc>
                <a:tc>
                  <a:txBody>
                    <a:bodyPr/>
                    <a:lstStyle/>
                    <a:p>
                      <a:r>
                        <a:rPr sz="1650" b="0">
                          <a:solidFill>
                            <a:srgbClr val="102638"/>
                          </a:solidFill>
                        </a:rPr>
                        <a:t>CycloneDX inventory format</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D44AC459-48AB-49F0-A3F0-B64FAD4756BD}"/>
              </a:ext>
            </a:extLst>
          </p:cNvPr>
          <p:cNvSpPr>
            <a:spLocks xmlns:a="http://schemas.openxmlformats.org/drawingml/2006/main" noGrp="1"/>
          </p:cNvSpPr>
          <p:nvPr/>
        </p:nvSpPr>
        <p:spPr>
          <a:xfrm xmlns:a="http://schemas.openxmlformats.org/drawingml/2006/main">
            <a:off x="571500" y="60769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575"/>
                </a:solidFill>
              </a:defRPr>
            </a:defPPr>
          </a:lstStyle>
          <a:p xmlns:a="http://schemas.openxmlformats.org/drawingml/2006/main">
            <a:pPr>
              <a:defRPr sz="1725" b="0">
                <a:solidFill>
                  <a:srgbClr val="536575"/>
                </a:solidFill>
              </a:defRPr>
            </a:pPr>
            <a:r>
              <a:rPr sz="1725" b="0">
                <a:solidFill>
                  <a:srgbClr val="536575"/>
                </a:solidFill>
              </a:rPr>
              <a:t>Hash Patch is the earlier project. Its integration remains deferred.</a:t>
            </a:r>
          </a:p>
        </p:txBody>
      </p:sp>
    </p:spTree>
    <p:extLst>
      <p:ext uri="{BB962C8B-B14F-4D97-AF65-F5344CB8AC3E}">
        <p14:creationId xmlns:p14="http://schemas.microsoft.com/office/powerpoint/2010/main" val="471460845"/>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E29DD9-7353-4A71-9B34-A7DFCC49BD1C}"/>
              </a:ext>
            </a:extLst>
          </p:cNvPr>
          <p:cNvSpPr>
            <a:spLocks xmlns:a="http://schemas.openxmlformats.org/drawingml/2006/main" noGrp="1"/>
          </p:cNvSpPr>
          <p:nvPr/>
        </p:nvSpPr>
        <p:spPr>
          <a:xfrm xmlns:a="http://schemas.openxmlformats.org/drawingml/2006/main">
            <a:off x="5715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36575"/>
                </a:solidFill>
              </a:defRPr>
            </a:defPPr>
          </a:lstStyle>
          <a:p xmlns:a="http://schemas.openxmlformats.org/drawingml/2006/main">
            <a:pPr>
              <a:defRPr sz="1050" b="1">
                <a:solidFill>
                  <a:srgbClr val="536575"/>
                </a:solidFill>
              </a:defRPr>
            </a:pPr>
            <a:r>
              <a:rPr sz="1050" b="1">
                <a:solidFill>
                  <a:srgbClr val="536575"/>
                </a:solidFill>
              </a:rPr>
              <a:t>TECH SQUAD    /    CRYPTIQ</a:t>
            </a:r>
          </a:p>
        </p:txBody>
      </p:sp>
      <p:sp>
        <p:nvSpPr>
          <p:cNvPr id="2" name="">
            <a:extLst xmlns:a="http://schemas.openxmlformats.org/drawingml/2006/main">
              <a:ext uri="{FF2B5EF4-FFF2-40B4-BE49-F238E27FC236}">
                <a16:creationId xmlns:a16="http://schemas.microsoft.com/office/drawing/2014/main" id="{EE650A0F-E506-47DB-9004-7E3513BE618F}"/>
              </a:ext>
            </a:extLst>
          </p:cNvPr>
          <p:cNvSpPr>
            <a:spLocks xmlns:a="http://schemas.openxmlformats.org/drawingml/2006/main" noGrp="1"/>
          </p:cNvSpPr>
          <p:nvPr/>
        </p:nvSpPr>
        <p:spPr>
          <a:xfrm xmlns:a="http://schemas.openxmlformats.org/drawingml/2006/main">
            <a:off x="571500" y="8191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638"/>
                </a:solidFill>
              </a:defRPr>
            </a:defPPr>
          </a:lstStyle>
          <a:p xmlns:a="http://schemas.openxmlformats.org/drawingml/2006/main">
            <a:pPr>
              <a:defRPr sz="3300" b="1">
                <a:solidFill>
                  <a:srgbClr val="102638"/>
                </a:solidFill>
              </a:defRPr>
            </a:pPr>
            <a:r>
              <a:rPr sz="3300" b="1">
                <a:solidFill>
                  <a:srgbClr val="102638"/>
                </a:solidFill>
              </a:rPr>
              <a:t>08  Protection with explicit boundaries</a:t>
            </a:r>
          </a:p>
        </p:txBody>
      </p:sp>
      <p:sp>
        <p:nvSpPr>
          <p:cNvPr id="3" name="">
            <a:extLst xmlns:a="http://schemas.openxmlformats.org/drawingml/2006/main">
              <a:ext uri="{FF2B5EF4-FFF2-40B4-BE49-F238E27FC236}">
                <a16:creationId xmlns:a16="http://schemas.microsoft.com/office/drawing/2014/main" id="{038BA81E-BDC4-4955-BEC2-4CAEF821BC04}"/>
              </a:ext>
            </a:extLst>
          </p:cNvPr>
          <p:cNvSpPr>
            <a:spLocks xmlns:a="http://schemas.openxmlformats.org/drawingml/2006/main" noGrp="1"/>
          </p:cNvSpPr>
          <p:nvPr/>
        </p:nvSpPr>
        <p:spPr>
          <a:xfrm xmlns:a="http://schemas.openxmlformats.org/drawingml/2006/main">
            <a:off x="10668000" y="64389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575"/>
                </a:solidFill>
              </a:defRPr>
            </a:defPPr>
          </a:lstStyle>
          <a:p xmlns:a="http://schemas.openxmlformats.org/drawingml/2006/main">
            <a:pPr>
              <a:defRPr sz="1050" b="0">
                <a:solidFill>
                  <a:srgbClr val="536575"/>
                </a:solidFill>
              </a:defRPr>
            </a:pPr>
            <a:r>
              <a:rPr sz="1050" b="0">
                <a:solidFill>
                  <a:srgbClr val="536575"/>
                </a:solidFill>
              </a:rPr>
              <a:t>08 / 12</a:t>
            </a:r>
          </a:p>
        </p:txBody>
      </p:sp>
      <p:graphicFrame>
        <p:nvGraphicFramePr>
          <p:cNvPr id="4" name="">
            <a:extLst xmlns:a="http://schemas.openxmlformats.org/drawingml/2006/main">
              <a:ext uri="{FF2B5EF4-FFF2-40B4-BE49-F238E27FC236}">
                <a16:creationId xmlns:a16="http://schemas.microsoft.com/office/drawing/2014/main" id="{0BA17A75-9605-40C9-915E-DCB6C846403F}"/>
              </a:ext>
            </a:extLst>
          </p:cNvPr>
          <p:cNvGraphicFramePr/>
          <p:nvPr/>
        </p:nvGraphicFramePr>
        <p:xfrm>
          <a:off xmlns:a="http://schemas.openxmlformats.org/drawingml/2006/main" x="571500" y="2000250"/>
          <a:ext xmlns:a="http://schemas.openxmlformats.org/drawingml/2006/main" cx="11049000" cy="2571750"/>
        </p:xfrm>
        <a:graphic xmlns:a="http://schemas.openxmlformats.org/drawingml/2006/main">
          <a:graphicData uri="http://schemas.openxmlformats.org/drawingml/2006/table">
            <a:tbl>
              <a:tblPr/>
              <a:tblGrid>
                <a:gridCol w="5143500"/>
                <a:gridCol w="5905500"/>
              </a:tblGrid>
              <a:tr h="642938">
                <a:tc>
                  <a:txBody>
                    <a:bodyPr/>
                    <a:lstStyle/>
                    <a:p>
                      <a:r>
                        <a:rPr sz="1425" b="1">
                          <a:solidFill>
                            <a:srgbClr val="FFFFFF"/>
                          </a:solidFill>
                        </a:rPr>
                        <a:t>Before repair</a:t>
                      </a:r>
                    </a:p>
                  </a:txBody>
                  <a:tcPr marL="91440" marR="91440" marT="45720" marB="45720">
                    <a:solidFill>
                      <a:srgbClr val="102638"/>
                    </a:solidFill>
                  </a:tcPr>
                </a:tc>
                <a:tc>
                  <a:txBody>
                    <a:bodyPr/>
                    <a:lstStyle/>
                    <a:p>
                      <a:r>
                        <a:rPr sz="1425" b="1">
                          <a:solidFill>
                            <a:srgbClr val="FFFFFF"/>
                          </a:solidFill>
                        </a:rPr>
                        <a:t>After repair</a:t>
                      </a:r>
                    </a:p>
                  </a:txBody>
                  <a:tcPr marL="91440" marR="91440" marT="45720" marB="45720">
                    <a:solidFill>
                      <a:srgbClr val="102638"/>
                    </a:solidFill>
                  </a:tcPr>
                </a:tc>
              </a:tr>
              <a:tr h="642938">
                <a:tc>
                  <a:txBody>
                    <a:bodyPr/>
                    <a:lstStyle/>
                    <a:p>
                      <a:r>
                        <a:rPr sz="1650" b="0">
                          <a:solidFill>
                            <a:srgbClr val="102638"/>
                          </a:solidFill>
                        </a:rPr>
                        <a:t>Unsalted MD5 password hashes</a:t>
                      </a:r>
                    </a:p>
                  </a:txBody>
                  <a:tcPr marL="91440" marR="91440" marT="45720" marB="45720">
                    <a:solidFill>
                      <a:srgbClr val="FFFFFF"/>
                    </a:solidFill>
                  </a:tcPr>
                </a:tc>
                <a:tc>
                  <a:txBody>
                    <a:bodyPr/>
                    <a:lstStyle/>
                    <a:p>
                      <a:r>
                        <a:rPr sz="1650" b="0">
                          <a:solidFill>
                            <a:srgbClr val="102638"/>
                          </a:solidFill>
                        </a:rPr>
                        <a:t>Server-held pepper + Argon2id</a:t>
                      </a:r>
                    </a:p>
                  </a:txBody>
                  <a:tcPr marL="91440" marR="91440" marT="45720" marB="45720">
                    <a:solidFill>
                      <a:srgbClr val="FFFFFF"/>
                    </a:solidFill>
                  </a:tcPr>
                </a:tc>
              </a:tr>
              <a:tr h="642938">
                <a:tc>
                  <a:txBody>
                    <a:bodyPr/>
                    <a:lstStyle/>
                    <a:p>
                      <a:r>
                        <a:rPr sz="1650" b="0">
                          <a:solidFill>
                            <a:srgbClr val="102638"/>
                          </a:solidFill>
                        </a:rPr>
                        <a:t>Readable contact fields</a:t>
                      </a:r>
                    </a:p>
                  </a:txBody>
                  <a:tcPr marL="91440" marR="91440" marT="45720" marB="45720">
                    <a:solidFill>
                      <a:srgbClr val="EBEEF0"/>
                    </a:solidFill>
                  </a:tcPr>
                </a:tc>
                <a:tc>
                  <a:txBody>
                    <a:bodyPr/>
                    <a:lstStyle/>
                    <a:p>
                      <a:r>
                        <a:rPr sz="1650" b="0">
                          <a:solidFill>
                            <a:srgbClr val="102638"/>
                          </a:solidFill>
                        </a:rPr>
                        <a:t>AES-256-GCM encrypted fields</a:t>
                      </a:r>
                    </a:p>
                  </a:txBody>
                  <a:tcPr marL="91440" marR="91440" marT="45720" marB="45720">
                    <a:solidFill>
                      <a:srgbClr val="EBEEF0"/>
                    </a:solidFill>
                  </a:tcPr>
                </a:tc>
              </a:tr>
              <a:tr h="642938">
                <a:tc>
                  <a:txBody>
                    <a:bodyPr/>
                    <a:lstStyle/>
                    <a:p>
                      <a:r>
                        <a:rPr sz="1650" b="0">
                          <a:solidFill>
                            <a:srgbClr val="102638"/>
                          </a:solidFill>
                        </a:rPr>
                        <a:t>Tiny demo RSA protects fake IDs</a:t>
                      </a:r>
                    </a:p>
                  </a:txBody>
                  <a:tcPr marL="91440" marR="91440" marT="45720" marB="45720">
                    <a:solidFill>
                      <a:srgbClr val="FFFFFF"/>
                    </a:solidFill>
                  </a:tcPr>
                </a:tc>
                <a:tc>
                  <a:txBody>
                    <a:bodyPr/>
                    <a:lstStyle/>
                    <a:p>
                      <a:r>
                        <a:rPr sz="1650" b="0">
                          <a:solidFill>
                            <a:srgbClr val="102638"/>
                          </a:solidFill>
                        </a:rPr>
                        <a:t>ML-KEM-768 protects the data key</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E0C2D50-6E10-4C08-8A62-25C5D7B8B337}"/>
              </a:ext>
            </a:extLst>
          </p:cNvPr>
          <p:cNvSpPr>
            <a:spLocks xmlns:a="http://schemas.openxmlformats.org/drawingml/2006/main" noGrp="1"/>
          </p:cNvSpPr>
          <p:nvPr/>
        </p:nvSpPr>
        <p:spPr>
          <a:xfrm xmlns:a="http://schemas.openxmlformats.org/drawingml/2006/main">
            <a:off x="571500" y="49815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2465A0"/>
                </a:solidFill>
              </a:defRPr>
            </a:defPPr>
          </a:lstStyle>
          <a:p xmlns:a="http://schemas.openxmlformats.org/drawingml/2006/main">
            <a:pPr>
              <a:defRPr sz="2175" b="1">
                <a:solidFill>
                  <a:srgbClr val="2465A0"/>
                </a:solidFill>
              </a:defRPr>
            </a:pPr>
            <a:r>
              <a:rPr sz="2175" b="1">
                <a:solidFill>
                  <a:srgbClr val="2465A0"/>
                </a:solidFill>
              </a:rPr>
              <a:t>38 before repair. 91 only after four checks pass.</a:t>
            </a:r>
          </a:p>
        </p:txBody>
      </p:sp>
      <p:sp>
        <p:nvSpPr>
          <p:cNvPr id="6" name="">
            <a:extLst xmlns:a="http://schemas.openxmlformats.org/drawingml/2006/main">
              <a:ext uri="{FF2B5EF4-FFF2-40B4-BE49-F238E27FC236}">
                <a16:creationId xmlns:a16="http://schemas.microsoft.com/office/drawing/2014/main" id="{C8460270-CC2E-4353-8009-02C58107D596}"/>
              </a:ext>
            </a:extLst>
          </p:cNvPr>
          <p:cNvSpPr>
            <a:spLocks xmlns:a="http://schemas.openxmlformats.org/drawingml/2006/main" noGrp="1"/>
          </p:cNvSpPr>
          <p:nvPr/>
        </p:nvSpPr>
        <p:spPr>
          <a:xfrm xmlns:a="http://schemas.openxmlformats.org/drawingml/2006/main">
            <a:off x="571500" y="54768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02638"/>
                </a:solidFill>
              </a:defRPr>
            </a:defPPr>
          </a:lstStyle>
          <a:p xmlns:a="http://schemas.openxmlformats.org/drawingml/2006/main">
            <a:pPr>
              <a:defRPr sz="1950" b="0">
                <a:solidFill>
                  <a:srgbClr val="102638"/>
                </a:solidFill>
              </a:defRPr>
            </a:pPr>
            <a:r>
              <a:rPr sz="1950" b="0">
                <a:solidFill>
                  <a:srgbClr val="102638"/>
                </a:solidFill>
              </a:rPr>
              <a:t>Rescan • Reattack • App works • New data protected</a:t>
            </a:r>
          </a:p>
        </p:txBody>
      </p:sp>
      <p:sp>
        <p:nvSpPr>
          <p:cNvPr id="7" name="">
            <a:extLst xmlns:a="http://schemas.openxmlformats.org/drawingml/2006/main">
              <a:ext uri="{FF2B5EF4-FFF2-40B4-BE49-F238E27FC236}">
                <a16:creationId xmlns:a16="http://schemas.microsoft.com/office/drawing/2014/main" id="{F0FE14A5-E5CD-4AD8-92C4-643475EA9911}"/>
              </a:ext>
            </a:extLst>
          </p:cNvPr>
          <p:cNvSpPr>
            <a:spLocks xmlns:a="http://schemas.openxmlformats.org/drawingml/2006/main" noGrp="1"/>
          </p:cNvSpPr>
          <p:nvPr/>
        </p:nvSpPr>
        <p:spPr>
          <a:xfrm xmlns:a="http://schemas.openxmlformats.org/drawingml/2006/main">
            <a:off x="571500" y="60293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575"/>
                </a:solidFill>
              </a:defRPr>
            </a:defPPr>
          </a:lstStyle>
          <a:p xmlns:a="http://schemas.openxmlformats.org/drawingml/2006/main">
            <a:pPr>
              <a:defRPr sz="1575" b="0">
                <a:solidFill>
                  <a:srgbClr val="536575"/>
                </a:solidFill>
              </a:defRPr>
            </a:pPr>
            <a:r>
              <a:rPr sz="1575" b="0">
                <a:solidFill>
                  <a:srgbClr val="536575"/>
                </a:solidFill>
              </a:rPr>
              <a:t>Database-only threat model. Educational PQ library. Tiny RSA uses classical factoring.</a:t>
            </a:r>
          </a:p>
        </p:txBody>
      </p:sp>
    </p:spTree>
    <p:extLst>
      <p:ext uri="{BB962C8B-B14F-4D97-AF65-F5344CB8AC3E}">
        <p14:creationId xmlns:p14="http://schemas.microsoft.com/office/powerpoint/2010/main" val="1473932408"/>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490D5C-0512-4219-A1C9-903AB9A1CFA6}"/>
              </a:ext>
            </a:extLst>
          </p:cNvPr>
          <p:cNvSpPr>
            <a:spLocks xmlns:a="http://schemas.openxmlformats.org/drawingml/2006/main" noGrp="1"/>
          </p:cNvSpPr>
          <p:nvPr/>
        </p:nvSpPr>
        <p:spPr>
          <a:xfrm xmlns:a="http://schemas.openxmlformats.org/drawingml/2006/main">
            <a:off x="5715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36575"/>
                </a:solidFill>
              </a:defRPr>
            </a:defPPr>
          </a:lstStyle>
          <a:p xmlns:a="http://schemas.openxmlformats.org/drawingml/2006/main">
            <a:pPr>
              <a:defRPr sz="1050" b="1">
                <a:solidFill>
                  <a:srgbClr val="536575"/>
                </a:solidFill>
              </a:defRPr>
            </a:pPr>
            <a:r>
              <a:rPr sz="1050" b="1">
                <a:solidFill>
                  <a:srgbClr val="536575"/>
                </a:solidFill>
              </a:rPr>
              <a:t>TECH SQUAD    /    CRYPTIQ</a:t>
            </a:r>
          </a:p>
        </p:txBody>
      </p:sp>
      <p:sp>
        <p:nvSpPr>
          <p:cNvPr id="2" name="">
            <a:extLst xmlns:a="http://schemas.openxmlformats.org/drawingml/2006/main">
              <a:ext uri="{FF2B5EF4-FFF2-40B4-BE49-F238E27FC236}">
                <a16:creationId xmlns:a16="http://schemas.microsoft.com/office/drawing/2014/main" id="{4AB9D641-D796-42B3-8C6E-F394D92D4DC1}"/>
              </a:ext>
            </a:extLst>
          </p:cNvPr>
          <p:cNvSpPr>
            <a:spLocks xmlns:a="http://schemas.openxmlformats.org/drawingml/2006/main" noGrp="1"/>
          </p:cNvSpPr>
          <p:nvPr/>
        </p:nvSpPr>
        <p:spPr>
          <a:xfrm xmlns:a="http://schemas.openxmlformats.org/drawingml/2006/main">
            <a:off x="571500" y="8191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638"/>
                </a:solidFill>
              </a:defRPr>
            </a:defPPr>
          </a:lstStyle>
          <a:p xmlns:a="http://schemas.openxmlformats.org/drawingml/2006/main">
            <a:pPr>
              <a:defRPr sz="3300" b="1">
                <a:solidFill>
                  <a:srgbClr val="102638"/>
                </a:solidFill>
              </a:defRPr>
            </a:pPr>
            <a:r>
              <a:rPr sz="3300" b="1">
                <a:solidFill>
                  <a:srgbClr val="102638"/>
                </a:solidFill>
              </a:rPr>
              <a:t>09  A focused place beside established tools</a:t>
            </a:r>
          </a:p>
        </p:txBody>
      </p:sp>
      <p:sp>
        <p:nvSpPr>
          <p:cNvPr id="3" name="">
            <a:extLst xmlns:a="http://schemas.openxmlformats.org/drawingml/2006/main">
              <a:ext uri="{FF2B5EF4-FFF2-40B4-BE49-F238E27FC236}">
                <a16:creationId xmlns:a16="http://schemas.microsoft.com/office/drawing/2014/main" id="{DA2C4D6E-6D7B-4161-9DC7-B62E6AA792C2}"/>
              </a:ext>
            </a:extLst>
          </p:cNvPr>
          <p:cNvSpPr>
            <a:spLocks xmlns:a="http://schemas.openxmlformats.org/drawingml/2006/main" noGrp="1"/>
          </p:cNvSpPr>
          <p:nvPr/>
        </p:nvSpPr>
        <p:spPr>
          <a:xfrm xmlns:a="http://schemas.openxmlformats.org/drawingml/2006/main">
            <a:off x="10668000" y="64389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575"/>
                </a:solidFill>
              </a:defRPr>
            </a:defPPr>
          </a:lstStyle>
          <a:p xmlns:a="http://schemas.openxmlformats.org/drawingml/2006/main">
            <a:pPr>
              <a:defRPr sz="1050" b="0">
                <a:solidFill>
                  <a:srgbClr val="536575"/>
                </a:solidFill>
              </a:defRPr>
            </a:pPr>
            <a:r>
              <a:rPr sz="1050" b="0">
                <a:solidFill>
                  <a:srgbClr val="536575"/>
                </a:solidFill>
              </a:rPr>
              <a:t>09 / 12</a:t>
            </a:r>
          </a:p>
        </p:txBody>
      </p:sp>
      <p:graphicFrame>
        <p:nvGraphicFramePr>
          <p:cNvPr id="4" name="">
            <a:extLst xmlns:a="http://schemas.openxmlformats.org/drawingml/2006/main">
              <a:ext uri="{FF2B5EF4-FFF2-40B4-BE49-F238E27FC236}">
                <a16:creationId xmlns:a16="http://schemas.microsoft.com/office/drawing/2014/main" id="{646C5B55-4579-4D6E-BADE-414FB5437A33}"/>
              </a:ext>
            </a:extLst>
          </p:cNvPr>
          <p:cNvGraphicFramePr/>
          <p:nvPr/>
        </p:nvGraphicFramePr>
        <p:xfrm>
          <a:off xmlns:a="http://schemas.openxmlformats.org/drawingml/2006/main" x="571500" y="2019300"/>
          <a:ext xmlns:a="http://schemas.openxmlformats.org/drawingml/2006/main" cx="11049000" cy="2505075"/>
        </p:xfrm>
        <a:graphic xmlns:a="http://schemas.openxmlformats.org/drawingml/2006/main">
          <a:graphicData uri="http://schemas.openxmlformats.org/drawingml/2006/table">
            <a:tbl>
              <a:tblPr/>
              <a:tblGrid>
                <a:gridCol w="3619500"/>
                <a:gridCol w="7429500"/>
              </a:tblGrid>
              <a:tr h="626269">
                <a:tc>
                  <a:txBody>
                    <a:bodyPr/>
                    <a:lstStyle/>
                    <a:p>
                      <a:r>
                        <a:rPr sz="1425" b="1">
                          <a:solidFill>
                            <a:srgbClr val="FFFFFF"/>
                          </a:solidFill>
                        </a:rPr>
                        <a:t>Approach</a:t>
                      </a:r>
                    </a:p>
                  </a:txBody>
                  <a:tcPr marL="91440" marR="91440" marT="45720" marB="45720">
                    <a:solidFill>
                      <a:srgbClr val="102638"/>
                    </a:solidFill>
                  </a:tcPr>
                </a:tc>
                <a:tc>
                  <a:txBody>
                    <a:bodyPr/>
                    <a:lstStyle/>
                    <a:p>
                      <a:r>
                        <a:rPr sz="1425" b="1">
                          <a:solidFill>
                            <a:srgbClr val="FFFFFF"/>
                          </a:solidFill>
                        </a:rPr>
                        <a:t>Primary focus</a:t>
                      </a:r>
                    </a:p>
                  </a:txBody>
                  <a:tcPr marL="91440" marR="91440" marT="45720" marB="45720">
                    <a:solidFill>
                      <a:srgbClr val="102638"/>
                    </a:solidFill>
                  </a:tcPr>
                </a:tc>
              </a:tr>
              <a:tr h="626269">
                <a:tc>
                  <a:txBody>
                    <a:bodyPr/>
                    <a:lstStyle/>
                    <a:p>
                      <a:r>
                        <a:rPr sz="1650" b="0">
                          <a:solidFill>
                            <a:srgbClr val="102638"/>
                          </a:solidFill>
                        </a:rPr>
                        <a:t>Semgrep</a:t>
                      </a:r>
                    </a:p>
                  </a:txBody>
                  <a:tcPr marL="91440" marR="91440" marT="45720" marB="45720">
                    <a:solidFill>
                      <a:srgbClr val="FFFFFF"/>
                    </a:solidFill>
                  </a:tcPr>
                </a:tc>
                <a:tc>
                  <a:txBody>
                    <a:bodyPr/>
                    <a:lstStyle/>
                    <a:p>
                      <a:r>
                        <a:rPr sz="1650" b="0">
                          <a:solidFill>
                            <a:srgbClr val="102638"/>
                          </a:solidFill>
                        </a:rPr>
                        <a:t>Code analysis and security findings</a:t>
                      </a:r>
                    </a:p>
                  </a:txBody>
                  <a:tcPr marL="91440" marR="91440" marT="45720" marB="45720">
                    <a:solidFill>
                      <a:srgbClr val="FFFFFF"/>
                    </a:solidFill>
                  </a:tcPr>
                </a:tc>
              </a:tr>
              <a:tr h="626269">
                <a:tc>
                  <a:txBody>
                    <a:bodyPr/>
                    <a:lstStyle/>
                    <a:p>
                      <a:r>
                        <a:rPr sz="1650" b="0">
                          <a:solidFill>
                            <a:srgbClr val="102638"/>
                          </a:solidFill>
                        </a:rPr>
                        <a:t>ZAP</a:t>
                      </a:r>
                    </a:p>
                  </a:txBody>
                  <a:tcPr marL="91440" marR="91440" marT="45720" marB="45720">
                    <a:solidFill>
                      <a:srgbClr val="EBEEF0"/>
                    </a:solidFill>
                  </a:tcPr>
                </a:tc>
                <a:tc>
                  <a:txBody>
                    <a:bodyPr/>
                    <a:lstStyle/>
                    <a:p>
                      <a:r>
                        <a:rPr sz="1650" b="0">
                          <a:solidFill>
                            <a:srgbClr val="102638"/>
                          </a:solidFill>
                        </a:rPr>
                        <a:t>Web application testing</a:t>
                      </a:r>
                    </a:p>
                  </a:txBody>
                  <a:tcPr marL="91440" marR="91440" marT="45720" marB="45720">
                    <a:solidFill>
                      <a:srgbClr val="EBEEF0"/>
                    </a:solidFill>
                  </a:tcPr>
                </a:tc>
              </a:tr>
              <a:tr h="626269">
                <a:tc>
                  <a:txBody>
                    <a:bodyPr/>
                    <a:lstStyle/>
                    <a:p>
                      <a:r>
                        <a:rPr sz="1650" b="0">
                          <a:solidFill>
                            <a:srgbClr val="102638"/>
                          </a:solidFill>
                        </a:rPr>
                        <a:t>CryptIQ prototype</a:t>
                      </a:r>
                    </a:p>
                  </a:txBody>
                  <a:tcPr marL="91440" marR="91440" marT="45720" marB="45720">
                    <a:solidFill>
                      <a:srgbClr val="FFFFFF"/>
                    </a:solidFill>
                  </a:tcPr>
                </a:tc>
                <a:tc>
                  <a:txBody>
                    <a:bodyPr/>
                    <a:lstStyle/>
                    <a:p>
                      <a:r>
                        <a:rPr sz="1650" b="0">
                          <a:solidFill>
                            <a:srgbClr val="102638"/>
                          </a:solidFill>
                        </a:rPr>
                        <a:t>Owner explanation, supported repair and proof</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DB7CF8B-A188-47D8-B0C0-166970A7AF97}"/>
              </a:ext>
            </a:extLst>
          </p:cNvPr>
          <p:cNvSpPr>
            <a:spLocks xmlns:a="http://schemas.openxmlformats.org/drawingml/2006/main" noGrp="1"/>
          </p:cNvSpPr>
          <p:nvPr/>
        </p:nvSpPr>
        <p:spPr>
          <a:xfrm xmlns:a="http://schemas.openxmlformats.org/drawingml/2006/main">
            <a:off x="571500" y="500062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2465A0"/>
                </a:solidFill>
              </a:defRPr>
            </a:defPPr>
          </a:lstStyle>
          <a:p xmlns:a="http://schemas.openxmlformats.org/drawingml/2006/main">
            <a:pPr>
              <a:defRPr sz="3225" b="0">
                <a:solidFill>
                  <a:srgbClr val="2465A0"/>
                </a:solidFill>
              </a:defRPr>
            </a:pPr>
            <a:r>
              <a:rPr sz="3225" b="0">
                <a:solidFill>
                  <a:srgbClr val="2465A0"/>
                </a:solidFill>
              </a:rPr>
              <a:t>5 businesses</a:t>
            </a:r>
          </a:p>
        </p:txBody>
      </p:sp>
      <p:sp>
        <p:nvSpPr>
          <p:cNvPr id="6" name="">
            <a:extLst xmlns:a="http://schemas.openxmlformats.org/drawingml/2006/main">
              <a:ext uri="{FF2B5EF4-FFF2-40B4-BE49-F238E27FC236}">
                <a16:creationId xmlns:a16="http://schemas.microsoft.com/office/drawing/2014/main" id="{CBA6DDA4-2631-4DA4-AE3E-466C486B7AE2}"/>
              </a:ext>
            </a:extLst>
          </p:cNvPr>
          <p:cNvSpPr>
            <a:spLocks xmlns:a="http://schemas.openxmlformats.org/drawingml/2006/main" noGrp="1"/>
          </p:cNvSpPr>
          <p:nvPr/>
        </p:nvSpPr>
        <p:spPr>
          <a:xfrm xmlns:a="http://schemas.openxmlformats.org/drawingml/2006/main">
            <a:off x="6191250" y="50006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2465A0"/>
                </a:solidFill>
              </a:defRPr>
            </a:defPPr>
          </a:lstStyle>
          <a:p xmlns:a="http://schemas.openxmlformats.org/drawingml/2006/main">
            <a:pPr>
              <a:defRPr sz="3225" b="0">
                <a:solidFill>
                  <a:srgbClr val="2465A0"/>
                </a:solidFill>
              </a:defRPr>
            </a:pPr>
            <a:r>
              <a:rPr sz="3225" b="0">
                <a:solidFill>
                  <a:srgbClr val="2465A0"/>
                </a:solidFill>
              </a:rPr>
              <a:t>2 advisory partners</a:t>
            </a:r>
          </a:p>
        </p:txBody>
      </p:sp>
      <p:sp>
        <p:nvSpPr>
          <p:cNvPr id="7" name="">
            <a:extLst xmlns:a="http://schemas.openxmlformats.org/drawingml/2006/main">
              <a:ext uri="{FF2B5EF4-FFF2-40B4-BE49-F238E27FC236}">
                <a16:creationId xmlns:a16="http://schemas.microsoft.com/office/drawing/2014/main" id="{99B6F15D-171B-4B49-BA6F-03681A5812BF}"/>
              </a:ext>
            </a:extLst>
          </p:cNvPr>
          <p:cNvSpPr>
            <a:spLocks xmlns:a="http://schemas.openxmlformats.org/drawingml/2006/main" noGrp="1"/>
          </p:cNvSpPr>
          <p:nvPr/>
        </p:nvSpPr>
        <p:spPr>
          <a:xfrm xmlns:a="http://schemas.openxmlformats.org/drawingml/2006/main">
            <a:off x="571500" y="592455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575"/>
                </a:solidFill>
              </a:defRPr>
            </a:defPPr>
          </a:lstStyle>
          <a:p xmlns:a="http://schemas.openxmlformats.org/drawingml/2006/main">
            <a:pPr>
              <a:defRPr sz="1725" b="0">
                <a:solidFill>
                  <a:srgbClr val="536575"/>
                </a:solidFill>
              </a:defRPr>
            </a:pPr>
            <a:r>
              <a:rPr sz="1725" b="0">
                <a:solidFill>
                  <a:srgbClr val="536575"/>
                </a:solidFill>
              </a:rPr>
              <a:t>Proposed pilot targets, not signed customers. Test demand before estimating a market.</a:t>
            </a:r>
          </a:p>
        </p:txBody>
      </p:sp>
    </p:spTree>
    <p:extLst>
      <p:ext uri="{BB962C8B-B14F-4D97-AF65-F5344CB8AC3E}">
        <p14:creationId xmlns:p14="http://schemas.microsoft.com/office/powerpoint/2010/main" val="2031819108"/>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C205DD-F22D-4142-9283-A57050C0A60B}"/>
              </a:ext>
            </a:extLst>
          </p:cNvPr>
          <p:cNvSpPr>
            <a:spLocks xmlns:a="http://schemas.openxmlformats.org/drawingml/2006/main" noGrp="1"/>
          </p:cNvSpPr>
          <p:nvPr/>
        </p:nvSpPr>
        <p:spPr>
          <a:xfrm xmlns:a="http://schemas.openxmlformats.org/drawingml/2006/main">
            <a:off x="5715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36575"/>
                </a:solidFill>
              </a:defRPr>
            </a:defPPr>
          </a:lstStyle>
          <a:p xmlns:a="http://schemas.openxmlformats.org/drawingml/2006/main">
            <a:pPr>
              <a:defRPr sz="1050" b="1">
                <a:solidFill>
                  <a:srgbClr val="536575"/>
                </a:solidFill>
              </a:defRPr>
            </a:pPr>
            <a:r>
              <a:rPr sz="1050" b="1">
                <a:solidFill>
                  <a:srgbClr val="536575"/>
                </a:solidFill>
              </a:rPr>
              <a:t>TECH SQUAD    /    CRYPTIQ</a:t>
            </a:r>
          </a:p>
        </p:txBody>
      </p:sp>
      <p:sp>
        <p:nvSpPr>
          <p:cNvPr id="2" name="">
            <a:extLst xmlns:a="http://schemas.openxmlformats.org/drawingml/2006/main">
              <a:ext uri="{FF2B5EF4-FFF2-40B4-BE49-F238E27FC236}">
                <a16:creationId xmlns:a16="http://schemas.microsoft.com/office/drawing/2014/main" id="{E7C4E784-19C7-4E8E-BE63-EAFA2AE1842E}"/>
              </a:ext>
            </a:extLst>
          </p:cNvPr>
          <p:cNvSpPr>
            <a:spLocks xmlns:a="http://schemas.openxmlformats.org/drawingml/2006/main" noGrp="1"/>
          </p:cNvSpPr>
          <p:nvPr/>
        </p:nvSpPr>
        <p:spPr>
          <a:xfrm xmlns:a="http://schemas.openxmlformats.org/drawingml/2006/main">
            <a:off x="571500" y="8191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638"/>
                </a:solidFill>
              </a:defRPr>
            </a:defPPr>
          </a:lstStyle>
          <a:p xmlns:a="http://schemas.openxmlformats.org/drawingml/2006/main">
            <a:pPr>
              <a:defRPr sz="3300" b="1">
                <a:solidFill>
                  <a:srgbClr val="102638"/>
                </a:solidFill>
              </a:defRPr>
            </a:pPr>
            <a:r>
              <a:rPr sz="3300" b="1">
                <a:solidFill>
                  <a:srgbClr val="102638"/>
                </a:solidFill>
              </a:rPr>
              <a:t>10  Pricing and the route to customers</a:t>
            </a:r>
          </a:p>
        </p:txBody>
      </p:sp>
      <p:sp>
        <p:nvSpPr>
          <p:cNvPr id="3" name="">
            <a:extLst xmlns:a="http://schemas.openxmlformats.org/drawingml/2006/main">
              <a:ext uri="{FF2B5EF4-FFF2-40B4-BE49-F238E27FC236}">
                <a16:creationId xmlns:a16="http://schemas.microsoft.com/office/drawing/2014/main" id="{8E70C5EC-C3A7-40E7-9BC0-87A94E696CB1}"/>
              </a:ext>
            </a:extLst>
          </p:cNvPr>
          <p:cNvSpPr>
            <a:spLocks xmlns:a="http://schemas.openxmlformats.org/drawingml/2006/main" noGrp="1"/>
          </p:cNvSpPr>
          <p:nvPr/>
        </p:nvSpPr>
        <p:spPr>
          <a:xfrm xmlns:a="http://schemas.openxmlformats.org/drawingml/2006/main">
            <a:off x="10668000" y="64389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575"/>
                </a:solidFill>
              </a:defRPr>
            </a:defPPr>
          </a:lstStyle>
          <a:p xmlns:a="http://schemas.openxmlformats.org/drawingml/2006/main">
            <a:pPr>
              <a:defRPr sz="1050" b="0">
                <a:solidFill>
                  <a:srgbClr val="536575"/>
                </a:solidFill>
              </a:defRPr>
            </a:pPr>
            <a:r>
              <a:rPr sz="1050" b="0">
                <a:solidFill>
                  <a:srgbClr val="536575"/>
                </a:solidFill>
              </a:rPr>
              <a:t>10 / 12</a:t>
            </a:r>
          </a:p>
        </p:txBody>
      </p:sp>
      <p:graphicFrame>
        <p:nvGraphicFramePr>
          <p:cNvPr id="4" name="">
            <a:extLst xmlns:a="http://schemas.openxmlformats.org/drawingml/2006/main">
              <a:ext uri="{FF2B5EF4-FFF2-40B4-BE49-F238E27FC236}">
                <a16:creationId xmlns:a16="http://schemas.microsoft.com/office/drawing/2014/main" id="{21368404-D16E-4BF3-8EBA-7BBF63D6C515}"/>
              </a:ext>
            </a:extLst>
          </p:cNvPr>
          <p:cNvGraphicFramePr/>
          <p:nvPr/>
        </p:nvGraphicFramePr>
        <p:xfrm>
          <a:off xmlns:a="http://schemas.openxmlformats.org/drawingml/2006/main" x="571500" y="1990725"/>
          <a:ext xmlns:a="http://schemas.openxmlformats.org/drawingml/2006/main" cx="11049000" cy="3143250"/>
        </p:xfrm>
        <a:graphic xmlns:a="http://schemas.openxmlformats.org/drawingml/2006/main">
          <a:graphicData uri="http://schemas.openxmlformats.org/drawingml/2006/table">
            <a:tbl>
              <a:tblPr/>
              <a:tblGrid>
                <a:gridCol w="2619375"/>
                <a:gridCol w="2238375"/>
                <a:gridCol w="6191250"/>
              </a:tblGrid>
              <a:tr h="628650">
                <a:tc>
                  <a:txBody>
                    <a:bodyPr/>
                    <a:lstStyle/>
                    <a:p>
                      <a:r>
                        <a:rPr sz="1425" b="1">
                          <a:solidFill>
                            <a:srgbClr val="FFFFFF"/>
                          </a:solidFill>
                        </a:rPr>
                        <a:t>Plan</a:t>
                      </a:r>
                    </a:p>
                  </a:txBody>
                  <a:tcPr marL="91440" marR="91440" marT="45720" marB="45720">
                    <a:solidFill>
                      <a:srgbClr val="102638"/>
                    </a:solidFill>
                  </a:tcPr>
                </a:tc>
                <a:tc>
                  <a:txBody>
                    <a:bodyPr/>
                    <a:lstStyle/>
                    <a:p>
                      <a:r>
                        <a:rPr sz="1425" b="1">
                          <a:solidFill>
                            <a:srgbClr val="FFFFFF"/>
                          </a:solidFill>
                        </a:rPr>
                        <a:t>Per month</a:t>
                      </a:r>
                    </a:p>
                  </a:txBody>
                  <a:tcPr marL="91440" marR="91440" marT="45720" marB="45720">
                    <a:solidFill>
                      <a:srgbClr val="102638"/>
                    </a:solidFill>
                  </a:tcPr>
                </a:tc>
                <a:tc>
                  <a:txBody>
                    <a:bodyPr/>
                    <a:lstStyle/>
                    <a:p>
                      <a:r>
                        <a:rPr sz="1425" b="1">
                          <a:solidFill>
                            <a:srgbClr val="FFFFFF"/>
                          </a:solidFill>
                        </a:rPr>
                        <a:t>Demo scope</a:t>
                      </a:r>
                    </a:p>
                  </a:txBody>
                  <a:tcPr marL="91440" marR="91440" marT="45720" marB="45720">
                    <a:solidFill>
                      <a:srgbClr val="102638"/>
                    </a:solidFill>
                  </a:tcPr>
                </a:tc>
              </a:tr>
              <a:tr h="628650">
                <a:tc>
                  <a:txBody>
                    <a:bodyPr/>
                    <a:lstStyle/>
                    <a:p>
                      <a:r>
                        <a:rPr sz="1650" b="0">
                          <a:solidFill>
                            <a:srgbClr val="102638"/>
                          </a:solidFill>
                        </a:rPr>
                        <a:t>Free</a:t>
                      </a:r>
                    </a:p>
                  </a:txBody>
                  <a:tcPr marL="91440" marR="91440" marT="45720" marB="45720">
                    <a:solidFill>
                      <a:srgbClr val="FFFFFF"/>
                    </a:solidFill>
                  </a:tcPr>
                </a:tc>
                <a:tc>
                  <a:txBody>
                    <a:bodyPr/>
                    <a:lstStyle/>
                    <a:p>
                      <a:r>
                        <a:rPr sz="1650" b="0">
                          <a:solidFill>
                            <a:srgbClr val="102638"/>
                          </a:solidFill>
                        </a:rPr>
                        <a:t>₹0</a:t>
                      </a:r>
                    </a:p>
                  </a:txBody>
                  <a:tcPr marL="91440" marR="91440" marT="45720" marB="45720">
                    <a:solidFill>
                      <a:srgbClr val="FFFFFF"/>
                    </a:solidFill>
                  </a:tcPr>
                </a:tc>
                <a:tc>
                  <a:txBody>
                    <a:bodyPr/>
                    <a:lstStyle/>
                    <a:p>
                      <a:r>
                        <a:rPr sz="1650" b="0">
                          <a:solidFill>
                            <a:srgbClr val="102638"/>
                          </a:solidFill>
                        </a:rPr>
                        <a:t>Discovery, 1 scan</a:t>
                      </a:r>
                    </a:p>
                  </a:txBody>
                  <a:tcPr marL="91440" marR="91440" marT="45720" marB="45720">
                    <a:solidFill>
                      <a:srgbClr val="FFFFFF"/>
                    </a:solidFill>
                  </a:tcPr>
                </a:tc>
              </a:tr>
              <a:tr h="628650">
                <a:tc>
                  <a:txBody>
                    <a:bodyPr/>
                    <a:lstStyle/>
                    <a:p>
                      <a:r>
                        <a:rPr sz="1650" b="0">
                          <a:solidFill>
                            <a:srgbClr val="102638"/>
                          </a:solidFill>
                        </a:rPr>
                        <a:t>Starter</a:t>
                      </a:r>
                    </a:p>
                  </a:txBody>
                  <a:tcPr marL="91440" marR="91440" marT="45720" marB="45720">
                    <a:solidFill>
                      <a:srgbClr val="EBEEF0"/>
                    </a:solidFill>
                  </a:tcPr>
                </a:tc>
                <a:tc>
                  <a:txBody>
                    <a:bodyPr/>
                    <a:lstStyle/>
                    <a:p>
                      <a:r>
                        <a:rPr sz="1650" b="0">
                          <a:solidFill>
                            <a:srgbClr val="102638"/>
                          </a:solidFill>
                        </a:rPr>
                        <a:t>₹999</a:t>
                      </a:r>
                    </a:p>
                  </a:txBody>
                  <a:tcPr marL="91440" marR="91440" marT="45720" marB="45720">
                    <a:solidFill>
                      <a:srgbClr val="EBEEF0"/>
                    </a:solidFill>
                  </a:tcPr>
                </a:tc>
                <a:tc>
                  <a:txBody>
                    <a:bodyPr/>
                    <a:lstStyle/>
                    <a:p>
                      <a:r>
                        <a:rPr sz="1650" b="0">
                          <a:solidFill>
                            <a:srgbClr val="102638"/>
                          </a:solidFill>
                        </a:rPr>
                        <a:t>Repair + verify, 4 scans</a:t>
                      </a:r>
                    </a:p>
                  </a:txBody>
                  <a:tcPr marL="91440" marR="91440" marT="45720" marB="45720">
                    <a:solidFill>
                      <a:srgbClr val="EBEEF0"/>
                    </a:solidFill>
                  </a:tcPr>
                </a:tc>
              </a:tr>
              <a:tr h="628650">
                <a:tc>
                  <a:txBody>
                    <a:bodyPr/>
                    <a:lstStyle/>
                    <a:p>
                      <a:r>
                        <a:rPr sz="1650" b="0">
                          <a:solidFill>
                            <a:srgbClr val="102638"/>
                          </a:solidFill>
                        </a:rPr>
                        <a:t>Business</a:t>
                      </a:r>
                    </a:p>
                  </a:txBody>
                  <a:tcPr marL="91440" marR="91440" marT="45720" marB="45720">
                    <a:solidFill>
                      <a:srgbClr val="FFFFFF"/>
                    </a:solidFill>
                  </a:tcPr>
                </a:tc>
                <a:tc>
                  <a:txBody>
                    <a:bodyPr/>
                    <a:lstStyle/>
                    <a:p>
                      <a:r>
                        <a:rPr sz="1650" b="0">
                          <a:solidFill>
                            <a:srgbClr val="102638"/>
                          </a:solidFill>
                        </a:rPr>
                        <a:t>₹2,999</a:t>
                      </a:r>
                    </a:p>
                  </a:txBody>
                  <a:tcPr marL="91440" marR="91440" marT="45720" marB="45720">
                    <a:solidFill>
                      <a:srgbClr val="FFFFFF"/>
                    </a:solidFill>
                  </a:tcPr>
                </a:tc>
                <a:tc>
                  <a:txBody>
                    <a:bodyPr/>
                    <a:lstStyle/>
                    <a:p>
                      <a:r>
                        <a:rPr sz="1650" b="0">
                          <a:solidFill>
                            <a:srgbClr val="102638"/>
                          </a:solidFill>
                        </a:rPr>
                        <a:t>Evidence workflow, 12 scans</a:t>
                      </a:r>
                    </a:p>
                  </a:txBody>
                  <a:tcPr marL="91440" marR="91440" marT="45720" marB="45720">
                    <a:solidFill>
                      <a:srgbClr val="FFFFFF"/>
                    </a:solidFill>
                  </a:tcPr>
                </a:tc>
              </a:tr>
              <a:tr h="628650">
                <a:tc>
                  <a:txBody>
                    <a:bodyPr/>
                    <a:lstStyle/>
                    <a:p>
                      <a:r>
                        <a:rPr sz="1650" b="0">
                          <a:solidFill>
                            <a:srgbClr val="102638"/>
                          </a:solidFill>
                        </a:rPr>
                        <a:t>Partner</a:t>
                      </a:r>
                    </a:p>
                  </a:txBody>
                  <a:tcPr marL="91440" marR="91440" marT="45720" marB="45720">
                    <a:solidFill>
                      <a:srgbClr val="EBEEF0"/>
                    </a:solidFill>
                  </a:tcPr>
                </a:tc>
                <a:tc>
                  <a:txBody>
                    <a:bodyPr/>
                    <a:lstStyle/>
                    <a:p>
                      <a:r>
                        <a:rPr sz="1650" b="0">
                          <a:solidFill>
                            <a:srgbClr val="102638"/>
                          </a:solidFill>
                        </a:rPr>
                        <a:t>₹1,199</a:t>
                      </a:r>
                    </a:p>
                  </a:txBody>
                  <a:tcPr marL="91440" marR="91440" marT="45720" marB="45720">
                    <a:solidFill>
                      <a:srgbClr val="EBEEF0"/>
                    </a:solidFill>
                  </a:tcPr>
                </a:tc>
                <a:tc>
                  <a:txBody>
                    <a:bodyPr/>
                    <a:lstStyle/>
                    <a:p>
                      <a:r>
                        <a:rPr sz="1650" b="0">
                          <a:solidFill>
                            <a:srgbClr val="102638"/>
                          </a:solidFill>
                        </a:rPr>
                        <a:t>Read-only, 3 active clients</a:t>
                      </a:r>
                    </a:p>
                  </a:txBody>
                  <a:tcPr marL="91440" marR="91440" marT="45720" marB="45720">
                    <a:solidFill>
                      <a:srgbClr val="EBEEF0"/>
                    </a:solidFill>
                  </a:tcPr>
                </a:tc>
              </a:tr>
            </a:tbl>
          </a:graphicData>
        </a:graphic>
      </p:graphicFrame>
      <p:sp>
        <p:nvSpPr>
          <p:cNvPr id="5" name="">
            <a:extLst xmlns:a="http://schemas.openxmlformats.org/drawingml/2006/main">
              <a:ext uri="{FF2B5EF4-FFF2-40B4-BE49-F238E27FC236}">
                <a16:creationId xmlns:a16="http://schemas.microsoft.com/office/drawing/2014/main" id="{B60A4623-1BAF-4DB1-A207-8C6C1CBDEBC4}"/>
              </a:ext>
            </a:extLst>
          </p:cNvPr>
          <p:cNvSpPr>
            <a:spLocks xmlns:a="http://schemas.openxmlformats.org/drawingml/2006/main" noGrp="1"/>
          </p:cNvSpPr>
          <p:nvPr/>
        </p:nvSpPr>
        <p:spPr>
          <a:xfrm xmlns:a="http://schemas.openxmlformats.org/drawingml/2006/main">
            <a:off x="571500" y="536257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465A0"/>
                </a:solidFill>
              </a:defRPr>
            </a:defPPr>
          </a:lstStyle>
          <a:p xmlns:a="http://schemas.openxmlformats.org/drawingml/2006/main">
            <a:pPr>
              <a:defRPr sz="1875" b="1">
                <a:solidFill>
                  <a:srgbClr val="2465A0"/>
                </a:solidFill>
              </a:defRPr>
            </a:pPr>
            <a:r>
              <a:rPr sz="1875" b="1">
                <a:solidFill>
                  <a:srgbClr val="2465A0"/>
                </a:solidFill>
              </a:rPr>
              <a:t>Partner: ₹500 for each additional active client.</a:t>
            </a:r>
          </a:p>
        </p:txBody>
      </p:sp>
      <p:sp>
        <p:nvSpPr>
          <p:cNvPr id="6" name="">
            <a:extLst xmlns:a="http://schemas.openxmlformats.org/drawingml/2006/main">
              <a:ext uri="{FF2B5EF4-FFF2-40B4-BE49-F238E27FC236}">
                <a16:creationId xmlns:a16="http://schemas.microsoft.com/office/drawing/2014/main" id="{A13F2FAF-A3E3-45AE-9C84-162222849B63}"/>
              </a:ext>
            </a:extLst>
          </p:cNvPr>
          <p:cNvSpPr>
            <a:spLocks xmlns:a="http://schemas.openxmlformats.org/drawingml/2006/main" noGrp="1"/>
          </p:cNvSpPr>
          <p:nvPr/>
        </p:nvSpPr>
        <p:spPr>
          <a:xfrm xmlns:a="http://schemas.openxmlformats.org/drawingml/2006/main">
            <a:off x="571500" y="58483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575"/>
                </a:solidFill>
              </a:defRPr>
            </a:defPPr>
          </a:lstStyle>
          <a:p xmlns:a="http://schemas.openxmlformats.org/drawingml/2006/main">
            <a:pPr>
              <a:defRPr sz="1725" b="0">
                <a:solidFill>
                  <a:srgbClr val="536575"/>
                </a:solidFill>
              </a:defRPr>
            </a:pPr>
            <a:r>
              <a:rPr sz="1725" b="0">
                <a:solidFill>
                  <a:srgbClr val="536575"/>
                </a:solidFill>
              </a:rPr>
              <a:t>Free scan, guided review, repeat use. IT and audit partners introduce clients.</a:t>
            </a:r>
          </a:p>
        </p:txBody>
      </p:sp>
      <p:sp>
        <p:nvSpPr>
          <p:cNvPr id="7" name="">
            <a:extLst xmlns:a="http://schemas.openxmlformats.org/drawingml/2006/main">
              <a:ext uri="{FF2B5EF4-FFF2-40B4-BE49-F238E27FC236}">
                <a16:creationId xmlns:a16="http://schemas.microsoft.com/office/drawing/2014/main" id="{3455A9CA-1D85-4287-B856-9D194FFB9621}"/>
              </a:ext>
            </a:extLst>
          </p:cNvPr>
          <p:cNvSpPr>
            <a:spLocks xmlns:a="http://schemas.openxmlformats.org/drawingml/2006/main" noGrp="1"/>
          </p:cNvSpPr>
          <p:nvPr/>
        </p:nvSpPr>
        <p:spPr>
          <a:xfrm xmlns:a="http://schemas.openxmlformats.org/drawingml/2006/main">
            <a:off x="571500" y="62293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575"/>
                </a:solidFill>
              </a:defRPr>
            </a:defPPr>
          </a:lstStyle>
          <a:p xmlns:a="http://schemas.openxmlformats.org/drawingml/2006/main">
            <a:pPr>
              <a:defRPr sz="1275" b="0">
                <a:solidFill>
                  <a:srgbClr val="536575"/>
                </a:solidFill>
              </a:defRPr>
            </a:pPr>
            <a:r>
              <a:rPr sz="1275" b="0">
                <a:solidFill>
                  <a:srgbClr val="536575"/>
                </a:solidFill>
              </a:rPr>
              <a:t>Pilot pricing. Payments and server-enforced subscriptions are not connected.</a:t>
            </a:r>
          </a:p>
        </p:txBody>
      </p:sp>
    </p:spTree>
    <p:extLst>
      <p:ext uri="{BB962C8B-B14F-4D97-AF65-F5344CB8AC3E}">
        <p14:creationId xmlns:p14="http://schemas.microsoft.com/office/powerpoint/2010/main" val="1348756732"/>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201BBD-48C9-40B5-932F-15B9D6AB718E}"/>
              </a:ext>
            </a:extLst>
          </p:cNvPr>
          <p:cNvSpPr>
            <a:spLocks xmlns:a="http://schemas.openxmlformats.org/drawingml/2006/main" noGrp="1"/>
          </p:cNvSpPr>
          <p:nvPr/>
        </p:nvSpPr>
        <p:spPr>
          <a:xfrm xmlns:a="http://schemas.openxmlformats.org/drawingml/2006/main">
            <a:off x="571500" y="2857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536575"/>
                </a:solidFill>
              </a:defRPr>
            </a:defPPr>
          </a:lstStyle>
          <a:p xmlns:a="http://schemas.openxmlformats.org/drawingml/2006/main">
            <a:pPr>
              <a:defRPr sz="1050" b="1">
                <a:solidFill>
                  <a:srgbClr val="536575"/>
                </a:solidFill>
              </a:defRPr>
            </a:pPr>
            <a:r>
              <a:rPr sz="1050" b="1">
                <a:solidFill>
                  <a:srgbClr val="536575"/>
                </a:solidFill>
              </a:rPr>
              <a:t>TECH SQUAD    /    CRYPTIQ</a:t>
            </a:r>
          </a:p>
        </p:txBody>
      </p:sp>
      <p:sp>
        <p:nvSpPr>
          <p:cNvPr id="2" name="">
            <a:extLst xmlns:a="http://schemas.openxmlformats.org/drawingml/2006/main">
              <a:ext uri="{FF2B5EF4-FFF2-40B4-BE49-F238E27FC236}">
                <a16:creationId xmlns:a16="http://schemas.microsoft.com/office/drawing/2014/main" id="{EB76FF77-0444-4095-8774-435A4A950FAB}"/>
              </a:ext>
            </a:extLst>
          </p:cNvPr>
          <p:cNvSpPr>
            <a:spLocks xmlns:a="http://schemas.openxmlformats.org/drawingml/2006/main" noGrp="1"/>
          </p:cNvSpPr>
          <p:nvPr/>
        </p:nvSpPr>
        <p:spPr>
          <a:xfrm xmlns:a="http://schemas.openxmlformats.org/drawingml/2006/main">
            <a:off x="571500" y="8191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638"/>
                </a:solidFill>
              </a:defRPr>
            </a:defPPr>
          </a:lstStyle>
          <a:p xmlns:a="http://schemas.openxmlformats.org/drawingml/2006/main">
            <a:pPr>
              <a:defRPr sz="3300" b="1">
                <a:solidFill>
                  <a:srgbClr val="102638"/>
                </a:solidFill>
              </a:defRPr>
            </a:pPr>
            <a:r>
              <a:rPr sz="3300" b="1">
                <a:solidFill>
                  <a:srgbClr val="102638"/>
                </a:solidFill>
              </a:rPr>
              <a:t>11  An illustrative pilot business case</a:t>
            </a:r>
          </a:p>
        </p:txBody>
      </p:sp>
      <p:sp>
        <p:nvSpPr>
          <p:cNvPr id="3" name="">
            <a:extLst xmlns:a="http://schemas.openxmlformats.org/drawingml/2006/main">
              <a:ext uri="{FF2B5EF4-FFF2-40B4-BE49-F238E27FC236}">
                <a16:creationId xmlns:a16="http://schemas.microsoft.com/office/drawing/2014/main" id="{6C57D33B-0396-40E2-B347-37F39D03E13C}"/>
              </a:ext>
            </a:extLst>
          </p:cNvPr>
          <p:cNvSpPr>
            <a:spLocks xmlns:a="http://schemas.openxmlformats.org/drawingml/2006/main" noGrp="1"/>
          </p:cNvSpPr>
          <p:nvPr/>
        </p:nvSpPr>
        <p:spPr>
          <a:xfrm xmlns:a="http://schemas.openxmlformats.org/drawingml/2006/main">
            <a:off x="10668000" y="643890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36575"/>
                </a:solidFill>
              </a:defRPr>
            </a:defPPr>
          </a:lstStyle>
          <a:p xmlns:a="http://schemas.openxmlformats.org/drawingml/2006/main">
            <a:pPr>
              <a:defRPr sz="1050" b="0">
                <a:solidFill>
                  <a:srgbClr val="536575"/>
                </a:solidFill>
              </a:defRPr>
            </a:pPr>
            <a:r>
              <a:rPr sz="1050" b="0">
                <a:solidFill>
                  <a:srgbClr val="536575"/>
                </a:solidFill>
              </a:rPr>
              <a:t>11 / 12</a:t>
            </a:r>
          </a:p>
        </p:txBody>
      </p:sp>
      <p:sp>
        <p:nvSpPr>
          <p:cNvPr id="4" name="">
            <a:extLst xmlns:a="http://schemas.openxmlformats.org/drawingml/2006/main">
              <a:ext uri="{FF2B5EF4-FFF2-40B4-BE49-F238E27FC236}">
                <a16:creationId xmlns:a16="http://schemas.microsoft.com/office/drawing/2014/main" id="{D0117513-7BB6-468E-8F8F-0CC5D41E003E}"/>
              </a:ext>
            </a:extLst>
          </p:cNvPr>
          <p:cNvSpPr>
            <a:spLocks xmlns:a="http://schemas.openxmlformats.org/drawingml/2006/main" noGrp="1"/>
          </p:cNvSpPr>
          <p:nvPr/>
        </p:nvSpPr>
        <p:spPr>
          <a:xfrm xmlns:a="http://schemas.openxmlformats.org/drawingml/2006/main">
            <a:off x="571500" y="198120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0">
                <a:solidFill>
                  <a:srgbClr val="2465A0"/>
                </a:solidFill>
              </a:defRPr>
            </a:defPPr>
          </a:lstStyle>
          <a:p xmlns:a="http://schemas.openxmlformats.org/drawingml/2006/main">
            <a:pPr>
              <a:defRPr sz="5700" b="0">
                <a:solidFill>
                  <a:srgbClr val="2465A0"/>
                </a:solidFill>
              </a:defRPr>
            </a:pPr>
            <a:r>
              <a:rPr sz="5700" b="0">
                <a:solidFill>
                  <a:srgbClr val="2465A0"/>
                </a:solidFill>
              </a:rPr>
              <a:t>₹90,000</a:t>
            </a:r>
          </a:p>
        </p:txBody>
      </p:sp>
      <p:sp>
        <p:nvSpPr>
          <p:cNvPr id="5" name="">
            <a:extLst xmlns:a="http://schemas.openxmlformats.org/drawingml/2006/main">
              <a:ext uri="{FF2B5EF4-FFF2-40B4-BE49-F238E27FC236}">
                <a16:creationId xmlns:a16="http://schemas.microsoft.com/office/drawing/2014/main" id="{A32641FE-F951-4207-8E24-253CF44E5B0B}"/>
              </a:ext>
            </a:extLst>
          </p:cNvPr>
          <p:cNvSpPr>
            <a:spLocks xmlns:a="http://schemas.openxmlformats.org/drawingml/2006/main" noGrp="1"/>
          </p:cNvSpPr>
          <p:nvPr/>
        </p:nvSpPr>
        <p:spPr>
          <a:xfrm xmlns:a="http://schemas.openxmlformats.org/drawingml/2006/main">
            <a:off x="571500" y="29813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02638"/>
                </a:solidFill>
              </a:defRPr>
            </a:defPPr>
          </a:lstStyle>
          <a:p xmlns:a="http://schemas.openxmlformats.org/drawingml/2006/main">
            <a:pPr>
              <a:defRPr sz="1950" b="0">
                <a:solidFill>
                  <a:srgbClr val="102638"/>
                </a:solidFill>
              </a:defRPr>
            </a:pPr>
            <a:r>
              <a:rPr sz="1950" b="0">
                <a:solidFill>
                  <a:srgbClr val="102638"/>
                </a:solidFill>
              </a:rPr>
              <a:t>90-day planning budget</a:t>
            </a:r>
          </a:p>
        </p:txBody>
      </p:sp>
      <p:sp>
        <p:nvSpPr>
          <p:cNvPr id="6" name="">
            <a:extLst xmlns:a="http://schemas.openxmlformats.org/drawingml/2006/main">
              <a:ext uri="{FF2B5EF4-FFF2-40B4-BE49-F238E27FC236}">
                <a16:creationId xmlns:a16="http://schemas.microsoft.com/office/drawing/2014/main" id="{5980ED67-D73B-437A-B4D3-639E764FC13C}"/>
              </a:ext>
            </a:extLst>
          </p:cNvPr>
          <p:cNvSpPr>
            <a:spLocks xmlns:a="http://schemas.openxmlformats.org/drawingml/2006/main" noGrp="1"/>
          </p:cNvSpPr>
          <p:nvPr/>
        </p:nvSpPr>
        <p:spPr>
          <a:xfrm xmlns:a="http://schemas.openxmlformats.org/drawingml/2006/main">
            <a:off x="571500" y="3724275"/>
            <a:ext cx="485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36575"/>
                </a:solidFill>
              </a:defRPr>
            </a:defPPr>
          </a:lstStyle>
          <a:p xmlns:a="http://schemas.openxmlformats.org/drawingml/2006/main">
            <a:pPr>
              <a:defRPr sz="2025" b="0">
                <a:solidFill>
                  <a:srgbClr val="536575"/>
                </a:solidFill>
              </a:defRPr>
            </a:pPr>
            <a:r>
              <a:rPr sz="2025" b="0">
                <a:solidFill>
                  <a:srgbClr val="536575"/>
                </a:solidFill>
              </a:rPr>
              <a:t>₹60,000 founder-time allowance</a:t>
            </a:r>
          </a:p>
          <a:p xmlns:a="http://schemas.openxmlformats.org/drawingml/2006/main">
            <a:pPr>
              <a:defRPr sz="2025" b="0">
                <a:solidFill>
                  <a:srgbClr val="536575"/>
                </a:solidFill>
              </a:defRPr>
            </a:pPr>
            <a:r>
              <a:rPr sz="2025" b="0">
                <a:solidFill>
                  <a:srgbClr val="536575"/>
                </a:solidFill>
              </a:rPr>
              <a:t>₹30,000 assumed cash expenses</a:t>
            </a:r>
          </a:p>
        </p:txBody>
      </p:sp>
      <p:graphicFrame>
        <p:nvGraphicFramePr>
          <p:cNvPr id="7" name="">
            <a:extLst xmlns:a="http://schemas.openxmlformats.org/drawingml/2006/main">
              <a:ext uri="{FF2B5EF4-FFF2-40B4-BE49-F238E27FC236}">
                <a16:creationId xmlns:a16="http://schemas.microsoft.com/office/drawing/2014/main" id="{644F4B15-7D67-4514-87E6-822B61CC006B}"/>
              </a:ext>
            </a:extLst>
          </p:cNvPr>
          <p:cNvGraphicFramePr/>
          <p:nvPr/>
        </p:nvGraphicFramePr>
        <p:xfrm>
          <a:off xmlns:a="http://schemas.openxmlformats.org/drawingml/2006/main" x="6191250" y="2019300"/>
          <a:ext xmlns:a="http://schemas.openxmlformats.org/drawingml/2006/main" cx="5429250" cy="3067050"/>
        </p:xfrm>
        <a:graphic xmlns:a="http://schemas.openxmlformats.org/drawingml/2006/main">
          <a:graphicData uri="http://schemas.openxmlformats.org/drawingml/2006/table">
            <a:tbl>
              <a:tblPr/>
              <a:tblGrid>
                <a:gridCol w="3143250"/>
                <a:gridCol w="2286000"/>
              </a:tblGrid>
              <a:tr h="613410">
                <a:tc>
                  <a:txBody>
                    <a:bodyPr/>
                    <a:lstStyle/>
                    <a:p>
                      <a:r>
                        <a:rPr sz="1425" b="1">
                          <a:solidFill>
                            <a:srgbClr val="FFFFFF"/>
                          </a:solidFill>
                        </a:rPr>
                        <a:t>Monthly scenario</a:t>
                      </a:r>
                    </a:p>
                  </a:txBody>
                  <a:tcPr marL="91440" marR="91440" marT="45720" marB="45720">
                    <a:solidFill>
                      <a:srgbClr val="102638"/>
                    </a:solidFill>
                  </a:tcPr>
                </a:tc>
                <a:tc>
                  <a:txBody>
                    <a:bodyPr/>
                    <a:lstStyle/>
                    <a:p>
                      <a:r>
                        <a:rPr sz="1425" b="1">
                          <a:solidFill>
                            <a:srgbClr val="FFFFFF"/>
                          </a:solidFill>
                        </a:rPr>
                        <a:t>Amount</a:t>
                      </a:r>
                    </a:p>
                  </a:txBody>
                  <a:tcPr marL="91440" marR="91440" marT="45720" marB="45720">
                    <a:solidFill>
                      <a:srgbClr val="102638"/>
                    </a:solidFill>
                  </a:tcPr>
                </a:tc>
              </a:tr>
              <a:tr h="613410">
                <a:tc>
                  <a:txBody>
                    <a:bodyPr/>
                    <a:lstStyle/>
                    <a:p>
                      <a:r>
                        <a:rPr sz="1650" b="0">
                          <a:solidFill>
                            <a:srgbClr val="102638"/>
                          </a:solidFill>
                        </a:rPr>
                        <a:t>10 Starter + 5 Business</a:t>
                      </a:r>
                    </a:p>
                  </a:txBody>
                  <a:tcPr marL="91440" marR="91440" marT="45720" marB="45720">
                    <a:solidFill>
                      <a:srgbClr val="FFFFFF"/>
                    </a:solidFill>
                  </a:tcPr>
                </a:tc>
                <a:tc>
                  <a:txBody>
                    <a:bodyPr/>
                    <a:lstStyle/>
                    <a:p>
                      <a:r>
                        <a:rPr sz="1650" b="0">
                          <a:solidFill>
                            <a:srgbClr val="102638"/>
                          </a:solidFill>
                        </a:rPr>
                        <a:t>₹24,985 revenue</a:t>
                      </a:r>
                    </a:p>
                  </a:txBody>
                  <a:tcPr marL="91440" marR="91440" marT="45720" marB="45720">
                    <a:solidFill>
                      <a:srgbClr val="FFFFFF"/>
                    </a:solidFill>
                  </a:tcPr>
                </a:tc>
              </a:tr>
              <a:tr h="613410">
                <a:tc>
                  <a:txBody>
                    <a:bodyPr/>
                    <a:lstStyle/>
                    <a:p>
                      <a:r>
                        <a:rPr sz="1650" b="0">
                          <a:solidFill>
                            <a:srgbClr val="102638"/>
                          </a:solidFill>
                        </a:rPr>
                        <a:t>Variable costs</a:t>
                      </a:r>
                    </a:p>
                  </a:txBody>
                  <a:tcPr marL="91440" marR="91440" marT="45720" marB="45720">
                    <a:solidFill>
                      <a:srgbClr val="EBEEF0"/>
                    </a:solidFill>
                  </a:tcPr>
                </a:tc>
                <a:tc>
                  <a:txBody>
                    <a:bodyPr/>
                    <a:lstStyle/>
                    <a:p>
                      <a:r>
                        <a:rPr sz="1650" b="0">
                          <a:solidFill>
                            <a:srgbClr val="102638"/>
                          </a:solidFill>
                        </a:rPr>
                        <a:t>₹3,000</a:t>
                      </a:r>
                    </a:p>
                  </a:txBody>
                  <a:tcPr marL="91440" marR="91440" marT="45720" marB="45720">
                    <a:solidFill>
                      <a:srgbClr val="EBEEF0"/>
                    </a:solidFill>
                  </a:tcPr>
                </a:tc>
              </a:tr>
              <a:tr h="613410">
                <a:tc>
                  <a:txBody>
                    <a:bodyPr/>
                    <a:lstStyle/>
                    <a:p>
                      <a:r>
                        <a:rPr sz="1650" b="0">
                          <a:solidFill>
                            <a:srgbClr val="102638"/>
                          </a:solidFill>
                        </a:rPr>
                        <a:t>Fixed cash costs</a:t>
                      </a:r>
                    </a:p>
                  </a:txBody>
                  <a:tcPr marL="91440" marR="91440" marT="45720" marB="45720">
                    <a:solidFill>
                      <a:srgbClr val="FFFFFF"/>
                    </a:solidFill>
                  </a:tcPr>
                </a:tc>
                <a:tc>
                  <a:txBody>
                    <a:bodyPr/>
                    <a:lstStyle/>
                    <a:p>
                      <a:r>
                        <a:rPr sz="1650" b="0">
                          <a:solidFill>
                            <a:srgbClr val="102638"/>
                          </a:solidFill>
                        </a:rPr>
                        <a:t>₹20,000</a:t>
                      </a:r>
                    </a:p>
                  </a:txBody>
                  <a:tcPr marL="91440" marR="91440" marT="45720" marB="45720">
                    <a:solidFill>
                      <a:srgbClr val="FFFFFF"/>
                    </a:solidFill>
                  </a:tcPr>
                </a:tc>
              </a:tr>
              <a:tr h="613410">
                <a:tc>
                  <a:txBody>
                    <a:bodyPr/>
                    <a:lstStyle/>
                    <a:p>
                      <a:r>
                        <a:rPr sz="1650" b="0">
                          <a:solidFill>
                            <a:srgbClr val="102638"/>
                          </a:solidFill>
                        </a:rPr>
                        <a:t>Operating surplus</a:t>
                      </a:r>
                    </a:p>
                  </a:txBody>
                  <a:tcPr marL="91440" marR="91440" marT="45720" marB="45720">
                    <a:solidFill>
                      <a:srgbClr val="EBEEF0"/>
                    </a:solidFill>
                  </a:tcPr>
                </a:tc>
                <a:tc>
                  <a:txBody>
                    <a:bodyPr/>
                    <a:lstStyle/>
                    <a:p>
                      <a:r>
                        <a:rPr sz="1650" b="0">
                          <a:solidFill>
                            <a:srgbClr val="102638"/>
                          </a:solidFill>
                        </a:rPr>
                        <a:t>₹1,985</a:t>
                      </a:r>
                    </a:p>
                  </a:txBody>
                  <a:tcPr marL="91440" marR="91440" marT="45720" marB="45720">
                    <a:solidFill>
                      <a:srgbClr val="EBEEF0"/>
                    </a:solidFill>
                  </a:tcPr>
                </a:tc>
              </a:tr>
            </a:tbl>
          </a:graphicData>
        </a:graphic>
      </p:graphicFrame>
      <p:sp>
        <p:nvSpPr>
          <p:cNvPr id="8" name="">
            <a:extLst xmlns:a="http://schemas.openxmlformats.org/drawingml/2006/main">
              <a:ext uri="{FF2B5EF4-FFF2-40B4-BE49-F238E27FC236}">
                <a16:creationId xmlns:a16="http://schemas.microsoft.com/office/drawing/2014/main" id="{A95ADDCC-DD8E-4EA7-9854-52FE309E9BC0}"/>
              </a:ext>
            </a:extLst>
          </p:cNvPr>
          <p:cNvSpPr>
            <a:spLocks xmlns:a="http://schemas.openxmlformats.org/drawingml/2006/main" noGrp="1"/>
          </p:cNvSpPr>
          <p:nvPr/>
        </p:nvSpPr>
        <p:spPr>
          <a:xfrm xmlns:a="http://schemas.openxmlformats.org/drawingml/2006/main">
            <a:off x="571500" y="52197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0">
                <a:solidFill>
                  <a:srgbClr val="102638"/>
                </a:solidFill>
              </a:defRPr>
            </a:defPPr>
          </a:lstStyle>
          <a:p xmlns:a="http://schemas.openxmlformats.org/drawingml/2006/main">
            <a:pPr>
              <a:defRPr sz="3450" b="0">
                <a:solidFill>
                  <a:srgbClr val="102638"/>
                </a:solidFill>
              </a:defRPr>
            </a:pPr>
            <a:r>
              <a:rPr sz="3450" b="0">
                <a:solidFill>
                  <a:srgbClr val="102638"/>
                </a:solidFill>
              </a:rPr>
              <a:t>~14 accounts</a:t>
            </a:r>
          </a:p>
        </p:txBody>
      </p:sp>
      <p:sp>
        <p:nvSpPr>
          <p:cNvPr id="9" name="">
            <a:extLst xmlns:a="http://schemas.openxmlformats.org/drawingml/2006/main">
              <a:ext uri="{FF2B5EF4-FFF2-40B4-BE49-F238E27FC236}">
                <a16:creationId xmlns:a16="http://schemas.microsoft.com/office/drawing/2014/main" id="{008C647E-1CA6-41FC-A153-5FAA8CBA2BC9}"/>
              </a:ext>
            </a:extLst>
          </p:cNvPr>
          <p:cNvSpPr>
            <a:spLocks xmlns:a="http://schemas.openxmlformats.org/drawingml/2006/main" noGrp="1"/>
          </p:cNvSpPr>
          <p:nvPr/>
        </p:nvSpPr>
        <p:spPr>
          <a:xfrm xmlns:a="http://schemas.openxmlformats.org/drawingml/2006/main">
            <a:off x="571500" y="584835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36575"/>
                </a:solidFill>
              </a:defRPr>
            </a:defPPr>
          </a:lstStyle>
          <a:p xmlns:a="http://schemas.openxmlformats.org/drawingml/2006/main">
            <a:pPr>
              <a:defRPr sz="1650" b="0">
                <a:solidFill>
                  <a:srgbClr val="536575"/>
                </a:solidFill>
              </a:defRPr>
            </a:pPr>
            <a:r>
              <a:rPr sz="1650" b="0">
                <a:solidFill>
                  <a:srgbClr val="536575"/>
                </a:solidFill>
              </a:rPr>
              <a:t>Operating break-even at this mix</a:t>
            </a:r>
          </a:p>
        </p:txBody>
      </p:sp>
      <p:sp>
        <p:nvSpPr>
          <p:cNvPr id="10" name="">
            <a:extLst xmlns:a="http://schemas.openxmlformats.org/drawingml/2006/main">
              <a:ext uri="{FF2B5EF4-FFF2-40B4-BE49-F238E27FC236}">
                <a16:creationId xmlns:a16="http://schemas.microsoft.com/office/drawing/2014/main" id="{020D2A62-EED5-4853-8F08-3053059DD15D}"/>
              </a:ext>
            </a:extLst>
          </p:cNvPr>
          <p:cNvSpPr>
            <a:spLocks xmlns:a="http://schemas.openxmlformats.org/drawingml/2006/main" noGrp="1"/>
          </p:cNvSpPr>
          <p:nvPr/>
        </p:nvSpPr>
        <p:spPr>
          <a:xfrm xmlns:a="http://schemas.openxmlformats.org/drawingml/2006/main">
            <a:off x="6191250" y="5410200"/>
            <a:ext cx="5429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575"/>
                </a:solidFill>
              </a:defRPr>
            </a:defPPr>
          </a:lstStyle>
          <a:p xmlns:a="http://schemas.openxmlformats.org/drawingml/2006/main">
            <a:pPr>
              <a:defRPr sz="1725" b="0">
                <a:solidFill>
                  <a:srgbClr val="536575"/>
                </a:solidFill>
              </a:defRPr>
            </a:pPr>
            <a:r>
              <a:rPr sz="1725" b="0">
                <a:solidFill>
                  <a:srgbClr val="536575"/>
                </a:solidFill>
              </a:rPr>
              <a:t>CAC assumption: ₹1,000.</a:t>
            </a:r>
          </a:p>
          <a:p xmlns:a="http://schemas.openxmlformats.org/drawingml/2006/main">
            <a:pPr>
              <a:defRPr sz="1725" b="0">
                <a:solidFill>
                  <a:srgbClr val="536575"/>
                </a:solidFill>
              </a:defRPr>
            </a:pPr>
            <a:r>
              <a:rPr sz="1725" b="0">
                <a:solidFill>
                  <a:srgbClr val="536575"/>
                </a:solidFill>
              </a:rPr>
              <a:t>All estimates, not measured results.</a:t>
            </a:r>
          </a:p>
          <a:p xmlns:a="http://schemas.openxmlformats.org/drawingml/2006/main">
            <a:pPr>
              <a:defRPr sz="1725" b="0">
                <a:solidFill>
                  <a:srgbClr val="536575"/>
                </a:solidFill>
              </a:defRPr>
            </a:pPr>
            <a:r>
              <a:rPr sz="1725" b="0">
                <a:solidFill>
                  <a:srgbClr val="536575"/>
                </a:solidFill>
              </a:rPr>
              <a:t>Founder salaries and taxes excluded.</a:t>
            </a:r>
          </a:p>
        </p:txBody>
      </p:sp>
    </p:spTree>
    <p:extLst>
      <p:ext uri="{BB962C8B-B14F-4D97-AF65-F5344CB8AC3E}">
        <p14:creationId xmlns:p14="http://schemas.microsoft.com/office/powerpoint/2010/main" val="1491088610"/>
      </p:ext>
    </p:extLst>
  </p:cSld>
</p:sld>
</file>

<file path=ppt/slides/slide1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102638"/>
        </ns1:solidFill>
      </ns0:bgPr>
    </ns0:bg>
    <ns0:spTree>
      <ns0:nvGrpSpPr>
        <ns0:cNvPr id="1" name=""/>
        <ns0:cNvGrpSpPr/>
        <ns0:nvPr/>
      </ns0:nvGrpSpPr>
      <ns0:grpSpPr>
        <ns1:xfrm/>
      </ns0:grpSpPr>
      <ns0:sp>
        <ns0:nvSpPr>
          <ns0:cNvPr id="18" name="">
            <ns1:extLst>
              <ns1:ext uri="{FF2B5EF4-FFF2-40B4-BE49-F238E27FC236}">
                <ns2:creationId id="{04AC4778-A14F-404A-8A78-70B9A92EF8EB}"/>
              </ns1:ext>
            </ns1:extLst>
          </ns0:cNvPr>
          <ns0:cNvSpPr>
            <ns1:spLocks noGrp="1"/>
          </ns0:cNvSpPr>
          <ns0:nvPr/>
        </ns0:nvSpPr>
        <ns0:spPr>
          <ns1:xfrm>
            <ns1:off x="571500" y="285750"/>
            <ns1:ext cx="6667500" cy="228600"/>
          </ns1:xfrm>
          <ns1:prstGeom prst="rect">
            <ns1:avLst/>
          </ns1:prstGeom>
          <ns1:noFill/>
          <ns1:ln w="0">
            <ns1:noFill/>
          </ns1:ln>
        </ns0:spPr>
        <ns0:txBody>
          <ns1:bodyPr lIns="0" tIns="0" rIns="0" bIns="0"/>
          <ns1:lstStyle>
            <ns1:defPPr>
              <ns1:defRPr sz="1050" b="1">
                <ns1:solidFill>
                  <ns1:srgbClr val="AFBBC5"/>
                </ns1:solidFill>
              </ns1:defRPr>
            </ns1:defPPr>
          </ns1:lstStyle>
          <ns1:p>
            <ns1:pPr>
              <ns1:defRPr sz="1050" b="1">
                <ns1:solidFill>
                  <ns1:srgbClr val="AFBBC5"/>
                </ns1:solidFill>
              </ns1:defRPr>
            </ns1:pPr>
            <ns1:r>
              <ns1:rPr sz="1050" b="1">
                <ns1:solidFill>
                  <ns1:srgbClr val="AFBBC5"/>
                </ns1:solidFill>
              </ns1:rPr>
              <ns1:t>TECH SQUAD    /    CRYPTIQ</ns1:t>
            </ns1:r>
          </ns1:p>
        </ns0:txBody>
      </ns0:sp>
      <ns0:sp>
        <ns0:nvSpPr>
          <ns0:cNvPr id="2" name="">
            <ns1:extLst>
              <ns1:ext uri="{FF2B5EF4-FFF2-40B4-BE49-F238E27FC236}">
                <ns2:creationId id="{C5D718E8-12B6-46D1-9D9B-B15ECE77BB50}"/>
              </ns1:ext>
            </ns1:extLst>
          </ns0:cNvPr>
          <ns0:cNvSpPr>
            <ns1:spLocks noGrp="1"/>
          </ns0:cNvSpPr>
          <ns0:nvPr/>
        </ns0:nvSpPr>
        <ns0:spPr>
          <ns1:xfrm>
            <ns1:off x="571500" y="819150"/>
            <ns1:ext cx="11049000" cy="1000125"/>
          </ns1:xfrm>
          <ns1:prstGeom prst="rect">
            <ns1:avLst/>
          </ns1:prstGeom>
          <ns1:noFill/>
          <ns1:ln w="0">
            <ns1:noFill/>
          </ns1:ln>
        </ns0:spPr>
        <ns0:txBody>
          <ns1:bodyPr lIns="0" tIns="0" rIns="0" bIns="0"/>
          <ns1:lstStyle>
            <ns1:defPPr>
              <ns1:defRPr sz="3300" b="1">
                <ns1:solidFill>
                  <ns1:srgbClr val="FFFFFF"/>
                </ns1:solidFill>
              </ns1:defRPr>
            </ns1:defPPr>
          </ns1:lstStyle>
          <ns1:p>
            <ns1:pPr>
              <ns1:defRPr sz="3300" b="1">
                <ns1:solidFill>
                  <ns1:srgbClr val="FFFFFF"/>
                </ns1:solidFill>
              </ns1:defRPr>
            </ns1:pPr>
            <ns1:r>
              <ns1:rPr sz="3300" b="1">
                <ns1:solidFill>
                  <ns1:srgbClr val="FFFFFF"/>
                </ns1:solidFill>
              </ns1:rPr>
              <ns1:t>12  The next 90 days</ns1:t>
            </ns1:r>
          </ns1:p>
        </ns0:txBody>
      </ns0:sp>
      <ns0:sp>
        <ns0:nvSpPr>
          <ns0:cNvPr id="3" name="">
            <ns1:extLst>
              <ns1:ext uri="{FF2B5EF4-FFF2-40B4-BE49-F238E27FC236}">
                <ns2:creationId id="{BE7CCB1E-C6D2-47B0-96F6-9C7605D5A662}"/>
              </ns1:ext>
            </ns1:extLst>
          </ns0:cNvPr>
          <ns0:cNvSpPr>
            <ns1:spLocks noGrp="1"/>
          </ns0:cNvSpPr>
          <ns0:nvPr/>
        </ns0:nvSpPr>
        <ns0:spPr>
          <ns1:xfrm>
            <ns1:off x="10668000" y="6438900"/>
            <ns1:ext cx="952500" cy="190500"/>
          </ns1:xfrm>
          <ns1:prstGeom prst="rect">
            <ns1:avLst/>
          </ns1:prstGeom>
          <ns1:noFill/>
          <ns1:ln w="0">
            <ns1:noFill/>
          </ns1:ln>
        </ns0:spPr>
        <ns0:txBody>
          <ns1:bodyPr lIns="0" tIns="0" rIns="0" bIns="0"/>
          <ns1:lstStyle>
            <ns1:defPPr>
              <ns1:defRPr sz="1050" b="0">
                <ns1:solidFill>
                  <ns1:srgbClr val="AFBBC5"/>
                </ns1:solidFill>
              </ns1:defRPr>
            </ns1:defPPr>
          </ns1:lstStyle>
          <ns1:p>
            <ns1:pPr>
              <ns1:defRPr sz="1050" b="0">
                <ns1:solidFill>
                  <ns1:srgbClr val="AFBBC5"/>
                </ns1:solidFill>
              </ns1:defRPr>
            </ns1:pPr>
            <ns1:r>
              <ns1:rPr sz="1050" b="0">
                <ns1:solidFill>
                  <ns1:srgbClr val="AFBBC5"/>
                </ns1:solidFill>
              </ns1:rPr>
              <ns1:t>12 / 12</ns1:t>
            </ns1:r>
          </ns1:p>
        </ns0:txBody>
      </ns0:sp>
      <ns0:sp>
        <ns0:nvSpPr>
          <ns0:cNvPr id="4" name="">
            <ns1:extLst>
              <ns1:ext uri="{FF2B5EF4-FFF2-40B4-BE49-F238E27FC236}">
                <ns2:creationId id="{69FCABEF-EF8D-4B64-B5C1-DBA760F7C21A}"/>
              </ns1:ext>
            </ns1:extLst>
          </ns0:cNvPr>
          <ns0:cNvSpPr>
            <ns1:spLocks noGrp="1"/>
          </ns0:cNvSpPr>
          <ns0:nvPr/>
        </ns0:nvSpPr>
        <ns0:spPr>
          <ns1:xfrm>
            <ns1:off x="571500" y="2000250"/>
            <ns1:ext cx="1905000" cy="952500"/>
          </ns1:xfrm>
          <ns1:prstGeom prst="rect">
            <ns1:avLst/>
          </ns1:prstGeom>
          <ns1:noFill/>
          <ns1:ln w="0">
            <ns1:noFill/>
          </ns1:ln>
        </ns0:spPr>
        <ns0:txBody>
          <ns1:bodyPr lIns="0" tIns="0" rIns="0" bIns="0"/>
          <ns1:lstStyle>
            <ns1:defPPr>
              <ns1:defRPr sz="5700" b="0">
                <ns1:solidFill>
                  <ns1:srgbClr val="9AC6E8"/>
                </ns1:solidFill>
              </ns1:defRPr>
            </ns1:defPPr>
          </ns1:lstStyle>
          <ns1:p>
            <ns1:pPr>
              <ns1:defRPr sz="5700" b="0">
                <ns1:solidFill>
                  <ns1:srgbClr val="9AC6E8"/>
                </ns1:solidFill>
              </ns1:defRPr>
            </ns1:pPr>
            <ns1:r>
              <ns1:rPr sz="5700" b="0">
                <ns1:solidFill>
                  <ns1:srgbClr val="9AC6E8"/>
                </ns1:solidFill>
              </ns1:rPr>
              <ns1:t>30</ns1:t>
            </ns1:r>
          </ns1:p>
        </ns0:txBody>
      </ns0:sp>
      <ns0:sp>
        <ns0:nvSpPr>
          <ns0:cNvPr id="5" name="">
            <ns1:extLst>
              <ns1:ext uri="{FF2B5EF4-FFF2-40B4-BE49-F238E27FC236}">
                <ns2:creationId id="{942D9AA6-55B0-4E3A-A443-B7B769B24AB8}"/>
              </ns1:ext>
            </ns1:extLst>
          </ns0:cNvPr>
          <ns0:cNvSpPr>
            <ns1:spLocks noGrp="1"/>
          </ns0:cNvSpPr>
          <ns0:nvPr/>
        </ns0:nvSpPr>
        <ns0:spPr>
          <ns1:xfrm>
            <ns1:off x="571500" y="2962275"/>
            <ns1:ext cx="1714500" cy="238125"/>
          </ns1:xfrm>
          <ns1:prstGeom prst="rect">
            <ns1:avLst/>
          </ns1:prstGeom>
          <ns1:noFill/>
          <ns1:ln w="0">
            <ns1:noFill/>
          </ns1:ln>
        </ns0:spPr>
        <ns0:txBody>
          <ns1:bodyPr lIns="0" tIns="0" rIns="0" bIns="0"/>
          <ns1:lstStyle>
            <ns1:defPPr>
              <ns1:defRPr sz="1125" b="1">
                <ns1:solidFill>
                  <ns1:srgbClr val="AFBBC5"/>
                </ns1:solidFill>
              </ns1:defRPr>
            </ns1:defPPr>
          </ns1:lstStyle>
          <ns1:p>
            <ns1:pPr>
              <ns1:defRPr sz="1125" b="1">
                <ns1:solidFill>
                  <ns1:srgbClr val="AFBBC5"/>
                </ns1:solidFill>
              </ns1:defRPr>
            </ns1:pPr>
            <ns1:r>
              <ns1:rPr sz="1125" b="1">
                <ns1:solidFill>
                  <ns1:srgbClr val="AFBBC5"/>
                </ns1:solidFill>
              </ns1:rPr>
              <ns1:t>DAYS</ns1:t>
            </ns1:r>
          </ns1:p>
        </ns0:txBody>
      </ns0:sp>
      <ns0:sp>
        <ns0:nvSpPr>
          <ns0:cNvPr id="6" name="">
            <ns1:extLst>
              <ns1:ext uri="{FF2B5EF4-FFF2-40B4-BE49-F238E27FC236}">
                <ns2:creationId id="{CF4B5514-B5BE-484B-8955-BFFBB535F5DE}"/>
              </ns1:ext>
            </ns1:extLst>
          </ns0:cNvPr>
          <ns0:cNvSpPr>
            <ns1:spLocks noGrp="1"/>
          </ns0:cNvSpPr>
          <ns0:nvPr/>
        </ns0:nvSpPr>
        <ns0:spPr>
          <ns1:xfrm>
            <ns1:off x="571500" y="3429000"/>
            <ns1:ext cx="3238500" cy="904875"/>
          </ns1:xfrm>
          <ns1:prstGeom prst="rect">
            <ns1:avLst/>
          </ns1:prstGeom>
          <ns1:noFill/>
          <ns1:ln w="0">
            <ns1:noFill/>
          </ns1:ln>
        </ns0:spPr>
        <ns0:txBody>
          <ns1:bodyPr lIns="0" tIns="0" rIns="0" bIns="0"/>
          <ns1:lstStyle>
            <ns1:defPPr>
              <ns1:defRPr sz="2175" b="0">
                <ns1:solidFill>
                  <ns1:srgbClr val="FFFFFF"/>
                </ns1:solidFill>
              </ns1:defRPr>
            </ns1:defPPr>
          </ns1:lstStyle>
          <ns1:p>
            <ns1:pPr>
              <ns1:defRPr sz="2175" b="0">
                <ns1:solidFill>
                  <ns1:srgbClr val="FFFFFF"/>
                </ns1:solidFill>
              </ns1:defRPr>
            </ns1:pPr>
            <ns1:r>
              <ns1:rPr sz="2175" b="0">
                <ns1:solidFill>
                  <ns1:srgbClr val="FFFFFF"/>
                </ns1:solidFill>
              </ns1:rPr>
              <ns1:t>Pilot feedback and persistent hosting</ns1:t>
            </ns1:r>
          </ns1:p>
        </ns0:txBody>
      </ns0:sp>
      <ns0:sp>
        <ns0:nvSpPr>
          <ns0:cNvPr id="7" name="">
            <ns1:extLst>
              <ns1:ext uri="{FF2B5EF4-FFF2-40B4-BE49-F238E27FC236}">
                <ns2:creationId id="{BD63C42F-9528-4204-8305-79D0897DDDB3}"/>
              </ns1:ext>
            </ns1:extLst>
          </ns0:cNvPr>
          <ns0:cNvSpPr>
            <ns1:spLocks noGrp="1"/>
          </ns0:cNvSpPr>
          <ns0:nvPr/>
        </ns0:nvSpPr>
        <ns0:spPr>
          <ns1:xfrm>
            <ns1:off x="4333875" y="2000250"/>
            <ns1:ext cx="1905000" cy="952500"/>
          </ns1:xfrm>
          <ns1:prstGeom prst="rect">
            <ns1:avLst/>
          </ns1:prstGeom>
          <ns1:noFill/>
          <ns1:ln w="0">
            <ns1:noFill/>
          </ns1:ln>
        </ns0:spPr>
        <ns0:txBody>
          <ns1:bodyPr lIns="0" tIns="0" rIns="0" bIns="0"/>
          <ns1:lstStyle>
            <ns1:defPPr>
              <ns1:defRPr sz="5700" b="0">
                <ns1:solidFill>
                  <ns1:srgbClr val="9AC6E8"/>
                </ns1:solidFill>
              </ns1:defRPr>
            </ns1:defPPr>
          </ns1:lstStyle>
          <ns1:p>
            <ns1:pPr>
              <ns1:defRPr sz="5700" b="0">
                <ns1:solidFill>
                  <ns1:srgbClr val="9AC6E8"/>
                </ns1:solidFill>
              </ns1:defRPr>
            </ns1:pPr>
            <ns1:r>
              <ns1:rPr sz="5700" b="0">
                <ns1:solidFill>
                  <ns1:srgbClr val="9AC6E8"/>
                </ns1:solidFill>
              </ns1:rPr>
              <ns1:t>60</ns1:t>
            </ns1:r>
          </ns1:p>
        </ns0:txBody>
      </ns0:sp>
      <ns0:sp>
        <ns0:nvSpPr>
          <ns0:cNvPr id="8" name="">
            <ns1:extLst>
              <ns1:ext uri="{FF2B5EF4-FFF2-40B4-BE49-F238E27FC236}">
                <ns2:creationId id="{749D64EB-6ACC-4435-8C45-803DA73F6AE2}"/>
              </ns1:ext>
            </ns1:extLst>
          </ns0:cNvPr>
          <ns0:cNvSpPr>
            <ns1:spLocks noGrp="1"/>
          </ns0:cNvSpPr>
          <ns0:nvPr/>
        </ns0:nvSpPr>
        <ns0:spPr>
          <ns1:xfrm>
            <ns1:off x="4333875" y="2962275"/>
            <ns1:ext cx="1714500" cy="238125"/>
          </ns1:xfrm>
          <ns1:prstGeom prst="rect">
            <ns1:avLst/>
          </ns1:prstGeom>
          <ns1:noFill/>
          <ns1:ln w="0">
            <ns1:noFill/>
          </ns1:ln>
        </ns0:spPr>
        <ns0:txBody>
          <ns1:bodyPr lIns="0" tIns="0" rIns="0" bIns="0"/>
          <ns1:lstStyle>
            <ns1:defPPr>
              <ns1:defRPr sz="1125" b="1">
                <ns1:solidFill>
                  <ns1:srgbClr val="AFBBC5"/>
                </ns1:solidFill>
              </ns1:defRPr>
            </ns1:defPPr>
          </ns1:lstStyle>
          <ns1:p>
            <ns1:pPr>
              <ns1:defRPr sz="1125" b="1">
                <ns1:solidFill>
                  <ns1:srgbClr val="AFBBC5"/>
                </ns1:solidFill>
              </ns1:defRPr>
            </ns1:pPr>
            <ns1:r>
              <ns1:rPr sz="1125" b="1">
                <ns1:solidFill>
                  <ns1:srgbClr val="AFBBC5"/>
                </ns1:solidFill>
              </ns1:rPr>
              <ns1:t>DAYS</ns1:t>
            </ns1:r>
          </ns1:p>
        </ns0:txBody>
      </ns0:sp>
      <ns0:sp>
        <ns0:nvSpPr>
          <ns0:cNvPr id="9" name="">
            <ns1:extLst>
              <ns1:ext uri="{FF2B5EF4-FFF2-40B4-BE49-F238E27FC236}">
                <ns2:creationId id="{A4E2BFFA-7270-4060-803A-B8D19EE8BEE6}"/>
              </ns1:ext>
            </ns1:extLst>
          </ns0:cNvPr>
          <ns0:cNvSpPr>
            <ns1:spLocks noGrp="1"/>
          </ns0:cNvSpPr>
          <ns0:nvPr/>
        </ns0:nvSpPr>
        <ns0:spPr>
          <ns1:xfrm>
            <ns1:off x="4333875" y="3429000"/>
            <ns1:ext cx="3238500" cy="904875"/>
          </ns1:xfrm>
          <ns1:prstGeom prst="rect">
            <ns1:avLst/>
          </ns1:prstGeom>
          <ns1:noFill/>
          <ns1:ln w="0">
            <ns1:noFill/>
          </ns1:ln>
        </ns0:spPr>
        <ns0:txBody>
          <ns1:bodyPr lIns="0" tIns="0" rIns="0" bIns="0"/>
          <ns1:lstStyle>
            <ns1:defPPr>
              <ns1:defRPr sz="2175" b="0">
                <ns1:solidFill>
                  <ns1:srgbClr val="FFFFFF"/>
                </ns1:solidFill>
              </ns1:defRPr>
            </ns1:defPPr>
          </ns1:lstStyle>
          <ns1:p>
            <ns1:pPr>
              <ns1:defRPr sz="2175" b="0">
                <ns1:solidFill>
                  <ns1:srgbClr val="FFFFFF"/>
                </ns1:solidFill>
              </ns1:defRPr>
            </ns1:pPr>
            <ns1:r>
              <ns1:rPr sz="2175" b="0">
                <ns1:solidFill>
                  <ns1:srgbClr val="FFFFFF"/>
                </ns1:solidFill>
              </ns1:rPr>
              <ns1:t>Access control and broader repair coverage</ns1:t>
            </ns1:r>
          </ns1:p>
        </ns0:txBody>
      </ns0:sp>
      <ns0:sp>
        <ns0:nvSpPr>
          <ns0:cNvPr id="10" name="">
            <ns1:extLst>
              <ns1:ext uri="{FF2B5EF4-FFF2-40B4-BE49-F238E27FC236}">
                <ns2:creationId id="{B8132BF2-7CE0-4FB6-AE4E-1F8A9D9FA691}"/>
              </ns1:ext>
            </ns1:extLst>
          </ns0:cNvPr>
          <ns0:cNvSpPr>
            <ns1:spLocks noGrp="1"/>
          </ns0:cNvSpPr>
          <ns0:nvPr/>
        </ns0:nvSpPr>
        <ns0:spPr>
          <ns1:xfrm>
            <ns1:off x="8096250" y="2000250"/>
            <ns1:ext cx="1905000" cy="952500"/>
          </ns1:xfrm>
          <ns1:prstGeom prst="rect">
            <ns1:avLst/>
          </ns1:prstGeom>
          <ns1:noFill/>
          <ns1:ln w="0">
            <ns1:noFill/>
          </ns1:ln>
        </ns0:spPr>
        <ns0:txBody>
          <ns1:bodyPr lIns="0" tIns="0" rIns="0" bIns="0"/>
          <ns1:lstStyle>
            <ns1:defPPr>
              <ns1:defRPr sz="5700" b="0">
                <ns1:solidFill>
                  <ns1:srgbClr val="9AC6E8"/>
                </ns1:solidFill>
              </ns1:defRPr>
            </ns1:defPPr>
          </ns1:lstStyle>
          <ns1:p>
            <ns1:pPr>
              <ns1:defRPr sz="5700" b="0">
                <ns1:solidFill>
                  <ns1:srgbClr val="9AC6E8"/>
                </ns1:solidFill>
              </ns1:defRPr>
            </ns1:pPr>
            <ns1:r>
              <ns1:rPr sz="5700" b="0">
                <ns1:solidFill>
                  <ns1:srgbClr val="9AC6E8"/>
                </ns1:solidFill>
              </ns1:rPr>
              <ns1:t>90</ns1:t>
            </ns1:r>
          </ns1:p>
        </ns0:txBody>
      </ns0:sp>
      <ns0:sp>
        <ns0:nvSpPr>
          <ns0:cNvPr id="11" name="">
            <ns1:extLst>
              <ns1:ext uri="{FF2B5EF4-FFF2-40B4-BE49-F238E27FC236}">
                <ns2:creationId id="{D88B3261-E810-43AF-AA7A-24FCC529E3A1}"/>
              </ns1:ext>
            </ns1:extLst>
          </ns0:cNvPr>
          <ns0:cNvSpPr>
            <ns1:spLocks noGrp="1"/>
          </ns0:cNvSpPr>
          <ns0:nvPr/>
        </ns0:nvSpPr>
        <ns0:spPr>
          <ns1:xfrm>
            <ns1:off x="8096250" y="2962275"/>
            <ns1:ext cx="1714500" cy="238125"/>
          </ns1:xfrm>
          <ns1:prstGeom prst="rect">
            <ns1:avLst/>
          </ns1:prstGeom>
          <ns1:noFill/>
          <ns1:ln w="0">
            <ns1:noFill/>
          </ns1:ln>
        </ns0:spPr>
        <ns0:txBody>
          <ns1:bodyPr lIns="0" tIns="0" rIns="0" bIns="0"/>
          <ns1:lstStyle>
            <ns1:defPPr>
              <ns1:defRPr sz="1125" b="1">
                <ns1:solidFill>
                  <ns1:srgbClr val="AFBBC5"/>
                </ns1:solidFill>
              </ns1:defRPr>
            </ns1:defPPr>
          </ns1:lstStyle>
          <ns1:p>
            <ns1:pPr>
              <ns1:defRPr sz="1125" b="1">
                <ns1:solidFill>
                  <ns1:srgbClr val="AFBBC5"/>
                </ns1:solidFill>
              </ns1:defRPr>
            </ns1:pPr>
            <ns1:r>
              <ns1:rPr sz="1125" b="1">
                <ns1:solidFill>
                  <ns1:srgbClr val="AFBBC5"/>
                </ns1:solidFill>
              </ns1:rPr>
              <ns1:t>DAYS</ns1:t>
            </ns1:r>
          </ns1:p>
        </ns0:txBody>
      </ns0:sp>
      <ns0:sp>
        <ns0:nvSpPr>
          <ns0:cNvPr id="12" name="">
            <ns1:extLst>
              <ns1:ext uri="{FF2B5EF4-FFF2-40B4-BE49-F238E27FC236}">
                <ns2:creationId id="{EA011821-062B-4F7D-90B4-162B14132FE6}"/>
              </ns1:ext>
            </ns1:extLst>
          </ns0:cNvPr>
          <ns0:cNvSpPr>
            <ns1:spLocks noGrp="1"/>
          </ns0:cNvSpPr>
          <ns0:nvPr/>
        </ns0:nvSpPr>
        <ns0:spPr>
          <ns1:xfrm>
            <ns1:off x="8096250" y="3429000"/>
            <ns1:ext cx="3238500" cy="904875"/>
          </ns1:xfrm>
          <ns1:prstGeom prst="rect">
            <ns1:avLst/>
          </ns1:prstGeom>
          <ns1:noFill/>
          <ns1:ln w="0">
            <ns1:noFill/>
          </ns1:ln>
        </ns0:spPr>
        <ns0:txBody>
          <ns1:bodyPr lIns="0" tIns="0" rIns="0" bIns="0"/>
          <ns1:lstStyle>
            <ns1:defPPr>
              <ns1:defRPr sz="2175" b="0">
                <ns1:solidFill>
                  <ns1:srgbClr val="FFFFFF"/>
                </ns1:solidFill>
              </ns1:defRPr>
            </ns1:defPPr>
          </ns1:lstStyle>
          <ns1:p>
            <ns1:pPr>
              <ns1:defRPr sz="2175" b="0">
                <ns1:solidFill>
                  <ns1:srgbClr val="FFFFFF"/>
                </ns1:solidFill>
              </ns1:defRPr>
            </ns1:pPr>
            <ns1:r>
              <ns1:rPr sz="2175" b="0">
                <ns1:solidFill>
                  <ns1:srgbClr val="FFFFFF"/>
                </ns1:solidFill>
              </ns1:rPr>
              <ns1:t>Audited crypto and paid-pilot evaluation</ns1:t>
            </ns1:r>
          </ns1:p>
        </ns0:txBody>
      </ns0:sp>
      <ns0:sp>
        <ns0:nvSpPr>
          <ns0:cNvPr id="13" name="">
            <ns1:extLst>
              <ns1:ext uri="{FF2B5EF4-FFF2-40B4-BE49-F238E27FC236}">
                <ns2:creationId id="{8EC01300-854C-42C0-B956-1220A724F537}"/>
              </ns1:ext>
            </ns1:extLst>
          </ns0:cNvPr>
          <ns0:cNvSpPr>
            <ns1:spLocks noGrp="1"/>
          </ns0:cNvSpPr>
          <ns0:nvPr/>
        </ns0:nvSpPr>
        <ns0:spPr>
          <ns1:xfrm>
            <ns1:off x="571500" y="4810125"/>
            <ns1:ext cx="10953750" cy="571500"/>
          </ns1:xfrm>
          <ns1:prstGeom prst="rect">
            <ns1:avLst/>
          </ns1:prstGeom>
          <ns1:noFill/>
          <ns1:ln w="0">
            <ns1:noFill/>
          </ns1:ln>
        </ns0:spPr>
        <ns0:txBody>
          <ns1:bodyPr lIns="0" tIns="0" rIns="0" bIns="0"/>
          <ns1:lstStyle>
            <ns1:defPPr>
              <ns1:defRPr sz="2325" b="0">
                <ns1:solidFill>
                  <ns1:srgbClr val="FFFFFF"/>
                </ns1:solidFill>
              </ns1:defRPr>
            </ns1:defPPr>
          </ns1:lstStyle>
          <ns1:p>
            <ns1:pPr>
              <ns1:defRPr sz="2325" b="0">
                <ns1:solidFill>
                  <ns1:srgbClr val="FFFFFF"/>
                </ns1:solidFill>
              </ns1:defRPr>
            </ns1:pPr>
            <ns1:r>
              <ns1:rPr sz="2325" b="0">
                <ns1:solidFill>
                  <ns1:srgbClr val="FFFFFF"/>
                </ns1:solidFill>
              </ns1:rPr>
              <ns1:t>Our ask: pilot introductions and an independent security review.</ns1:t>
            </ns1:r>
          </ns1:p>
        </ns0:txBody>
      </ns0:sp>
      <ns0:sp>
        <ns0:nvSpPr>
          <ns0:cNvPr id="14" name="">
            <ns1:extLst>
              <ns1:ext uri="{FF2B5EF4-FFF2-40B4-BE49-F238E27FC236}">
                <ns2:creationId id="{62DE1811-D787-492B-A8A3-B6C47B0E32F8}"/>
              </ns1:ext>
            </ns1:extLst>
          </ns0:cNvPr>
          <ns0:cNvSpPr>
            <ns1:spLocks noGrp="1"/>
          </ns0:cNvSpPr>
          <ns0:nvPr/>
        </ns0:nvSpPr>
        <ns0:spPr>
          <ns1:xfrm>
            <ns1:off x="571500" y="5676900"/>
            <ns1:ext cx="3714750" cy="323850"/>
          </ns1:xfrm>
          <ns1:prstGeom prst="rect">
            <ns1:avLst/>
          </ns1:prstGeom>
          <ns1:noFill/>
          <ns1:ln w="0">
            <ns1:noFill/>
          </ns1:ln>
        </ns0:spPr>
        <ns0:txBody>
          <ns1:bodyPr lIns="0" tIns="0" rIns="0" bIns="0"/>
          <ns1:lstStyle>
            <ns1:defPPr>
              <ns1:defRPr sz="1800" b="1">
                <ns1:solidFill>
                  <ns1:srgbClr val="9AC6E8"/>
                </ns1:solidFill>
              </ns1:defRPr>
            </ns1:defPPr>
          </ns1:lstStyle>
          <ns1:p>
            <ns1:pPr>
              <ns1:defRPr sz="1800" b="1">
                <ns1:solidFill>
                  <ns1:srgbClr val="9AC6E8"/>
                </ns1:solidFill>
              </ns1:defRPr>
            </ns1:pPr>
            <ns1:r>
              <ns1:rPr sz="1800" b="1">
                <ns1:solidFill>
                  <ns1:srgbClr val="9AC6E8"/>
                </ns1:solidFill>
                <ns1:hlinkClick ns3:id="rIdCryptIQLink0"/>
              </ns1:rPr>
              <ns1:t>OPEN LIVE DEMO</ns1:t>
            </ns1:r>
          </ns1:p>
        </ns0:txBody>
      </ns0:sp>
      <ns0:sp>
        <ns0:nvSpPr>
          <ns0:cNvPr id="15" name="">
            <ns1:extLst>
              <ns1:ext uri="{FF2B5EF4-FFF2-40B4-BE49-F238E27FC236}">
                <ns2:creationId id="{2076CE36-E348-47C4-AB68-E0696895FFF7}"/>
              </ns1:ext>
            </ns1:extLst>
          </ns0:cNvPr>
          <ns0:cNvSpPr>
            <ns1:spLocks noGrp="1"/>
          </ns0:cNvSpPr>
          <ns0:nvPr/>
        </ns0:nvSpPr>
        <ns0:spPr>
          <ns1:xfrm>
            <ns1:off x="6191250" y="5676900"/>
            <ns1:ext cx="3714750" cy="323850"/>
          </ns1:xfrm>
          <ns1:prstGeom prst="rect">
            <ns1:avLst/>
          </ns1:prstGeom>
          <ns1:noFill/>
          <ns1:ln w="0">
            <ns1:noFill/>
          </ns1:ln>
        </ns0:spPr>
        <ns0:txBody>
          <ns1:bodyPr lIns="0" tIns="0" rIns="0" bIns="0"/>
          <ns1:lstStyle>
            <ns1:defPPr>
              <ns1:defRPr sz="1800" b="1">
                <ns1:solidFill>
                  <ns1:srgbClr val="9AC6E8"/>
                </ns1:solidFill>
              </ns1:defRPr>
            </ns1:defPPr>
          </ns1:lstStyle>
          <ns1:p>
            <ns1:pPr>
              <ns1:defRPr sz="1800" b="1">
                <ns1:solidFill>
                  <ns1:srgbClr val="9AC6E8"/>
                </ns1:solidFill>
              </ns1:defRPr>
            </ns1:pPr>
            <ns1:r>
              <ns1:rPr sz="1800" b="1">
                <ns1:solidFill>
                  <ns1:srgbClr val="9AC6E8"/>
                </ns1:solidFill>
                <ns1:hlinkClick ns3:id="rIdCryptIQLink1"/>
              </ns1:rPr>
              <ns1:t>VIEW GITHUB</ns1:t>
            </ns1:r>
          </ns1:p>
        </ns0:txBody>
      </ns0:sp>
      <ns0:sp>
        <ns0:nvSpPr>
          <ns0:cNvPr id="16" name="">
            <ns1:extLst>
              <ns1:ext uri="{FF2B5EF4-FFF2-40B4-BE49-F238E27FC236}">
                <ns2:creationId id="{A0AC0E4D-7461-4073-A7CF-D4CFC1DFB435}"/>
              </ns1:ext>
            </ns1:extLst>
          </ns0:cNvPr>
          <ns0:cNvSpPr>
            <ns1:spLocks noGrp="1"/>
          </ns0:cNvSpPr>
          <ns0:nvPr/>
        </ns0:nvSpPr>
        <ns0:spPr>
          <ns1:xfrm>
            <ns1:off x="571500" y="6115050"/>
            <ns1:ext cx="5429250" cy="247650"/>
          </ns1:xfrm>
          <ns1:prstGeom prst="rect">
            <ns1:avLst/>
          </ns1:prstGeom>
          <ns1:noFill/>
          <ns1:ln w="0">
            <ns1:noFill/>
          </ns1:ln>
        </ns0:spPr>
        <ns0:txBody>
          <ns1:bodyPr lIns="0" tIns="0" rIns="0" bIns="0"/>
          <ns1:lstStyle>
            <ns1:defPPr>
              <ns1:defRPr sz="1425" b="0">
                <ns1:solidFill>
                  <ns1:srgbClr val="AFBBC5"/>
                </ns1:solidFill>
              </ns1:defRPr>
            </ns1:defPPr>
          </ns1:lstStyle>
          <ns1:p>
            <ns1:pPr>
              <ns1:defRPr sz="1425" b="0">
                <ns1:solidFill>
                  <ns1:srgbClr val="AFBBC5"/>
                </ns1:solidFill>
              </ns1:defRPr>
            </ns1:pPr>
            <ns1:r>
              <ns1:rPr sz="1425" b="0">
                <ns1:solidFill>
                  <ns1:srgbClr val="AFBBC5"/>
                </ns1:solidFill>
              </ns1:rPr>
              <ns1:t>Temporary link; presenter supplies access.</ns1:t>
            </ns1:r>
          </ns1:p>
        </ns0:txBody>
      </ns0:sp>
      <ns0:sp>
        <ns0:nvSpPr>
          <ns0:cNvPr id="17" name="">
            <ns1:extLst>
              <ns1:ext uri="{FF2B5EF4-FFF2-40B4-BE49-F238E27FC236}">
                <ns2:creationId id="{27E45261-F544-4CA3-86E4-FB2020ADBB09}"/>
              </ns1:ext>
            </ns1:extLst>
          </ns0:cNvPr>
          <ns0:cNvSpPr>
            <ns1:spLocks noGrp="1"/>
          </ns0:cNvSpPr>
          <ns0:nvPr/>
        </ns0:nvSpPr>
        <ns0:spPr>
          <ns1:xfrm>
            <ns1:off x="6191250" y="6115050"/>
            <ns1:ext cx="5429250" cy="247650"/>
          </ns1:xfrm>
          <ns1:prstGeom prst="rect">
            <ns1:avLst/>
          </ns1:prstGeom>
          <ns1:noFill/>
          <ns1:ln w="0">
            <ns1:noFill/>
          </ns1:ln>
        </ns0:spPr>
        <ns0:txBody>
          <ns1:bodyPr lIns="0" tIns="0" rIns="0" bIns="0"/>
          <ns1:lstStyle>
            <ns1:defPPr>
              <ns1:defRPr sz="1425" b="0">
                <ns1:solidFill>
                  <ns1:srgbClr val="AFBBC5"/>
                </ns1:solidFill>
              </ns1:defRPr>
            </ns1:defPPr>
          </ns1:lstStyle>
          <ns1:p>
            <ns1:pPr>
              <ns1:defRPr sz="1425" b="0">
                <ns1:solidFill>
                  <ns1:srgbClr val="AFBBC5"/>
                </ns1:solidFill>
              </ns1:defRPr>
            </ns1:pPr>
            <ns1:r>
              <ns1:rPr sz="1425" b="0">
                <ns1:solidFill>
                  <ns1:srgbClr val="AFBBC5"/>
                </ns1:solidFill>
              </ns1:rPr>
              <ns1:t>github.com/shriram-s7/cryptiq</ns1:t>
            </ns1:r>
          </ns1:p>
        </ns0:txBody>
      </ns0:sp>
    </ns0:spTree>
    <ns0:extLst>
      <ns0:ext uri="{BB962C8B-B14F-4D97-AF65-F5344CB8AC3E}">
        <ns4:creationId val="145808128"/>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2026-10-14T23:40:40.5470000Z</dcterms:created>
  <dcterms:modified xsi:type="dcterms:W3CDTF">2026-10-14T23:40:40.5470000Z</dcterms:modified>
</coreProperties>
</file>